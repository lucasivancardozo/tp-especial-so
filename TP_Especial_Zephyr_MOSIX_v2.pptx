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3845DE-BAB0-47B8-9246-20114D38FF13}" v="645" dt="2026-05-02T18:31:44.172"/>
    <p1510:client id="{C5150642-3ADD-48D1-AFC5-B120AFC888A7}" v="405" dt="2026-05-02T19:28:35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E30699-4A0C-4B55-9524-147844F6316E}" type="datetimeFigureOut">
              <a:t>02/05/2026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6E830C-CD3A-405D-9191-9656B9C37514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2657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8942" y="1566949"/>
            <a:ext cx="76809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kern="0" spc="400" dirty="0">
                <a:solidFill>
                  <a:srgbClr val="0070C5"/>
                </a:solidFill>
                <a:latin typeface="Arial"/>
                <a:ea typeface="Arial" pitchFamily="34" charset="-122"/>
                <a:cs typeface="Arial"/>
              </a:rPr>
              <a:t>EVALUACIÓN DE PRODUCTOS</a:t>
            </a:r>
            <a:endParaRPr lang="en-US" sz="2000">
              <a:latin typeface="Arial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959726"/>
            <a:ext cx="76809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vs MOSIX</a:t>
            </a:r>
            <a:endParaRPr lang="en-US" sz="4800" dirty="0">
              <a:latin typeface="Arial Black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8942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Especial de Evaluación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3480955"/>
            <a:ext cx="2743200" cy="274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14205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Sistemas Operativos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8862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de Mar del Plata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ARRIAGA • BELLONE • BISCAY • CALLA ALIENDE • CARDOZO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Junio — 13:30 hs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6A9D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¿Por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qué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comparar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estos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productos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?</a:t>
            </a:r>
            <a:endParaRPr lang="en-US" sz="2800" dirty="0">
              <a:latin typeface="Arial Black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3753" y="1180652"/>
            <a:ext cx="53035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633" y="131781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DE MERCADO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16200000">
            <a:off x="-14791" y="2720341"/>
            <a:ext cx="1461694" cy="2299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HARDWARE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57400" y="409866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 USO / ESCALA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83833" y="1683572"/>
            <a:ext cx="0" cy="2286000"/>
          </a:xfrm>
          <a:prstGeom prst="line">
            <a:avLst/>
          </a:prstGeom>
          <a:noFill/>
          <a:ln w="12700">
            <a:solidFill>
              <a:srgbClr val="4C5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3833" y="3969572"/>
            <a:ext cx="4206240" cy="0"/>
          </a:xfrm>
          <a:prstGeom prst="line">
            <a:avLst/>
          </a:prstGeom>
          <a:noFill/>
          <a:ln w="127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953" y="15921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98633" y="38781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9473" y="172929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9473" y="369525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20993" y="4020133"/>
            <a:ext cx="837751" cy="19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75673" y="403358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632473" y="3100892"/>
            <a:ext cx="1097280" cy="640080"/>
          </a:xfrm>
          <a:prstGeom prst="ellipse">
            <a:avLst/>
          </a:prstGeom>
          <a:solidFill>
            <a:srgbClr val="0070C5">
              <a:alpha val="80000"/>
            </a:srgbClr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32473" y="3173506"/>
            <a:ext cx="10972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Zephyr OS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32473" y="3402106"/>
            <a:ext cx="109728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RTOS</a:t>
            </a:r>
          </a:p>
        </p:txBody>
      </p:sp>
      <p:sp>
        <p:nvSpPr>
          <p:cNvPr id="22" name="Text 20"/>
          <p:cNvSpPr/>
          <p:nvPr/>
        </p:nvSpPr>
        <p:spPr>
          <a:xfrm>
            <a:off x="2684033" y="2963732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Microcontroladores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limitados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461273" y="2003612"/>
            <a:ext cx="1188720" cy="731520"/>
          </a:xfrm>
          <a:prstGeom prst="ellipse">
            <a:avLst/>
          </a:prstGeom>
          <a:solidFill>
            <a:srgbClr val="4C5155">
              <a:alpha val="80000"/>
            </a:srgbClr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1273" y="2109844"/>
            <a:ext cx="11887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MOSIX</a:t>
            </a:r>
            <a:endParaRPr lang="en-US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461273" y="2338444"/>
            <a:ext cx="118872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Cluster OS</a:t>
            </a:r>
          </a:p>
        </p:txBody>
      </p:sp>
      <p:sp>
        <p:nvSpPr>
          <p:cNvPr id="26" name="Text 24"/>
          <p:cNvSpPr/>
          <p:nvPr/>
        </p:nvSpPr>
        <p:spPr>
          <a:xfrm>
            <a:off x="4604273" y="1866452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30153" y="118065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30153" y="1180652"/>
            <a:ext cx="27432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5930153" y="11806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OS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21593" y="159213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para IoT embebido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Microcontroladores (MCU)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KB de footprint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Multi-arquitectura (ARM, RISC-V...)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30153" y="268941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930153" y="2689412"/>
            <a:ext cx="2743200" cy="32004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930153" y="268941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MOSIX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21593" y="310089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de cluster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/ Investigación científica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System Image (SSI)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 desde 2017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663440"/>
            <a:ext cx="7772400" cy="274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de producto completamente distintas — comparación académica para evaluar decisiones de diseño de SO según el dominio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La Empresa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gobernanza y miembros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88720" y="1691640"/>
            <a:ext cx="0" cy="2743200"/>
          </a:xfrm>
          <a:prstGeom prst="line">
            <a:avLst/>
          </a:prstGeom>
          <a:noFill/>
          <a:ln w="25400">
            <a:solidFill>
              <a:srgbClr val="0070C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764792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691640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Finales '90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1691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Eonic Systems (Bélgica) desarrolla Virtuoso RTOS para DSPs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2295144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21992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17320" y="222199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adquiere Eonic Systems → Virtuoso pasa a ser de Wind River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2825496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52344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17320" y="275234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abre código de Virtuoso → Rocket RTOS (libre de regalías, ~4 KB)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3355848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82696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2016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417320" y="328269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dona kernel de Rocket a Linux Foundation → nace Zephyr Project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3886200"/>
            <a:ext cx="182880" cy="18288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81304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2016-2026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17320" y="38130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Crecimiento: 3,000+ contribuyentes, 1,000+ boards, 10 años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23560" y="1188720"/>
            <a:ext cx="3063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623560" y="1188720"/>
            <a:ext cx="306324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11887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MIEMBROS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715000" y="155448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Members (2016):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15000" y="173736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Intel, Wind River, Synopsys, NXP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715000" y="201168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 (2025):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15000" y="2194560"/>
            <a:ext cx="2880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Renesas, Wind River, Intel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15000" y="246888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15000" y="260604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Google, Meta, ST, TI, Qualcomm, Arduino, Canonical...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37" name="Imagen 36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A67032DF-67CC-59DB-2506-60665423E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244314"/>
            <a:ext cx="2877670" cy="10013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169088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—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Segmento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de Mercado</a:t>
            </a:r>
            <a:endParaRPr lang="en-US" sz="2800" dirty="0"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comerciales y adopción global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DE MERCADO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— sensores, dispositivos conectados de bajo consumo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8562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embebidos — microcontroladores (MCUs)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11226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— smartwatches, audífonos avanzados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— controladoras, automatización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624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médicos — ECG, monitores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— scooters, cerraduras BLE, GPS trackers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1363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Sostenibilidad — turbinas eólicas (Vestas), paneles solares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41148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GLOBAL (2026)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164592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1645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 en Norteamérica usan Zephyr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09160" y="199339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199339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Organizaciones en Europa usan Zephyr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234086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234086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 aumentar o significativamente aumentar adopción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09160" y="268833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3,000+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77840" y="26883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Contribuyentes globales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09160" y="303580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77840" y="303580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soportadas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3924" y="37033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solidFill>
            <a:srgbClr val="66A9D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COMERCIALES QUE USAN ZEPHYR</a:t>
            </a:r>
            <a:endParaRPr lang="en-US" sz="900" dirty="0"/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876C0FE3-07DD-B98D-F59E-A38BCC632B00}"/>
              </a:ext>
            </a:extLst>
          </p:cNvPr>
          <p:cNvGrpSpPr/>
          <p:nvPr/>
        </p:nvGrpSpPr>
        <p:grpSpPr>
          <a:xfrm>
            <a:off x="793376" y="4055095"/>
            <a:ext cx="1192755" cy="457200"/>
            <a:chOff x="793376" y="4055095"/>
            <a:chExt cx="1192755" cy="457200"/>
          </a:xfrm>
        </p:grpSpPr>
        <p:sp>
          <p:nvSpPr>
            <p:cNvPr id="32" name="Shape 30"/>
            <p:cNvSpPr/>
            <p:nvPr/>
          </p:nvSpPr>
          <p:spPr>
            <a:xfrm>
              <a:off x="793376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0526" y="4061819"/>
              <a:ext cx="1058282" cy="30121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Vestas Wind Turbines</a:t>
              </a:r>
              <a:endParaRPr lang="en-US" sz="7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793376" y="4279391"/>
              <a:ext cx="1192755" cy="1877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Energía</a:t>
              </a:r>
              <a:endParaRPr lang="en-US" sz="700" dirty="0"/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CE3D15CE-D9C4-4A26-BDD1-AB277917A4C5}"/>
              </a:ext>
            </a:extLst>
          </p:cNvPr>
          <p:cNvGrpSpPr/>
          <p:nvPr/>
        </p:nvGrpSpPr>
        <p:grpSpPr>
          <a:xfrm>
            <a:off x="2055248" y="4055095"/>
            <a:ext cx="1188720" cy="457200"/>
            <a:chOff x="2055248" y="4055095"/>
            <a:chExt cx="1188720" cy="457200"/>
          </a:xfrm>
        </p:grpSpPr>
        <p:sp>
          <p:nvSpPr>
            <p:cNvPr id="35" name="Shape 33"/>
            <p:cNvSpPr/>
            <p:nvPr/>
          </p:nvSpPr>
          <p:spPr>
            <a:xfrm>
              <a:off x="2055248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2085504" y="4061818"/>
              <a:ext cx="1125518" cy="30121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Google Chromebook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2055248" y="4272669"/>
              <a:ext cx="1186031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Consumer</a:t>
              </a:r>
              <a:endParaRPr lang="en-US" sz="700" dirty="0"/>
            </a:p>
          </p:txBody>
        </p:sp>
      </p:grp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6E8C24-58BC-D4E7-6B81-E3B1B6AE5BCE}"/>
              </a:ext>
            </a:extLst>
          </p:cNvPr>
          <p:cNvGrpSpPr/>
          <p:nvPr/>
        </p:nvGrpSpPr>
        <p:grpSpPr>
          <a:xfrm>
            <a:off x="3322163" y="4055095"/>
            <a:ext cx="1212922" cy="457200"/>
            <a:chOff x="3322163" y="4055095"/>
            <a:chExt cx="1212922" cy="457200"/>
          </a:xfrm>
        </p:grpSpPr>
        <p:sp>
          <p:nvSpPr>
            <p:cNvPr id="38" name="Shape 36"/>
            <p:cNvSpPr/>
            <p:nvPr/>
          </p:nvSpPr>
          <p:spPr>
            <a:xfrm>
              <a:off x="3322163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322163" y="4081990"/>
              <a:ext cx="1212922" cy="27431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Framework Laptop 13</a:t>
              </a:r>
              <a:endParaRPr lang="en-US" sz="7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3325525" y="4279392"/>
              <a:ext cx="1186030" cy="18099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Notebook</a:t>
              </a:r>
              <a:endParaRPr lang="en-US" sz="700" dirty="0"/>
            </a:p>
          </p:txBody>
        </p:sp>
      </p:grpSp>
      <p:grpSp>
        <p:nvGrpSpPr>
          <p:cNvPr id="55" name="Grupo 54">
            <a:extLst>
              <a:ext uri="{FF2B5EF4-FFF2-40B4-BE49-F238E27FC236}">
                <a16:creationId xmlns:a16="http://schemas.microsoft.com/office/drawing/2014/main" id="{005076D2-502F-6035-F952-65E2A0D01286}"/>
              </a:ext>
            </a:extLst>
          </p:cNvPr>
          <p:cNvGrpSpPr/>
          <p:nvPr/>
        </p:nvGrpSpPr>
        <p:grpSpPr>
          <a:xfrm>
            <a:off x="4575631" y="4055095"/>
            <a:ext cx="1188720" cy="457200"/>
            <a:chOff x="4575631" y="4055095"/>
            <a:chExt cx="1188720" cy="457200"/>
          </a:xfrm>
        </p:grpSpPr>
        <p:sp>
          <p:nvSpPr>
            <p:cNvPr id="41" name="Shape 39"/>
            <p:cNvSpPr/>
            <p:nvPr/>
          </p:nvSpPr>
          <p:spPr>
            <a:xfrm>
              <a:off x="4575631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605886" y="4061818"/>
              <a:ext cx="1132241" cy="30121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Oticon More</a:t>
              </a:r>
              <a:endParaRPr lang="en-US" sz="7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4592439" y="4252498"/>
              <a:ext cx="1159136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Médico</a:t>
              </a:r>
              <a:endParaRPr lang="en-US" sz="700" dirty="0"/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F71F856E-5208-E312-F9E4-66520D9C5899}"/>
              </a:ext>
            </a:extLst>
          </p:cNvPr>
          <p:cNvGrpSpPr/>
          <p:nvPr/>
        </p:nvGrpSpPr>
        <p:grpSpPr>
          <a:xfrm>
            <a:off x="5840864" y="4055095"/>
            <a:ext cx="1188720" cy="457200"/>
            <a:chOff x="5840864" y="4055095"/>
            <a:chExt cx="1188720" cy="457200"/>
          </a:xfrm>
        </p:grpSpPr>
        <p:sp>
          <p:nvSpPr>
            <p:cNvPr id="44" name="Shape 42"/>
            <p:cNvSpPr/>
            <p:nvPr/>
          </p:nvSpPr>
          <p:spPr>
            <a:xfrm>
              <a:off x="5840864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840864" y="4088712"/>
              <a:ext cx="1186030" cy="2339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GARDENA Smart Irrigation</a:t>
              </a:r>
              <a:endParaRPr lang="en-US" sz="7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840864" y="4259222"/>
              <a:ext cx="1186031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Industrial</a:t>
              </a:r>
              <a:endParaRPr lang="en-US" sz="700" dirty="0"/>
            </a:p>
          </p:txBody>
        </p:sp>
      </p:grpSp>
      <p:grpSp>
        <p:nvGrpSpPr>
          <p:cNvPr id="57" name="Grupo 56">
            <a:extLst>
              <a:ext uri="{FF2B5EF4-FFF2-40B4-BE49-F238E27FC236}">
                <a16:creationId xmlns:a16="http://schemas.microsoft.com/office/drawing/2014/main" id="{AD35A11F-2B6F-EE0C-2258-4B9448D4DC9A}"/>
              </a:ext>
            </a:extLst>
          </p:cNvPr>
          <p:cNvGrpSpPr/>
          <p:nvPr/>
        </p:nvGrpSpPr>
        <p:grpSpPr>
          <a:xfrm>
            <a:off x="7102736" y="4055095"/>
            <a:ext cx="1188720" cy="457200"/>
            <a:chOff x="7102736" y="4055095"/>
            <a:chExt cx="1188720" cy="457200"/>
          </a:xfrm>
        </p:grpSpPr>
        <p:sp>
          <p:nvSpPr>
            <p:cNvPr id="47" name="Shape 45"/>
            <p:cNvSpPr/>
            <p:nvPr/>
          </p:nvSpPr>
          <p:spPr>
            <a:xfrm>
              <a:off x="7102736" y="4055095"/>
              <a:ext cx="1188720" cy="45720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0070C5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7139715" y="4081989"/>
              <a:ext cx="1112070" cy="2339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2D323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Tenstorrent Blackhole</a:t>
              </a:r>
              <a:endParaRPr lang="en-US" sz="7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32992" y="4259222"/>
              <a:ext cx="1125519" cy="22133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AI/HPC</a:t>
              </a:r>
              <a:endParaRPr lang="en-US" sz="700" dirty="0"/>
            </a:p>
          </p:txBody>
        </p:sp>
      </p:grpSp>
      <p:sp>
        <p:nvSpPr>
          <p:cNvPr id="51" name="Text 49"/>
          <p:cNvSpPr/>
          <p:nvPr/>
        </p:nvSpPr>
        <p:spPr>
          <a:xfrm>
            <a:off x="457200" y="47091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La Empresa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académica — Hebrew University of Jerusalem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DE INVESTIGACIÓN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Jerusalem, Israel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Amnon Barak — 71 papers, ~1,662 citas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Sistemas Distribuidos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Y ESTADO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5146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PROPIETARIO — NO open source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Prohibido modificar o crear derivados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release: MOSIX-4.4.4 (Oct 2017)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9319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200400"/>
            <a:ext cx="393192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200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CLAVE: SSI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System Image — cluster aparece como UNA máquina lógica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188720"/>
            <a:ext cx="4114800" cy="2788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1188720"/>
            <a:ext cx="411480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18872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645920"/>
            <a:ext cx="0" cy="2194560"/>
          </a:xfrm>
          <a:prstGeom prst="line">
            <a:avLst/>
          </a:prstGeom>
          <a:noFill/>
          <a:ln w="25400">
            <a:solidFill>
              <a:srgbClr val="4C5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68249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162763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1977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89788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en PDP-11/45 — migración de procesos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029200" y="204825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6" name="Text 24"/>
          <p:cNvSpPr/>
          <p:nvPr/>
        </p:nvSpPr>
        <p:spPr>
          <a:xfrm>
            <a:off x="5257800" y="199339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1988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897880" y="1993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cluster con nombre MOSIX (16 nodos)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0" y="241401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5257800" y="23591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1999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897880" y="235915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definitiva a Linux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0" y="277977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2" name="Text 30"/>
          <p:cNvSpPr/>
          <p:nvPr/>
        </p:nvSpPr>
        <p:spPr>
          <a:xfrm>
            <a:off x="5257800" y="27249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897880" y="27249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vuelve propietario — nace openMosix (fork GPL)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0" y="314553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5" name="Text 33"/>
          <p:cNvSpPr/>
          <p:nvPr/>
        </p:nvSpPr>
        <p:spPr>
          <a:xfrm>
            <a:off x="5257800" y="309067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897880" y="30906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requiere parche de kernel (módulo)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29200" y="3511296"/>
            <a:ext cx="182880" cy="18288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8" name="Text 36"/>
          <p:cNvSpPr/>
          <p:nvPr/>
        </p:nvSpPr>
        <p:spPr>
          <a:xfrm>
            <a:off x="5257800" y="345643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2017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897880" y="3456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release: MOSIX-4.4.4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" y="4114800"/>
            <a:ext cx="3931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160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INACTIVO desde 2017 — Sin soporte, sin updates, sin comunidad activa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006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176BF2B6-B234-C480-23F8-C22669C4A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296" y="4067297"/>
            <a:ext cx="1162793" cy="6902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357347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Zephyr OS — </a:t>
            </a:r>
            <a:r>
              <a:rPr lang="en-US" sz="2800" b="1" dirty="0" err="1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Características</a:t>
            </a:r>
            <a:r>
              <a:rPr lang="en-US" sz="2800" b="1" dirty="0">
                <a:solidFill>
                  <a:srgbClr val="2D3237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 Generales</a:t>
            </a:r>
            <a:endParaRPr lang="en-US" sz="2800" dirty="0"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monolítico para sistemas embebidos — footprint desde ~4 KB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1148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KERNEL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monolítico unificado (desde v1.6)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address space — kernel + apps compartido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 como function calls (sin context switch)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Compilación estática — binario único, mínimo overhead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Cooperativo + Preemptive + Híbrido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 (multi-core simétrico)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(procesamiento asimétrico via OpenAMP)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 — evita inversión de prioridad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MEMORIA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MPU-based protection (sin MMU en la mayoría)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+ Kernel mode (privilege levels)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paging (arquitecturas con MMU)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Heap, Memory Slabs, Memory Blocks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46270" y="1143000"/>
            <a:ext cx="3940530" cy="1601388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1143000"/>
            <a:ext cx="397764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14300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ARQUITECTURAS SOPORTADAS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Cortex-M/R/A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8076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RISC-V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8076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y 64-bit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406640" y="150876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0664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x86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173736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y 64-bit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75488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5488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HS, EM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08076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Nios II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Soft-core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406640" y="2057400"/>
            <a:ext cx="1188720" cy="457200"/>
          </a:xfrm>
          <a:prstGeom prst="rect">
            <a:avLst/>
          </a:prstGeom>
          <a:solidFill>
            <a:srgbClr val="F6F7F8"/>
          </a:solidFill>
          <a:ln w="12700">
            <a:solidFill>
              <a:srgbClr val="66A9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Xtensa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406640" y="22860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46270" y="2479566"/>
            <a:ext cx="3933108" cy="3173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boards • &gt;15 arquitecturas • ~4 KB footprint mínimo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44" name="Imagen 4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6D3AE14-FF93-F726-A756-72BBC359C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930" y="2748934"/>
            <a:ext cx="3762993" cy="17683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Características Generales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distribuido para clusters — Single System Image (SSI)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114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MOSIX?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software sobre Linux (no reemplaza el SO)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module + daemon — desde 2014 sin parche kernel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 cluster como un único sistema (SSI)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04753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04753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04753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24793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Preemptiva — mueve procesos incluso en ejecución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Transfiere contexto CPU + memoria completa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Transparente — proceso no sabe que fue migrado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Considera: CPU, memoria, comunicación inter-procesos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70480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704804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48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USHERING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0248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nodos con poca memoria y migra procesos proactivamente antes de OOM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1143000"/>
            <a:ext cx="3977640" cy="1620091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114300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143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SYSTEM IMAGE (SSI)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60720" y="1464228"/>
            <a:ext cx="2004258" cy="211084"/>
          </a:xfrm>
          <a:prstGeom prst="rect">
            <a:avLst/>
          </a:prstGeom>
          <a:solidFill>
            <a:srgbClr val="8C9196">
              <a:alpha val="50000"/>
            </a:srgbClr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1464228"/>
            <a:ext cx="2004258" cy="211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/ App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1305" y="1675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22273" y="1865613"/>
            <a:ext cx="2743200" cy="308759"/>
          </a:xfrm>
          <a:prstGeom prst="rect">
            <a:avLst/>
          </a:prstGeom>
          <a:solidFill>
            <a:srgbClr val="4C5155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22273" y="1865613"/>
            <a:ext cx="2743200" cy="3087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MOSIX (SSI)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8516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8516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1668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1668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84820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4820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N3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579723" y="2242358"/>
            <a:ext cx="594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79723" y="2242358"/>
            <a:ext cx="594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67399" y="2535381"/>
            <a:ext cx="3794760" cy="257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DFSA: acceso transparente a archivos en cualquier nodo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39" name="Imagen 38" descr="Diagrama&#10;&#10;El contenido generado por IA puede ser incorrecto.">
            <a:extLst>
              <a:ext uri="{FF2B5EF4-FFF2-40B4-BE49-F238E27FC236}">
                <a16:creationId xmlns:a16="http://schemas.microsoft.com/office/drawing/2014/main" id="{7F909D97-494F-1FB2-ADF5-0E132E450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561" y="2835234"/>
            <a:ext cx="2899730" cy="18035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Sistema de Archivos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VFS con API POSIX-like — tres sistemas de archivos nativos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2906" y="1623426"/>
            <a:ext cx="3798118" cy="367651"/>
          </a:xfrm>
          <a:prstGeom prst="rect">
            <a:avLst/>
          </a:prstGeom>
          <a:solidFill>
            <a:srgbClr val="0070C5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32906" y="1623426"/>
            <a:ext cx="3798118" cy="36765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Virtual File System Switch (VFS)</a:t>
            </a:r>
            <a:endParaRPr lang="en-US" sz="1200">
              <a:latin typeface="Arial"/>
              <a:ea typeface="Calibri"/>
              <a:cs typeface="Calibri"/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FA9D9AA8-3B3C-0642-7201-9F0A11472C1C}"/>
              </a:ext>
            </a:extLst>
          </p:cNvPr>
          <p:cNvGrpSpPr/>
          <p:nvPr/>
        </p:nvGrpSpPr>
        <p:grpSpPr>
          <a:xfrm>
            <a:off x="555110" y="2255155"/>
            <a:ext cx="1127566" cy="561775"/>
            <a:chOff x="555110" y="2214814"/>
            <a:chExt cx="1127566" cy="797098"/>
          </a:xfrm>
        </p:grpSpPr>
        <p:sp>
          <p:nvSpPr>
            <p:cNvPr id="9" name="Shape 7"/>
            <p:cNvSpPr/>
            <p:nvPr/>
          </p:nvSpPr>
          <p:spPr>
            <a:xfrm>
              <a:off x="555110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55110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LittleFS</a:t>
              </a:r>
              <a:endParaRPr lang="en-US" sz="11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55110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Log-structured</a:t>
              </a:r>
              <a:endParaRPr lang="en-US" sz="800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69CB58BE-52F6-99DD-3BC0-D2F9A378AF8E}"/>
              </a:ext>
            </a:extLst>
          </p:cNvPr>
          <p:cNvGrpSpPr/>
          <p:nvPr/>
        </p:nvGrpSpPr>
        <p:grpSpPr>
          <a:xfrm>
            <a:off x="1868104" y="2255155"/>
            <a:ext cx="1127566" cy="561775"/>
            <a:chOff x="1868104" y="2214814"/>
            <a:chExt cx="1127566" cy="797098"/>
          </a:xfrm>
        </p:grpSpPr>
        <p:sp>
          <p:nvSpPr>
            <p:cNvPr id="12" name="Shape 10"/>
            <p:cNvSpPr/>
            <p:nvPr/>
          </p:nvSpPr>
          <p:spPr>
            <a:xfrm>
              <a:off x="1868104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1868104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FAT FS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868104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MSDOS-style</a:t>
              </a:r>
              <a:endParaRPr lang="en-US" sz="80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C904BA57-5BAB-4884-9563-F0A6D11722FF}"/>
              </a:ext>
            </a:extLst>
          </p:cNvPr>
          <p:cNvGrpSpPr/>
          <p:nvPr/>
        </p:nvGrpSpPr>
        <p:grpSpPr>
          <a:xfrm>
            <a:off x="3188521" y="2255155"/>
            <a:ext cx="1127566" cy="561775"/>
            <a:chOff x="3188521" y="2214814"/>
            <a:chExt cx="1127566" cy="797098"/>
          </a:xfrm>
        </p:grpSpPr>
        <p:sp>
          <p:nvSpPr>
            <p:cNvPr id="15" name="Shape 13"/>
            <p:cNvSpPr/>
            <p:nvPr/>
          </p:nvSpPr>
          <p:spPr>
            <a:xfrm>
              <a:off x="3188521" y="2214814"/>
              <a:ext cx="1127566" cy="79709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70C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88521" y="2332262"/>
              <a:ext cx="1127566" cy="3985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070C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NVS</a:t>
              </a:r>
              <a:endParaRPr lang="en-US" sz="11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188521" y="2584917"/>
              <a:ext cx="1127566" cy="318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4C5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Key-value</a:t>
              </a:r>
              <a:endParaRPr lang="en-US" sz="800" dirty="0"/>
            </a:p>
          </p:txBody>
        </p:sp>
      </p:grpSp>
      <p:sp>
        <p:nvSpPr>
          <p:cNvPr id="19" name="Shape 17"/>
          <p:cNvSpPr/>
          <p:nvPr/>
        </p:nvSpPr>
        <p:spPr>
          <a:xfrm>
            <a:off x="532906" y="3077860"/>
            <a:ext cx="3798118" cy="327738"/>
          </a:xfrm>
          <a:prstGeom prst="rect">
            <a:avLst/>
          </a:prstGeom>
          <a:solidFill>
            <a:schemeClr val="bg2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906" y="3077860"/>
            <a:ext cx="3798118" cy="32773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Dispositivos</a:t>
            </a:r>
            <a:r>
              <a:rPr lang="en-US" sz="105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5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almacenamiento</a:t>
            </a:r>
            <a:r>
              <a:rPr lang="en-US" sz="105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(flash, SD)</a:t>
            </a:r>
            <a:endParaRPr lang="en-US" sz="1050" dirty="0">
              <a:latin typeface="Calibri"/>
              <a:ea typeface="Calibri"/>
              <a:cs typeface="Calibri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0" y="114300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0" y="114300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17043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LittleFS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417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Log-structured, wear leveling, tolerante a fallas. Optimizado para flash con limitadas escrituras.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0" y="210312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210312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213055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FS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23774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ChaN (FatFS). Portabilidad MSDOS, ampliamente compatible.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0" y="306324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3063240"/>
            <a:ext cx="109728" cy="8686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09067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NVS (Non-Volatile Storage)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3375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clave-valor simple para configuración. Sin archivos ni directorios.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UNIX 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3708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i-nodos ✗ Sin symbolic links ✗ Sin permisos rwx (no hay owner/group) ✗ NVS sin nombres de archivo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B7D6F0E3-9C61-03F1-651C-6C6402120AE7}"/>
              </a:ext>
            </a:extLst>
          </p:cNvPr>
          <p:cNvSpPr/>
          <p:nvPr/>
        </p:nvSpPr>
        <p:spPr>
          <a:xfrm>
            <a:off x="844042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2" name="Text 21">
            <a:extLst>
              <a:ext uri="{FF2B5EF4-FFF2-40B4-BE49-F238E27FC236}">
                <a16:creationId xmlns:a16="http://schemas.microsoft.com/office/drawing/2014/main" id="{CCD99940-E5BD-07D7-1341-8079691A7E11}"/>
              </a:ext>
            </a:extLst>
          </p:cNvPr>
          <p:cNvSpPr/>
          <p:nvPr/>
        </p:nvSpPr>
        <p:spPr>
          <a:xfrm>
            <a:off x="2193729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4" name="Text 21">
            <a:extLst>
              <a:ext uri="{FF2B5EF4-FFF2-40B4-BE49-F238E27FC236}">
                <a16:creationId xmlns:a16="http://schemas.microsoft.com/office/drawing/2014/main" id="{B2238230-7D09-C376-AF6F-BB334FCAFAFD}"/>
              </a:ext>
            </a:extLst>
          </p:cNvPr>
          <p:cNvSpPr/>
          <p:nvPr/>
        </p:nvSpPr>
        <p:spPr>
          <a:xfrm>
            <a:off x="3496347" y="2019697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301F21B3-F0B0-3537-2C04-2CCE88C30DF2}"/>
              </a:ext>
            </a:extLst>
          </p:cNvPr>
          <p:cNvSpPr/>
          <p:nvPr/>
        </p:nvSpPr>
        <p:spPr>
          <a:xfrm>
            <a:off x="844040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D6EA314C-3977-8B55-861E-3A162CFE561F}"/>
              </a:ext>
            </a:extLst>
          </p:cNvPr>
          <p:cNvSpPr/>
          <p:nvPr/>
        </p:nvSpPr>
        <p:spPr>
          <a:xfrm>
            <a:off x="2193725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7FA6A821-4A9A-0468-77BB-F3EB13B3F506}"/>
              </a:ext>
            </a:extLst>
          </p:cNvPr>
          <p:cNvSpPr/>
          <p:nvPr/>
        </p:nvSpPr>
        <p:spPr>
          <a:xfrm>
            <a:off x="3496341" y="2849485"/>
            <a:ext cx="48930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Sistema de Archivos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DFSA — Acceso transparente a archivos en cualquier nodo del cluster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4147"/>
            <a:ext cx="4114800" cy="319091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DFSA — INTERCEPTION FLOW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584241"/>
            <a:ext cx="1645920" cy="554247"/>
          </a:xfrm>
          <a:prstGeom prst="rect">
            <a:avLst/>
          </a:prstGeom>
          <a:solidFill>
            <a:srgbClr val="F6F7F8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27373"/>
            <a:ext cx="164592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Proceso</a:t>
            </a:r>
            <a:endParaRPr lang="en-US" sz="1050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en-US" sz="105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Nodo</a:t>
            </a:r>
            <a:r>
              <a:rPr lang="en-US" sz="105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A)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286000" y="1718813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60320" y="1581653"/>
            <a:ext cx="1737360" cy="548640"/>
          </a:xfrm>
          <a:prstGeom prst="rect">
            <a:avLst/>
          </a:prstGeom>
          <a:solidFill>
            <a:srgbClr val="4C5155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581653"/>
            <a:ext cx="17373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DFSA</a:t>
            </a:r>
            <a:endParaRPr lang="en-US" sz="1050">
              <a:latin typeface="Arial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intercepta</a:t>
            </a:r>
            <a:endParaRPr lang="en-US" sz="1050">
              <a:latin typeface="Arial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 rot="8100000">
            <a:off x="2817917" y="2077919"/>
            <a:ext cx="565461" cy="414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grpSp>
        <p:nvGrpSpPr>
          <p:cNvPr id="42" name="Grupo 41">
            <a:extLst>
              <a:ext uri="{FF2B5EF4-FFF2-40B4-BE49-F238E27FC236}">
                <a16:creationId xmlns:a16="http://schemas.microsoft.com/office/drawing/2014/main" id="{B39DB26F-9804-3806-DDBE-000FDEAD8C72}"/>
              </a:ext>
            </a:extLst>
          </p:cNvPr>
          <p:cNvGrpSpPr/>
          <p:nvPr/>
        </p:nvGrpSpPr>
        <p:grpSpPr>
          <a:xfrm>
            <a:off x="1072163" y="2406008"/>
            <a:ext cx="2788919" cy="384307"/>
            <a:chOff x="640080" y="2286000"/>
            <a:chExt cx="1645920" cy="502920"/>
          </a:xfrm>
        </p:grpSpPr>
        <p:sp>
          <p:nvSpPr>
            <p:cNvPr id="15" name="Shape 13"/>
            <p:cNvSpPr/>
            <p:nvPr/>
          </p:nvSpPr>
          <p:spPr>
            <a:xfrm>
              <a:off x="640080" y="2286000"/>
              <a:ext cx="1645920" cy="502920"/>
            </a:xfrm>
            <a:prstGeom prst="rect">
              <a:avLst/>
            </a:prstGeom>
            <a:solidFill>
              <a:srgbClr val="D1D3D5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40080" y="2286000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algn="ctr"/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¿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Archivo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en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</a:t>
              </a:r>
              <a:r>
                <a:rPr lang="en-US" sz="120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nodo</a:t>
              </a:r>
              <a:r>
                <a:rPr lang="en-US" sz="120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B?</a:t>
              </a:r>
              <a:endParaRPr lang="en-US" sz="1200" dirty="0"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7" name="Text 15"/>
          <p:cNvSpPr/>
          <p:nvPr/>
        </p:nvSpPr>
        <p:spPr>
          <a:xfrm rot="5400000">
            <a:off x="1466491" y="281269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96CD98C9-CE5A-B44F-1B50-9D7D663B9C18}"/>
              </a:ext>
            </a:extLst>
          </p:cNvPr>
          <p:cNvGrpSpPr/>
          <p:nvPr/>
        </p:nvGrpSpPr>
        <p:grpSpPr>
          <a:xfrm>
            <a:off x="637391" y="3096122"/>
            <a:ext cx="1649955" cy="502920"/>
            <a:chOff x="2560320" y="2286000"/>
            <a:chExt cx="1737360" cy="502920"/>
          </a:xfrm>
        </p:grpSpPr>
        <p:sp>
          <p:nvSpPr>
            <p:cNvPr id="18" name="Shape 16"/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 algn="ctr">
                <a:buNone/>
              </a:pPr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Acceso</a:t>
              </a:r>
              <a:endParaRPr lang="en-US" sz="1050"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por</a:t>
              </a:r>
              <a:r>
                <a:rPr lang="en-US" sz="105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 Red</a:t>
              </a:r>
              <a:endParaRPr lang="en-US" sz="105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640080" y="3713240"/>
            <a:ext cx="3657600" cy="392071"/>
          </a:xfrm>
          <a:prstGeom prst="rect">
            <a:avLst/>
          </a:prstGeom>
          <a:solidFill>
            <a:srgbClr val="8C9196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83212" y="3702457"/>
            <a:ext cx="3657600" cy="39207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Proceso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ve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operación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local</a:t>
            </a:r>
            <a:endParaRPr lang="en-US" sz="900" dirty="0">
              <a:latin typeface="Calibri"/>
              <a:ea typeface="Calibri"/>
              <a:cs typeface="Calibri"/>
            </a:endParaRPr>
          </a:p>
          <a:p>
            <a:pPr algn="ctr"/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pero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el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archivo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puede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estar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cualquier</a:t>
            </a:r>
            <a:r>
              <a:rPr lang="en-US" sz="900" dirty="0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2D3237"/>
                </a:solidFill>
                <a:latin typeface="Calibri"/>
                <a:ea typeface="Calibri"/>
                <a:cs typeface="Calibri"/>
              </a:rPr>
              <a:t>nodo</a:t>
            </a:r>
            <a:endParaRPr lang="en-US" sz="9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09160" y="1097280"/>
            <a:ext cx="39776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097280"/>
            <a:ext cx="397764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109728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 LOCALES POR NODO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596128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96128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345936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45936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95744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95744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45552" y="1463040"/>
            <a:ext cx="685800" cy="320040"/>
          </a:xfrm>
          <a:prstGeom prst="rect">
            <a:avLst/>
          </a:prstGeom>
          <a:solidFill>
            <a:srgbClr val="F6F7F8"/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45552" y="1463040"/>
            <a:ext cx="685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00600" y="187452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usa su FS local sin modificaciones. MOSIX no proporciona FS distribuido propio.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09160" y="2606040"/>
            <a:ext cx="39776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2606040"/>
            <a:ext cx="397764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709160" y="26060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00600" y="2944368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 es Parallel FS (no hay striping)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Cada nodo tiene almacenamiento local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E/S puede ser bottleneck (latencia de red)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paralelismo de E/S (vs PVFS/Lustre)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soporte para shared memory entre procesos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B0989EA-AD58-397C-59EB-622747BE6B6A}"/>
              </a:ext>
            </a:extLst>
          </p:cNvPr>
          <p:cNvGrpSpPr/>
          <p:nvPr/>
        </p:nvGrpSpPr>
        <p:grpSpPr>
          <a:xfrm>
            <a:off x="2610683" y="3096122"/>
            <a:ext cx="1649956" cy="502920"/>
            <a:chOff x="2560319" y="2286000"/>
            <a:chExt cx="1737361" cy="502920"/>
          </a:xfrm>
        </p:grpSpPr>
        <p:sp>
          <p:nvSpPr>
            <p:cNvPr id="44" name="Shape 16">
              <a:extLst>
                <a:ext uri="{FF2B5EF4-FFF2-40B4-BE49-F238E27FC236}">
                  <a16:creationId xmlns:a16="http://schemas.microsoft.com/office/drawing/2014/main" id="{88F070FF-7D8D-4D5D-8349-00EAAB2C582F}"/>
                </a:ext>
              </a:extLst>
            </p:cNvPr>
            <p:cNvSpPr/>
            <p:nvPr/>
          </p:nvSpPr>
          <p:spPr>
            <a:xfrm>
              <a:off x="2560319" y="2286000"/>
              <a:ext cx="1737360" cy="502920"/>
            </a:xfrm>
            <a:prstGeom prst="rect">
              <a:avLst/>
            </a:prstGeom>
            <a:solidFill>
              <a:srgbClr val="F6F7F8"/>
            </a:solidFill>
            <a:ln w="12700">
              <a:solidFill>
                <a:srgbClr val="4C5155"/>
              </a:solidFill>
              <a:prstDash val="solid"/>
            </a:ln>
          </p:spPr>
        </p:sp>
        <p:sp>
          <p:nvSpPr>
            <p:cNvPr id="45" name="Text 17">
              <a:extLst>
                <a:ext uri="{FF2B5EF4-FFF2-40B4-BE49-F238E27FC236}">
                  <a16:creationId xmlns:a16="http://schemas.microsoft.com/office/drawing/2014/main" id="{B6CBA5E0-6871-BC61-1EBC-91AA87803C96}"/>
                </a:ext>
              </a:extLst>
            </p:cNvPr>
            <p:cNvSpPr/>
            <p:nvPr/>
          </p:nvSpPr>
          <p:spPr>
            <a:xfrm>
              <a:off x="2560320" y="22860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/>
            <a:p>
              <a:pPr marL="0" indent="0" algn="ctr">
                <a:buNone/>
              </a:pPr>
              <a:r>
                <a:rPr lang="en-US" sz="1050" dirty="0" err="1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Acceso</a:t>
              </a:r>
              <a:endParaRPr lang="en-US" sz="1050">
                <a:latin typeface="Calibri"/>
                <a:ea typeface="Calibri"/>
                <a:cs typeface="Calibri"/>
              </a:endParaRPr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2D3237"/>
                  </a:solidFill>
                  <a:latin typeface="Calibri"/>
                  <a:ea typeface="Calibri"/>
                  <a:cs typeface="Calibri"/>
                </a:rPr>
                <a:t>ext3/ext4/XFS</a:t>
              </a:r>
              <a:endParaRPr lang="en-US" sz="1050"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46" name="Text 15">
            <a:extLst>
              <a:ext uri="{FF2B5EF4-FFF2-40B4-BE49-F238E27FC236}">
                <a16:creationId xmlns:a16="http://schemas.microsoft.com/office/drawing/2014/main" id="{CA0AEA30-5983-1202-5D75-3E0FB1EAB7DD}"/>
              </a:ext>
            </a:extLst>
          </p:cNvPr>
          <p:cNvSpPr/>
          <p:nvPr/>
        </p:nvSpPr>
        <p:spPr>
          <a:xfrm rot="5400000">
            <a:off x="3321170" y="2823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DEB96E8-6AE4-B15A-124A-02F0CCBAA115}"/>
              </a:ext>
            </a:extLst>
          </p:cNvPr>
          <p:cNvSpPr txBox="1"/>
          <p:nvPr/>
        </p:nvSpPr>
        <p:spPr>
          <a:xfrm>
            <a:off x="1509622" y="2830542"/>
            <a:ext cx="463671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900">
                <a:solidFill>
                  <a:srgbClr val="2D3237"/>
                </a:solidFill>
                <a:ea typeface="Calibri"/>
                <a:cs typeface="Calibri"/>
              </a:rPr>
              <a:t>SI</a:t>
            </a:r>
            <a:endParaRPr lang="en-US" sz="900" dirty="0">
              <a:solidFill>
                <a:srgbClr val="2D3237"/>
              </a:solidFill>
              <a:ea typeface="Calibri"/>
              <a:cs typeface="Calibri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C88A00B3-5723-6B52-0338-6CF5631E4E1F}"/>
              </a:ext>
            </a:extLst>
          </p:cNvPr>
          <p:cNvSpPr txBox="1"/>
          <p:nvPr/>
        </p:nvSpPr>
        <p:spPr>
          <a:xfrm>
            <a:off x="2965329" y="2841325"/>
            <a:ext cx="463671" cy="2308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900">
                <a:solidFill>
                  <a:srgbClr val="2D3237"/>
                </a:solidFill>
                <a:ea typeface="Calibri"/>
                <a:cs typeface="Calibri"/>
              </a:rPr>
              <a:t>NO</a:t>
            </a:r>
            <a:endParaRPr lang="en-US" sz="900" dirty="0">
              <a:solidFill>
                <a:srgbClr val="2D3237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57200" y="105156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9379323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Administración de Memoria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MPU-based protection — sin MMU en la mayoría de configuraciones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MPU — REGIONES DE MEMORIA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2194560" cy="640080"/>
          </a:xfrm>
          <a:prstGeom prst="rect">
            <a:avLst/>
          </a:prstGeom>
          <a:solidFill>
            <a:srgbClr val="0070C5"/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49669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7190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privilegiado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91972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0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4505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(aislado)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2194560" cy="640080"/>
          </a:xfrm>
          <a:prstGeom prst="rect">
            <a:avLst/>
          </a:prstGeom>
          <a:solidFill>
            <a:srgbClr val="F6F7F8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12709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/ PERIF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E/S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34275" y="1494095"/>
            <a:ext cx="1554480" cy="45202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← MPU (8-16 regiones </a:t>
            </a:r>
            <a:r>
              <a:rPr lang="en-US" sz="11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configurables</a:t>
            </a:r>
            <a:r>
              <a:rPr lang="en-US" sz="11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09160" y="1051560"/>
            <a:ext cx="39776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MPU vs MMU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00600" y="1353312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MPU: protección por regiones (sin paginación)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memoria virtual en la mayoría de configs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paging solo en arquitecturas con MMU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14884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214884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14884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 DE MEMORIA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00600" y="2450592"/>
            <a:ext cx="3794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Heap: asignador dinámico clásico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Slabs: bloques de tamaño fijo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Blocks: asignación estructurada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315468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15468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31546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MODE + KERNEL MODE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456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levels via hardware — apps aisladas del kernel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085470"/>
            <a:ext cx="8218817" cy="367917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023360"/>
            <a:ext cx="80467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💡 Sin thrashing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posible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recursos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limitados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definidos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por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hardware, no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por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competencia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procesos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en-US" sz="105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Diseñado</a:t>
            </a:r>
            <a:r>
              <a:rPr lang="en-US" sz="105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para MCUs, no para clusters.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Administración de Memoria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Ushering — migración proactiva de páginas entre nodos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USHERING — FLUJO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1554480" cy="1188720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llena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2194560"/>
            <a:ext cx="1005840" cy="320040"/>
          </a:xfrm>
          <a:prstGeom prst="rect">
            <a:avLst/>
          </a:prstGeom>
          <a:solidFill>
            <a:srgbClr val="8C9196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1945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X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40280" y="2331720"/>
            <a:ext cx="731520" cy="0"/>
          </a:xfrm>
          <a:prstGeom prst="line">
            <a:avLst/>
          </a:prstGeom>
          <a:noFill/>
          <a:ln w="38100">
            <a:solidFill>
              <a:srgbClr val="4C5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2057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463040"/>
            <a:ext cx="1371600" cy="1188720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17520" y="17373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2194560"/>
            <a:ext cx="1097280" cy="320040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4C5155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3154680" y="21945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" y="2788920"/>
            <a:ext cx="3749040" cy="777240"/>
          </a:xfrm>
          <a:prstGeom prst="rect">
            <a:avLst/>
          </a:prstGeom>
          <a:solidFill>
            <a:srgbClr val="8C9196">
              <a:alpha val="3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83464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Nodo A tiene poca memoria libre →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 migra página X proactivamente antes de OOM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1051560"/>
            <a:ext cx="39776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 VIRTUAL DISTRIBUIDA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00600" y="1353312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páginas distribuida entre nodos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Checkpoint/Restart: serializa estado de memoria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201168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201168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20116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MECHANISM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2313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 memoria de todos los nodos y migra procesos cuando detecta presión de memoria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278892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2788920"/>
            <a:ext cx="397764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27889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3090672"/>
            <a:ext cx="3794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shared memory entre procesos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Modelo 'shared-nothing' por nodo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Migración de procesos con mucha memoria = overhead de red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693523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Administración del Procesador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scheduling — priority-based, sin quantum clásico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8235" y="1177656"/>
            <a:ext cx="4114799" cy="3144653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DE THREAD 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105156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 SCHEDULING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00600" y="1353312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Cooperativo: hilo cede CPU voluntariamente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Preemptive: hilo de mayor prioridad desaloja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Híbrido: combinación de ambos (usuario elige)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Priority-based: sin Round Robin (primer cola = primero)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2286000"/>
            <a:ext cx="3977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7" name="Text 35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INHERITANCE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25877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inversión de prioridad — hilo bajo hereda prioridad de hilo alto que espera un recurso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3017520"/>
            <a:ext cx="39776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01752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1" name="Text 39"/>
          <p:cNvSpPr/>
          <p:nvPr/>
        </p:nvSpPr>
        <p:spPr>
          <a:xfrm>
            <a:off x="4709160" y="30175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QUANTUM CLÁSICO 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331012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time-slicing entre threads de igual prioridad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cómo function calls — sin context switch kernel/user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CE9FD32E-09D8-E86C-88D9-51C829A773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7279" y="1472060"/>
            <a:ext cx="4050632" cy="259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Administración del Procesador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como scheduling distribuido — PCB transferido entre nodos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971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 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1489934" cy="1904103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(origen)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1874520"/>
            <a:ext cx="1188720" cy="411480"/>
          </a:xfrm>
          <a:prstGeom prst="rect">
            <a:avLst/>
          </a:prstGeom>
          <a:solidFill>
            <a:srgbClr val="8C9196"/>
          </a:solidFill>
          <a:ln/>
        </p:spPr>
      </p:sp>
      <p:sp>
        <p:nvSpPr>
          <p:cNvPr id="12" name="Text 10"/>
          <p:cNvSpPr/>
          <p:nvPr/>
        </p:nvSpPr>
        <p:spPr>
          <a:xfrm>
            <a:off x="790687" y="1834179"/>
            <a:ext cx="11887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PCB + mem</a:t>
            </a:r>
            <a:endParaRPr lang="en-US" sz="1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7411" y="2065469"/>
            <a:ext cx="118872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ejecución</a:t>
            </a:r>
            <a:endParaRPr lang="en-US" sz="8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086" y="2505187"/>
            <a:ext cx="822960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serializa</a:t>
            </a:r>
            <a:endParaRPr lang="en-US" sz="700" dirty="0">
              <a:latin typeface="Calibri"/>
              <a:ea typeface="Calibri"/>
              <a:cs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53265" y="2358614"/>
            <a:ext cx="22860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dirty="0">
                <a:solidFill>
                  <a:srgbClr val="4C5155"/>
                </a:solidFill>
                <a:latin typeface="Arial"/>
                <a:ea typeface="Arial" pitchFamily="34" charset="-122"/>
                <a:cs typeface="Arial"/>
              </a:rPr>
              <a:t>▼</a:t>
            </a:r>
            <a:endParaRPr lang="en-US" sz="1000" dirty="0">
              <a:latin typeface="Arial"/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952974" y="1463040"/>
            <a:ext cx="1409252" cy="1904103"/>
          </a:xfrm>
          <a:prstGeom prst="rect">
            <a:avLst/>
          </a:prstGeom>
          <a:solidFill>
            <a:srgbClr val="F6F7F8"/>
          </a:solidFill>
          <a:ln w="25400">
            <a:solidFill>
              <a:srgbClr val="4C5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1463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B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(destino)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63240" y="1874520"/>
            <a:ext cx="1188720" cy="411480"/>
          </a:xfrm>
          <a:prstGeom prst="rect">
            <a:avLst/>
          </a:prstGeom>
          <a:solidFill>
            <a:srgbClr val="D1D3D5">
              <a:alpha val="40000"/>
            </a:srgbClr>
          </a:solidFill>
          <a:ln w="12700">
            <a:solidFill>
              <a:srgbClr val="4C515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063240" y="1874520"/>
            <a:ext cx="11887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espacio</a:t>
            </a:r>
            <a:endParaRPr lang="en-US" sz="9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01745" y="2518634"/>
            <a:ext cx="914400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reconstruye</a:t>
            </a:r>
            <a:endParaRPr lang="en-US" sz="9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41955" y="235861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9964" y="2909944"/>
            <a:ext cx="1188720" cy="365760"/>
          </a:xfrm>
          <a:prstGeom prst="rect">
            <a:avLst/>
          </a:prstGeom>
          <a:solidFill>
            <a:srgbClr val="4C5155"/>
          </a:solidFill>
          <a:ln w="12700">
            <a:solidFill>
              <a:srgbClr val="4C5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69964" y="2909944"/>
            <a:ext cx="11887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continúa</a:t>
            </a:r>
            <a:endParaRPr lang="en-US" sz="1050" dirty="0" err="1">
              <a:latin typeface="Arial"/>
              <a:cs typeface="Arial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3601122"/>
            <a:ext cx="3749040" cy="320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601122"/>
            <a:ext cx="37490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Checkpoint/Restart: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serialización</a:t>
            </a: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estado</a:t>
            </a:r>
            <a:r>
              <a:rPr lang="en-US" sz="10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completo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09160" y="105156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BALANCING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00600" y="1353312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Multi-parámetro: CPU + memoria + latencia de red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continuo de todos los nodos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preemptiva automática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2286000"/>
            <a:ext cx="397764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5" name="Text 33"/>
          <p:cNvSpPr/>
          <p:nvPr/>
        </p:nvSpPr>
        <p:spPr>
          <a:xfrm>
            <a:off x="4709160" y="228600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MULTI-PROGRAMACIÓN A NIVEL CLUSTER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258775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visto como una única máquina con N CPUs — scheduling transparente al usuario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3108960"/>
            <a:ext cx="397764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1089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9" name="Text 37"/>
          <p:cNvSpPr/>
          <p:nvPr/>
        </p:nvSpPr>
        <p:spPr>
          <a:xfrm>
            <a:off x="4709160" y="31089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EFECTO CONVOY EVITADO 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341071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CPU-bound migran a nodos menos cargados — evitan monopolizar un solo nodo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3E3D5E84-1D45-89ED-AE6F-3B6ED0199C1E}"/>
              </a:ext>
            </a:extLst>
          </p:cNvPr>
          <p:cNvSpPr/>
          <p:nvPr/>
        </p:nvSpPr>
        <p:spPr>
          <a:xfrm>
            <a:off x="3539265" y="2728408"/>
            <a:ext cx="22860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dirty="0">
                <a:solidFill>
                  <a:srgbClr val="4C5155"/>
                </a:solidFill>
                <a:latin typeface="Arial"/>
                <a:ea typeface="Arial" pitchFamily="34" charset="-122"/>
                <a:cs typeface="Arial"/>
              </a:rPr>
              <a:t>▼</a:t>
            </a:r>
            <a:endParaRPr lang="en-US" sz="1000" dirty="0">
              <a:latin typeface="Arial"/>
              <a:ea typeface="Calibri"/>
              <a:cs typeface="Calibri"/>
            </a:endParaRP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225F2CEB-26D8-EF7B-CD58-B2CD9CF324D6}"/>
              </a:ext>
            </a:extLst>
          </p:cNvPr>
          <p:cNvSpPr/>
          <p:nvPr/>
        </p:nvSpPr>
        <p:spPr>
          <a:xfrm>
            <a:off x="1953857" y="1990971"/>
            <a:ext cx="118872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───</a:t>
            </a:r>
            <a:r>
              <a:rPr lang="en-US" sz="9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transfer</a:t>
            </a:r>
            <a:r>
              <a:rPr lang="en-US" sz="700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───▶</a:t>
            </a:r>
            <a:endParaRPr lang="en-US" sz="7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Seguridad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seguridad para sistemas embebidos IoT restringidos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1148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MPU + MODO DUAL 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93192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 (Memory Protection Unit) — regiones de memoria con atributos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mode + Kernel mode — niveles de privilegio por hardware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CONFIG_USERSPACE: threads no privilegiados con MPU restrictions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1148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423160"/>
            <a:ext cx="41148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231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ADDRESS SPACE + SYSCALLS 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715768"/>
            <a:ext cx="393192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+ aplicaciones compilados en binario estático único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 como function calls directos — sin mode switch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dynamic loaders — elimina superficie de ataque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9728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BOOT + PSA CRYPTO 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389888"/>
            <a:ext cx="379476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MCUboot: chain de secure boot con firmas asimétricas (RSA/ECDSA)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Crypto API + mbedTLS: cifrado, TLS/DTLS, secure storage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partitioning para updates atómicos con rollback protection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2423160"/>
            <a:ext cx="39776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4231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24231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PROTECTION + OpenSSF GOLD BADGE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0600" y="2715768"/>
            <a:ext cx="379476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guards detectan overflows en context switches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Gold Badge (2019) — 90% statement coverage, 80% branch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Subcommittee + vulnerability management process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520440"/>
            <a:ext cx="8229600" cy="29260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520440"/>
            <a:ext cx="822960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Memory domains: threads solo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acceden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a sus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propias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regiones —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aislamiento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verificado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cada</a:t>
            </a:r>
            <a:r>
              <a:rPr lang="en-US" sz="1000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context switch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Seguridad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+ confianza mutua entre nodos del cluster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MODULE EN MODO PRIVILEGIADO 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kernel corre en kernel mode (privileged)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Intercepta y filtra syscalls de procesos guest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sandbox a nivel del kernel de Linux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41148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317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SSI UNIFIED UID + PERMISOS LOCALES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624328"/>
            <a:ext cx="393192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SSI: Single System Image — UID unificado en todo el cluster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retiene sus permisos Linux locales (heredados)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97280"/>
            <a:ext cx="39776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09728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ISOLATION PARA PROCESOS GUEST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38988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guest no puede acceder archivos ni recursos del host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de red filtrada/restringida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potencialmente peligrosas interceptadas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2331720"/>
            <a:ext cx="39776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33172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23317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 SEGURIDAD EN MIGRACIÓN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0600" y="2624328"/>
            <a:ext cx="379476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transfiere contexto de seguridad del proceso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Checkpoint/Restart: serialización de estado completo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chemeClr val="bg2"/>
          </a:solidFill>
          <a:ln w="19050">
            <a:solidFill>
              <a:srgbClr val="4C5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83280"/>
            <a:ext cx="80467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⚠ REQUISITO CRÍTICO: Todos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los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nodos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deben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ser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mutuamente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confiables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— no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apta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para clouds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públicos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o 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nodos</a:t>
            </a:r>
            <a:r>
              <a:rPr lang="en-US" sz="1050" b="1" dirty="0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 no-</a:t>
            </a:r>
            <a:r>
              <a:rPr lang="en-US" sz="1050" b="1" dirty="0" err="1">
                <a:solidFill>
                  <a:srgbClr val="4C5155"/>
                </a:solidFill>
                <a:latin typeface="Calibri"/>
                <a:ea typeface="Calibri"/>
                <a:cs typeface="Calibri"/>
              </a:rPr>
              <a:t>confiables</a:t>
            </a:r>
            <a:endParaRPr lang="en-US" sz="105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9191064" cy="4760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Facilidades para Desarrolladores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completo: build, flash, debug — API POSIX-like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BUILD 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Meta-tool multi-propósito en Python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repositorios (west update)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Flash, debug, serial console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KCONFIG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CMake: sistema de build portable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KConfig: configuración granular de features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Out-of-tree builds, cross-compilation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DEVICETREE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 hardware en tiempo de compilación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software/hardware — mismo código en boards distintas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SDK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Toolchains para todas las arquitecturas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QEMU: emulación sin hardware real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OpenOCD: debugging via JTAG/SWD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POSIX-LIKE + NETWORKING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close, read, write, socket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 red nativo: BLE, Wi-Fi, Thread, Ethernet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aplicaciones existentes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+ COMUNIDAD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docs.zephyrproject.org — referencia completa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Discord, Stack Overflow activos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Facilidades para Desarrolladores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total — aplicaciones Linux estándar sin modificaciones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POSIX ESTÁNDAR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aplicaciones Linux existentes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estándar: fork, exec, read, write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librerías especiales de linkedición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RECOMPILACIÓN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Ejecutables ELF estándar funcionan directamente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código específico de MOSIX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transparente entre nodos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TRANSPARENTE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migran sin modificaciones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mosrun: herramienta para iniciar procesos migrables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10972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MOSIX (HPC)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898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mosmon: monitoreo en tiempo real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mosps: lista de procesos activos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mostat: estadísticas del cluster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1031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COMPATIBILIDAD SLURM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239572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SLURM: workload manager estándar HPC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posible a nivel de cluster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conjunto: SLURM + migración MOSIX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108960"/>
            <a:ext cx="4023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1089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LIMITADA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menos extensa que Zephyr</a:t>
            </a:r>
            <a:endParaRPr lang="en-US" sz="900" dirty="0"/>
          </a:p>
          <a:p>
            <a:pPr marL="342900" indent="-342900" algn="l">
              <a:buSzPct val="100000"/>
              <a:buChar char="•"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FAQ, tutorial, guía del administrador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Fortalezas y Debilidades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con FreeRTOS, Contiki, TinyOS y Linux embebido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776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397764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Tamaño mínimo ~4KB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59105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Ultra-compacto para microcontroladores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Real-time guaranteed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predictible, deterministic timing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Multi-architecture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arquitecturas: ARM, RISC-V, x86, MIPS...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Active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10+ años en producción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1000+ boards soportadas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nativo de vendors majors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34930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LTS versions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6941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LTS3 con soporte extendido 10-20 años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" y="391363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Neutral governance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4114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— sin vendor lock-in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17720" y="1051560"/>
            <a:ext cx="39776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1051560"/>
            <a:ext cx="397764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05156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9160" y="138988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Ecosistema vs Linux embebido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159105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maduro que Linux embebido tradicional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 MMU / no memory virtualization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Limitado en configs sin MMU (microcontroladores)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Steep learning curve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FreeRTOS: 80% config, 20% código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0916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Context-switch slower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~143 ciclos vs ~101 de FreeRTOS (~40% más lento)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0916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 certificaciones pre-existentes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SIL 4, ASIL D como ThreadX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Fortalezas y Debilidades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con OpenMPI, TORQUE, Kubernetes y SLURM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2017 — Sin actualizaciones, parches de seguridad ni soporte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FORTALEZAS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Cluster se presenta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migran en ejecución sin código modificado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32257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Single System Image (SSI)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52374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présenté como un único sistema lógico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83464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Zero-code-change porting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0358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Binarios Linux estándar funcionan sin recompilación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Pioneering technology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sistema con migración preemptiva funcional (1999)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17720" y="1481328"/>
            <a:ext cx="397764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INACTIVE since 2017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parches, updates ni soporte disponible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Proprietary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3957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restrictiva — no open source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25786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Only x86_64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7797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soporte para arquitecturas modernas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296265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Modern competitors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16382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SLURM, Kubernetes dominan el mercado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threads support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multithread no son compatibles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Difusión y Presencia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 global creciente — ecosistema maduro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CONTRIBUIDORES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3,000+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contributors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6032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BOARDS SOPORTADAS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1,000+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56032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architectures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LTS ACTIVA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6344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LTS3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66344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extendido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766560" y="105156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1051560"/>
            <a:ext cx="196596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1051560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CRECIMIENTO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66560" y="135331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70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69%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766560" y="182880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 aumentar uso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19456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194560"/>
            <a:ext cx="4114800" cy="256032"/>
          </a:xfrm>
          <a:prstGeom prst="rect">
            <a:avLst/>
          </a:prstGeom>
          <a:solidFill>
            <a:srgbClr val="66A9D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194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EN PRODUCTOS COMERCIALES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Norteamérica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920240" y="2514600"/>
            <a:ext cx="2468880" cy="2560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1" name="Shape 29"/>
          <p:cNvSpPr/>
          <p:nvPr/>
        </p:nvSpPr>
        <p:spPr>
          <a:xfrm>
            <a:off x="1920240" y="2514600"/>
            <a:ext cx="1728216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2" name="Text 30"/>
          <p:cNvSpPr/>
          <p:nvPr/>
        </p:nvSpPr>
        <p:spPr>
          <a:xfrm>
            <a:off x="1920240" y="2779776"/>
            <a:ext cx="1728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2999232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920240" y="2999232"/>
            <a:ext cx="2468880" cy="256032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35" name="Shape 33"/>
          <p:cNvSpPr/>
          <p:nvPr/>
        </p:nvSpPr>
        <p:spPr>
          <a:xfrm>
            <a:off x="1920240" y="2999232"/>
            <a:ext cx="1527048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6" name="Text 34"/>
          <p:cNvSpPr/>
          <p:nvPr/>
        </p:nvSpPr>
        <p:spPr>
          <a:xfrm>
            <a:off x="1920240" y="3264408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4360" y="342900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Linux Foundation Research (2026)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709160" y="2194560"/>
            <a:ext cx="39776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09160" y="2194560"/>
            <a:ext cx="397764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2194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BACKING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46320" y="2514600"/>
            <a:ext cx="781275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2514600"/>
            <a:ext cx="7812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852160" y="2514600"/>
            <a:ext cx="767828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4" name="Text 42"/>
          <p:cNvSpPr/>
          <p:nvPr/>
        </p:nvSpPr>
        <p:spPr>
          <a:xfrm>
            <a:off x="5852160" y="2514600"/>
            <a:ext cx="767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Renesas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58000" y="2514600"/>
            <a:ext cx="781275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6" name="Text 44"/>
          <p:cNvSpPr/>
          <p:nvPr/>
        </p:nvSpPr>
        <p:spPr>
          <a:xfrm>
            <a:off x="6858000" y="2514600"/>
            <a:ext cx="7812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River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823499" y="2514600"/>
            <a:ext cx="787998" cy="320040"/>
          </a:xfrm>
          <a:prstGeom prst="roundRect">
            <a:avLst>
              <a:gd name="adj" fmla="val 14286"/>
            </a:avLst>
          </a:prstGeom>
          <a:solidFill>
            <a:srgbClr val="66A9DC"/>
          </a:solidFill>
          <a:ln/>
        </p:spPr>
      </p:sp>
      <p:sp>
        <p:nvSpPr>
          <p:cNvPr id="48" name="Text 46"/>
          <p:cNvSpPr/>
          <p:nvPr/>
        </p:nvSpPr>
        <p:spPr>
          <a:xfrm>
            <a:off x="7823499" y="2514600"/>
            <a:ext cx="7879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Nordic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0" name="Text 48"/>
          <p:cNvSpPr/>
          <p:nvPr/>
        </p:nvSpPr>
        <p:spPr>
          <a:xfrm>
            <a:off x="484632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85216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2" name="Text 50"/>
          <p:cNvSpPr/>
          <p:nvPr/>
        </p:nvSpPr>
        <p:spPr>
          <a:xfrm>
            <a:off x="585216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858000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4" name="Text 52"/>
          <p:cNvSpPr/>
          <p:nvPr/>
        </p:nvSpPr>
        <p:spPr>
          <a:xfrm>
            <a:off x="6858000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NXP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845014" y="2907792"/>
            <a:ext cx="777240" cy="320040"/>
          </a:xfrm>
          <a:prstGeom prst="roundRect">
            <a:avLst>
              <a:gd name="adj" fmla="val 14286"/>
            </a:avLst>
          </a:prstGeom>
          <a:solidFill>
            <a:srgbClr val="D1D3D5"/>
          </a:solidFill>
          <a:ln/>
        </p:spPr>
      </p:sp>
      <p:sp>
        <p:nvSpPr>
          <p:cNvPr id="56" name="Text 54"/>
          <p:cNvSpPr/>
          <p:nvPr/>
        </p:nvSpPr>
        <p:spPr>
          <a:xfrm>
            <a:off x="7845014" y="2907792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Synopsys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800600" y="3310128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host — modelo de membresía platinum/gold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EN LA INDUSTRIA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4008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00584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Summit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0584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globales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74320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66" name="Text 64"/>
          <p:cNvSpPr/>
          <p:nvPr/>
        </p:nvSpPr>
        <p:spPr>
          <a:xfrm>
            <a:off x="274320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10896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World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310896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Conferencia embebidos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70" name="Text 68"/>
          <p:cNvSpPr/>
          <p:nvPr/>
        </p:nvSpPr>
        <p:spPr>
          <a:xfrm>
            <a:off x="484632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212080" y="402336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Zephyr Tech Day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212080" y="41879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técnicos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949440" y="4041648"/>
            <a:ext cx="274320" cy="274320"/>
          </a:xfrm>
          <a:prstGeom prst="ellipse">
            <a:avLst/>
          </a:prstGeom>
          <a:solidFill>
            <a:srgbClr val="66A9DC"/>
          </a:solidFill>
          <a:ln/>
        </p:spPr>
      </p:sp>
      <p:sp>
        <p:nvSpPr>
          <p:cNvPr id="74" name="Text 72"/>
          <p:cNvSpPr/>
          <p:nvPr/>
        </p:nvSpPr>
        <p:spPr>
          <a:xfrm>
            <a:off x="6949440" y="4041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315200" y="40233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reales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15200" y="4187952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Vestas, Google, Oticon...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Difusión y Presencia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histórica y declive — relevancia académica, no productiva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1480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TIEMPO HISTÓRICA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" y="138988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4C51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389888"/>
            <a:ext cx="77724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1990s</a:t>
            </a:r>
            <a:endParaRPr lang="en-US" sz="700">
              <a:solidFill>
                <a:schemeClr val="bg1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63040" y="138988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en Hebrew University — proyecto académico del Prof. Amnon Barak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94360" y="175564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8C9196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75564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1999-2010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63040" y="175564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de adopción académica — clusters en universidades de USA, Europa, Israel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4360" y="212140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8C9196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63040" y="212140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openMosix — extiende alcance pero genera bifurcación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4360" y="248716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D1D3D5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48716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63040" y="248716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openMosix discontinuado — fin del fork open source más activo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4360" y="285292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D1D3D5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285292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2012-2017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463040" y="285292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Declive continuo — sin adopción en producción moderna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4360" y="3218688"/>
            <a:ext cx="777240" cy="256032"/>
          </a:xfrm>
          <a:prstGeom prst="roundRect">
            <a:avLst>
              <a:gd name="adj" fmla="val 17857"/>
            </a:avLst>
          </a:prstGeom>
          <a:solidFill>
            <a:srgbClr val="4C5155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218688"/>
            <a:ext cx="77724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chemeClr val="bg1"/>
                </a:solidFill>
                <a:latin typeface="Arial"/>
                <a:ea typeface="Arial" pitchFamily="34" charset="-122"/>
                <a:cs typeface="Arial"/>
              </a:rPr>
              <a:t>Oct 2017</a:t>
            </a:r>
            <a:endParaRPr lang="en-US" sz="700">
              <a:solidFill>
                <a:schemeClr val="bg1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321868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release (MOSIX-4.4.4) — proyecto inactivo desde entonces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709160" y="1051560"/>
            <a:ext cx="39776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10515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RAZONES DEL DECLIVE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1353312"/>
            <a:ext cx="379476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propietario vs GPL — sin comunidad open source activa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a nivel kernel — incompatible con paradigma de contenedores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soporte para threads ni memoria compartida distribuida</a:t>
            </a:r>
            <a:endParaRPr lang="en-US" sz="800" dirty="0"/>
          </a:p>
          <a:p>
            <a:pPr marL="342900" indent="-342900" algn="l">
              <a:buSzPct val="100000"/>
              <a:buChar char="•"/>
            </a:pPr>
            <a:r>
              <a:rPr lang="en-US" sz="8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Competidores: SLURM (60% Top500), Kubernetes dominaron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2560320"/>
            <a:ext cx="3977640" cy="5029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5603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ESTADO: INACTIVO DESDE OCT 2017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00600" y="278892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releases, sin soporte comercial, cero adopción moderna en producción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solidFill>
            <a:srgbClr val="8C9196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ACADÉMICO ACTUAL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3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System Image (SSI)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de cluster como una única máquina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3375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290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procesos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290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transferido entre nodos — checkpoint/restart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080760" y="4023360"/>
            <a:ext cx="2560320" cy="438912"/>
          </a:xfrm>
          <a:prstGeom prst="rect">
            <a:avLst/>
          </a:prstGeom>
          <a:solidFill>
            <a:srgbClr val="D1D3D5">
              <a:alpha val="50000"/>
            </a:srgbClr>
          </a:solidFill>
          <a:ln w="12700">
            <a:solidFill>
              <a:srgbClr val="8C919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404164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de HPC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172200" y="42245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transición: Beowulf → SLURM → K8s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Soporte a Usuarios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de soporte diverso: comunitario + corporativo + documentación exhaustiva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73152" cy="132588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Documentación Oficial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40817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docs.zephyrproject.org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Exhaustiva, actualizada con cada release, multi-version, búsqueda integrada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9933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• API Reference • Kernel Guide • Security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097280"/>
            <a:ext cx="73152" cy="13258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1704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Comunidad Activa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40817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Discord, GitHub, Mailing Lists, IRC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060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TSC público, Wiki mantenida por la comunidad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9933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 • Discussions • Foros • Chat en tiempo real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514600"/>
            <a:ext cx="73152" cy="123444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587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Soporte Comercial (Opcional)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2825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 + Miembros Corporativos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44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Intel, NXP, Renesas, Wind River (Rocket)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32644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River Rocket: soporte dedicado, cloud, certificaciones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3483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Partners: ModularMX, Golioth, Hacod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7720" y="2514600"/>
            <a:ext cx="73152" cy="1234440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2587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Desarrollo Activo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2825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regulares + Security patches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044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tracking via GitHub Issues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2644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Subcommittee dedicado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3483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LTS versions con soporte 10-20 años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8640" y="39136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Membresía: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94560" y="3931920"/>
            <a:ext cx="1097280" cy="292608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5" name="Text 33"/>
          <p:cNvSpPr/>
          <p:nvPr/>
        </p:nvSpPr>
        <p:spPr>
          <a:xfrm>
            <a:off x="2194560" y="39319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PLATINUM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337560" y="391363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Nordic, Renesas, Wind River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029200" y="3931920"/>
            <a:ext cx="914400" cy="292608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3931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989320" y="391363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Intel, NXP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949440" y="3931920"/>
            <a:ext cx="914400" cy="292608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0" y="3931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909560" y="391363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Blecon, Embeint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Soporte a Usuarios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sin soporte activo ni comunidad desde 2017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OCTUBRE 2017 — Sin actualizaciones, parches de seguridad ni soporte activo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536192"/>
            <a:ext cx="73152" cy="146304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00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Documentación Disponible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8379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LIMITADA Y DESACTUALIZADA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FAQ oficial (mosix.cs.huji.ac.il)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Administrator's Guide (PDF)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 Paper (arquitectura)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Changelog (hasta 2017)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536192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536192"/>
            <a:ext cx="73152" cy="146304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600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Contacto Académico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18379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mosix@cs.huji.ac.il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0391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00600" y="22677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Sin garantía de respuesta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investigación — no un producto con soporte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090672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090672"/>
            <a:ext cx="8229600" cy="2926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0906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EXISTE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Soporte Comercial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existe empresa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hay partners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hay mantenimiento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Comunidad Activa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918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foros activos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918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GitHub no-oficial (archivado)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918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canales modernos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35040" y="343814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Actualizaciones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35040" y="3694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security patches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35040" y="39136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soporte kernels modernos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35040" y="413308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bug fixes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4553712"/>
            <a:ext cx="8229600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55371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Valor histórico: 488+ citas académicas (paper de Columbia 1998). Útil como caso de estudio en migración de procesos.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Casos de Uso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comerciales documentadas y sectores de adopción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78992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152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12471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33502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Smartwatches, hearing aids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383280" y="1188720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188720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Oticon More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1682496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682496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17556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172821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193852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Controladoras, automatización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383280" y="1792224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1792224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GARDENA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286000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359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🏥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233172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254203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monitors, dispositivos salud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383280" y="2395728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2395728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HealthyPi</a:t>
            </a: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 Move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2889504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2889504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29626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🚗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293522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314553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Scooters, GPS trackers, cerraduras BLE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383280" y="2999232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Various OEM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3493008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493008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60120" y="353872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60120" y="37490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Turbinas eólicas, paneles solares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383280" y="3602736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3602736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Vestas</a:t>
            </a:r>
            <a:endParaRPr lang="en-US" sz="1000" dirty="0">
              <a:latin typeface="Calibri"/>
              <a:ea typeface="Calibri"/>
              <a:cs typeface="Calibri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57200" y="4096512"/>
            <a:ext cx="484632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4096512"/>
            <a:ext cx="54864" cy="530352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43" name="Text 41"/>
          <p:cNvSpPr/>
          <p:nvPr/>
        </p:nvSpPr>
        <p:spPr>
          <a:xfrm>
            <a:off x="566928" y="4169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60120" y="414223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60120" y="435254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Laptop 13 DIY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383280" y="4206240"/>
            <a:ext cx="1783080" cy="310896"/>
          </a:xfrm>
          <a:prstGeom prst="roundRect">
            <a:avLst>
              <a:gd name="adj" fmla="val 14706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47" name="Text 45"/>
          <p:cNvSpPr/>
          <p:nvPr/>
        </p:nvSpPr>
        <p:spPr>
          <a:xfrm>
            <a:off x="3383280" y="4206240"/>
            <a:ext cx="1783080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0C5"/>
                </a:solidFill>
                <a:latin typeface="Calibri"/>
                <a:ea typeface="Calibri"/>
                <a:cs typeface="Calibri"/>
              </a:rPr>
              <a:t>Laptop DIY</a:t>
            </a:r>
            <a:endParaRPr lang="en-US" sz="800" dirty="0">
              <a:latin typeface="Calibri"/>
              <a:ea typeface="Calibri"/>
              <a:cs typeface="Calibri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5433956" y="4026856"/>
            <a:ext cx="3154680" cy="594360"/>
          </a:xfrm>
          <a:prstGeom prst="rect">
            <a:avLst/>
          </a:prstGeom>
          <a:solidFill>
            <a:srgbClr val="0070C5"/>
          </a:solidFill>
          <a:ln/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433956" y="4026856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Embebido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433956" y="4282888"/>
            <a:ext cx="315468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Recursos</a:t>
            </a:r>
            <a:r>
              <a:rPr lang="en-US" sz="1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limitados</a:t>
            </a:r>
            <a:r>
              <a:rPr lang="en-US" sz="1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~4KB flash</a:t>
            </a:r>
            <a:endParaRPr lang="en-US" sz="10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DBBBF942-E40E-C235-261A-8D519DE04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027" y="1344706"/>
            <a:ext cx="1368239" cy="968189"/>
          </a:xfrm>
          <a:prstGeom prst="rect">
            <a:avLst/>
          </a:prstGeom>
        </p:spPr>
      </p:pic>
      <p:pic>
        <p:nvPicPr>
          <p:cNvPr id="58" name="Imagen 57">
            <a:extLst>
              <a:ext uri="{FF2B5EF4-FFF2-40B4-BE49-F238E27FC236}">
                <a16:creationId xmlns:a16="http://schemas.microsoft.com/office/drawing/2014/main" id="{53805700-4903-0E3A-2B5F-23F7A0E95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133" y="2333065"/>
            <a:ext cx="1048208" cy="1573306"/>
          </a:xfrm>
          <a:prstGeom prst="rect">
            <a:avLst/>
          </a:prstGeom>
        </p:spPr>
      </p:pic>
      <p:pic>
        <p:nvPicPr>
          <p:cNvPr id="59" name="Imagen 58" descr="Una pantalla de una laptop&#10;&#10;El contenido generado por IA puede ser incorrecto.">
            <a:extLst>
              <a:ext uri="{FF2B5EF4-FFF2-40B4-BE49-F238E27FC236}">
                <a16:creationId xmlns:a16="http://schemas.microsoft.com/office/drawing/2014/main" id="{8CE994FB-9363-ED29-2A4F-D74CD1D3DB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879" y="1069042"/>
            <a:ext cx="1698518" cy="103542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3CCD74EA-183E-DBE6-0810-47D5D6B9EF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9315" y="2484344"/>
            <a:ext cx="1963271" cy="13245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Casos de Uso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histórico y estado actual del proyecto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solidFill>
            <a:srgbClr val="FFEBEE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DESDE 2017 — NO RECOMENDADO PARA PRODUCCIÓN ACTUAL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4C5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HISTÓRICOS (1990s-2000s)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" y="1920240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0" name="Shape 8"/>
          <p:cNvSpPr/>
          <p:nvPr/>
        </p:nvSpPr>
        <p:spPr>
          <a:xfrm>
            <a:off x="576072" y="2029968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288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Clusters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científica computacional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30352" y="2304288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072" y="2414016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128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Grids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computacionales académicos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30352" y="2688336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576072" y="2798064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59689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Genomics/Proteomics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277977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secuencias genéticas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0352" y="3072384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576072" y="3182112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98094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Dynamics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163824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de dinámica molecular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3456432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072" y="3566160"/>
            <a:ext cx="18288" cy="384048"/>
          </a:xfrm>
          <a:prstGeom prst="rect">
            <a:avLst/>
          </a:prstGeom>
          <a:solidFill>
            <a:srgbClr val="D1D3D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3649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Prediction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354787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meteorológica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0352" y="3840480"/>
            <a:ext cx="109728" cy="109728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74904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Nanotechnology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393192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a escala nanométrica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1536192"/>
            <a:ext cx="411480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0" y="1536192"/>
            <a:ext cx="4114800" cy="274320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1536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ACTUAL (2026)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3440" y="186537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Última versión: oct 2017 (MOSIX-4.4.4)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212140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actualizaciones de seguridad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Sin soporte comercial disponible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263347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Incompatibles con contenedores/K8s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0" y="3035808"/>
            <a:ext cx="411480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72000" y="3035808"/>
            <a:ext cx="4114800" cy="274320"/>
          </a:xfrm>
          <a:prstGeom prst="rect">
            <a:avLst/>
          </a:prstGeom>
          <a:solidFill>
            <a:srgbClr val="5C6BC0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30358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ACADÉMICO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649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Migración preemptiva de procesos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3440" y="356616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Single System Image (SSI)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663440" y="37673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Balanceo de carga automático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663440" y="39684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Evolución histórica de sistemas distribuidos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0070C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Zephyr OS — Costos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licenciamiento y costo total de propiedad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4475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License 2.0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6420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 Source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938528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Uso comercial permitido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copyleft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Código cerrado permitido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Sin regalías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Atribución requerida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44475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37560" y="171907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de licencia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1993392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Código fuente: gratis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Regalías por unidad: $0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Zephyr SDK: gratis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HW desarrollo: accesible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comunitario: gratis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35040" y="1078992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78992"/>
            <a:ext cx="265176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10789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OPCIONAL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26480" y="144475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Foundation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1664208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por membresías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26480" y="1938528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Wind River (Platinum)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Nordic Semiconductor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Intel, NXP, Renesas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Antmicro, Doulos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pago disponible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solidFill>
            <a:srgbClr val="66A9DC"/>
          </a:solidFill>
          <a:ln w="12700">
            <a:solidFill>
              <a:srgbClr val="0070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(TCO): MUY BAJO — Sin barreras de entrada para adopción comercial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4C5155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MOSIX — Costos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licencia propietaria e información histórica de pricing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PROYECTO INACTIVO — NO RECOMENDADO PARA PRODUCCIÓN EN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PROPIETARIA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288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048256"/>
            <a:ext cx="3794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Prohibido modificar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Prohibido ingeniería reversa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código fuente disponible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Sin obras derivadas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Contribución = propiedad del autor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3364992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8C9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University of Jerusalem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481328"/>
            <a:ext cx="397764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4C5155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 PRICING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828800"/>
            <a:ext cx="379476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8288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 era gratuito para uso académico (sin costo de licencia)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09160" y="201168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comercial post-2001: Sin documentación pública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09160" y="2212848"/>
            <a:ext cx="3794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09160" y="2542032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09160" y="2743200"/>
            <a:ext cx="3794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2962656"/>
            <a:ext cx="3794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950208"/>
            <a:ext cx="822960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9502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comercial: ❌ NO DISPONIBLE — Proyecto inactivo desde 2017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Comparativa Técnica — Zephyr vs MOSIX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filosofías de diseño para problemas radicalmente diferentes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200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Zephyr 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Arquitectura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Microkernel monolítico unificado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 — Distributed Cluster OS (módulo/daemon)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MPU + Memory Domains + User Mode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Ushering (migración proactiva)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scheduling (preemptive/coop/hybrid)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Migración preemptiva automática entre nodos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Filesystem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LittleFS, FAT FS, NVS (VFS)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DFSA + extN (acceso transparente a archivos)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/ microcontroladores embebidos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HPC / clusters de computadoras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 (open source, permisiva)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Propietaria restrictiva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2D32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ACTIVO — LTS3, desarrollo continuo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INACTIVO desde 2017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 y Recomendaciones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completamente diferentes — no compiten entre sí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solidFill>
            <a:srgbClr val="66A9DC"/>
          </a:solidFill>
          <a:ln w="25400">
            <a:solidFill>
              <a:srgbClr val="0070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24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Zephyr y MOSIX compiten en segmentos de mercado radicalmente diferentes — apples vs oranges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39776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Mercados diferentes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Zephyr → IoT embebido; MOSIX → HPC académico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223113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Zephyr: activo y viable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3000+ contribuidores, adopción comercial creciente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MOSIX: histórico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852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valor académico — abandonware desde 2017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48640" y="307238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del HPC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2735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MOSIX → SLURM → Kubernetes (contenedores)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349300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7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Diseño depende del dominio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69417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17720" y="1481328"/>
            <a:ext cx="39776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148132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09160" y="181051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 para IoT embebido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011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RTOS recomendado, tiempo real, activo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232257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Zephyr para proyectos comerciales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52374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neutral, LTS, sin vendor lock-in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09160" y="283464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MOSIX: solo estudio académico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0358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aprender migración de procesos y SSI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334670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usar MOSIX en producción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5478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Abandonado, sin seguridad, propietario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7731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D3237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D32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Cierre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868680"/>
            <a:ext cx="4572000" cy="548640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868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¡Gracias! / Preguntas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776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3977640" cy="292608"/>
          </a:xfrm>
          <a:prstGeom prst="rect">
            <a:avLst/>
          </a:prstGeom>
          <a:solidFill>
            <a:srgbClr val="0070C5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544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PRINCIPALES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88366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zephyrproject.org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13969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docs.zephyrproject.org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395728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mosix.org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Wikipedia — Zephyr 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Wikipedia — MOSIX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163824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Top500 Supercomputers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341985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Linux Foundation Research (2026)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1554480"/>
            <a:ext cx="39776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1554480"/>
            <a:ext cx="3977640" cy="292608"/>
          </a:xfrm>
          <a:prstGeom prst="rect">
            <a:avLst/>
          </a:prstGeom>
          <a:solidFill>
            <a:srgbClr val="2D3237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15544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9160" y="1883664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ARRIAGA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09160" y="217627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BELLONE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246888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BISCAY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276148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CALLA ALIENDE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09160" y="305409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CARDOZO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Sistemas Operativos — Mayo 2026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C5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Especial: Zephyr OS vs MOSIX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Presentación en pantalla (16:9)</PresentationFormat>
  <Paragraphs>0</Paragraphs>
  <Slides>30</Slides>
  <Notes>30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1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Evaluación de Productos: Zephyr OS vs MOSIX</dc:title>
  <dc:subject>Trabajo Práctico Especial - Fundamentos de Sistemas Operativos - UNMDP</dc:subject>
  <dc:creator>ARRIAGA, BELLONE, BISCAY, CALLA ALIENDE, CARDOZO</dc:creator>
  <cp:lastModifiedBy>ARRIAGA, BELLONE, BISCAY, CALLA ALIENDE, CARDOZO</cp:lastModifiedBy>
  <cp:revision>359</cp:revision>
  <dcterms:created xsi:type="dcterms:W3CDTF">2026-05-02T05:24:06Z</dcterms:created>
  <dcterms:modified xsi:type="dcterms:W3CDTF">2026-05-02T19:30:44Z</dcterms:modified>
</cp:coreProperties>
</file>