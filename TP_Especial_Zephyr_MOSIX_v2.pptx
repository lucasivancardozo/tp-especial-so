
<file path=[Content_Types].xml><?xml version="1.0" encoding="utf-8"?>
<Types xmlns="http://schemas.openxmlformats.org/package/2006/content-types">
  <Default Extension="xml" ContentType="application/xml"/>
  <Default Extension="svg" ContentType="image/svg+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30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5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s/slide11.xml" ContentType="application/vnd.openxmlformats-officedocument.presentationml.slide+xml"/>
  <Override PartName="/ppt/theme/theme2.xml" ContentType="application/vnd.openxmlformats-officedocument.theme+xml"/>
  <Override PartName="/ppt/slides/slide13.xml" ContentType="application/vnd.openxmlformats-officedocument.presentationml.slide+xml"/>
  <Override PartName="/ppt/slides/slide20.xml" ContentType="application/vnd.openxmlformats-officedocument.presentationml.slide+xml"/>
  <Override PartName="/ppt/slides/slide28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notesSlides/notesSlide2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23.xml" ContentType="application/vnd.openxmlformats-officedocument.presentationml.slide+xml"/>
  <Override PartName="/ppt/slides/slide26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15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notesSlides/notesSlide4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notesMasterIdLst>
    <p:notesMasterId r:id="rId3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</p:sldIdLst>
  <p:sldSz cx="9144000" cy="5143500" type="screen16x9"/>
  <p:notesSz cx="5143500" cy="9144000"/>
  <p:defaultTextStyle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>
        <p:guide pos="2880"/>
        <p:guide pos="162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 /><Relationship Id="rId36" Type="http://schemas.openxmlformats.org/officeDocument/2006/relationships/tableStyles" Target="tableStyles.xml" /><Relationship Id="rId37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6083693" name="Marcador de encabezado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1217057349" name="Marcador de fecha 2"/>
          <p:cNvSpPr>
            <a:spLocks noGrp="1"/>
          </p:cNvSpPr>
          <p:nvPr>
            <p:ph type="dt" idx="1"/>
          </p:nvPr>
        </p:nvSpPr>
        <p:spPr bwMode="auto"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4E30699-4A0C-4B55-9524-147844F6316E}" type="datetimeFigureOut">
              <a:rPr/>
              <a:t>02/05/2026</a:t>
            </a:fld>
            <a:endParaRPr lang="es-ES"/>
          </a:p>
        </p:txBody>
      </p:sp>
      <p:sp>
        <p:nvSpPr>
          <p:cNvPr id="514029582" name="Marcador de imagen de diapositiva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s-ES"/>
          </a:p>
        </p:txBody>
      </p:sp>
      <p:sp>
        <p:nvSpPr>
          <p:cNvPr id="1225491810" name="Marcador de notas 4"/>
          <p:cNvSpPr>
            <a:spLocks noGrp="1"/>
          </p:cNvSpPr>
          <p:nvPr>
            <p:ph type="body" sz="quarter" idx="3"/>
          </p:nvPr>
        </p:nvSpPr>
        <p:spPr bwMode="auto"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s-ES"/>
              <a:t>Haga clic para modificar los estilos de texto del patrón</a:t>
            </a:r>
            <a:endParaRPr/>
          </a:p>
          <a:p>
            <a:pPr lvl="1">
              <a:defRPr/>
            </a:pPr>
            <a:r>
              <a:rPr lang="es-ES"/>
              <a:t>Segundo nivel</a:t>
            </a:r>
            <a:endParaRPr/>
          </a:p>
          <a:p>
            <a:pPr lvl="2">
              <a:defRPr/>
            </a:pPr>
            <a:r>
              <a:rPr lang="es-ES"/>
              <a:t>Tercer nivel</a:t>
            </a:r>
            <a:endParaRPr/>
          </a:p>
          <a:p>
            <a:pPr lvl="3">
              <a:defRPr/>
            </a:pPr>
            <a:r>
              <a:rPr lang="es-ES"/>
              <a:t>Cuarto nivel</a:t>
            </a:r>
            <a:endParaRPr/>
          </a:p>
          <a:p>
            <a:pPr lvl="4">
              <a:defRPr/>
            </a:pPr>
            <a:r>
              <a:rPr lang="es-ES"/>
              <a:t>Quinto nivel</a:t>
            </a:r>
            <a:endParaRPr/>
          </a:p>
        </p:txBody>
      </p:sp>
      <p:sp>
        <p:nvSpPr>
          <p:cNvPr id="108787474" name="Marcador de pie de página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807410070" name="Marcador de número de diapositiva 6"/>
          <p:cNvSpPr>
            <a:spLocks noGrp="1"/>
          </p:cNvSpPr>
          <p:nvPr>
            <p:ph type="sldNum" sz="quarter" idx="5"/>
          </p:nvPr>
        </p:nvSpPr>
        <p:spPr bwMode="auto"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756E830C-CD3A-405D-9191-9656B9C37514}" type="slidenum">
              <a:rPr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 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 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97265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24014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430099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4283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128765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468499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8164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295940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77662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27149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642412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091608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6934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364081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736955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08710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479377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871859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003367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70958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485224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44876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2902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876789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86630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6175525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353858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69518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65163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1091401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40995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881942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900269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155444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0311793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752674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21205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83008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645067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93622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122248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466979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83895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98478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767857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249303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318357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708276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08465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44888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629291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83942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88488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494817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82828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58671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452604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16507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51409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5825646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73656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770092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4628906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25957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845004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183863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61715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27691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723487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13581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48367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379021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083354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353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715635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35609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887884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011194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103294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181565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429902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34552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36568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4711750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97659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68759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897033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80117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95264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243130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7021451-1387-4CA6-816F-3879F97B5CBC}" type="slidenum">
              <a:rPr lang="en-US"/>
              <a:t>30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dt="0" ftr="0" hdr="0" sldNum="0"/>
  <p:txStyles>
    <p:titleStyle>
      <a:lvl1pPr algn="ctr" defTabSz="914400" rtl="0"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media1.sv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jp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jp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solidFill>
          <a:srgbClr val="F6F7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2411343" name="Shape 0"/>
          <p:cNvSpPr/>
          <p:nvPr/>
        </p:nvSpPr>
        <p:spPr bwMode="auto">
          <a:xfrm>
            <a:off x="0" y="0"/>
            <a:ext cx="137160" cy="5143500"/>
          </a:xfrm>
          <a:prstGeom prst="rect">
            <a:avLst/>
          </a:prstGeom>
          <a:solidFill>
            <a:srgbClr val="0070C5"/>
          </a:solidFill>
          <a:ln/>
        </p:spPr>
      </p:sp>
      <p:sp>
        <p:nvSpPr>
          <p:cNvPr id="1340674364" name="Shape 1"/>
          <p:cNvSpPr/>
          <p:nvPr/>
        </p:nvSpPr>
        <p:spPr bwMode="auto">
          <a:xfrm>
            <a:off x="457200" y="1280160"/>
            <a:ext cx="822960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38100" dist="254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24842368" name="Text 2"/>
          <p:cNvSpPr/>
          <p:nvPr/>
        </p:nvSpPr>
        <p:spPr bwMode="auto">
          <a:xfrm>
            <a:off x="738941" y="1566949"/>
            <a:ext cx="768096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  <a:defRPr/>
            </a:pPr>
            <a:r>
              <a:rPr lang="en-US" sz="2000" b="1" spc="400">
                <a:solidFill>
                  <a:srgbClr val="0070C5"/>
                </a:solidFill>
                <a:latin typeface="Arial"/>
                <a:ea typeface="Arial"/>
                <a:cs typeface="Arial"/>
              </a:rPr>
              <a:t>EVALUACIÓN DE PRODUCTOS</a:t>
            </a:r>
            <a:endParaRPr lang="en-US" sz="2000">
              <a:latin typeface="Arial"/>
              <a:ea typeface="Calibri"/>
              <a:cs typeface="Calibri"/>
            </a:endParaRPr>
          </a:p>
        </p:txBody>
      </p:sp>
      <p:sp>
        <p:nvSpPr>
          <p:cNvPr id="1052925311" name="Text 3"/>
          <p:cNvSpPr/>
          <p:nvPr/>
        </p:nvSpPr>
        <p:spPr bwMode="auto">
          <a:xfrm>
            <a:off x="731520" y="1959726"/>
            <a:ext cx="7680960" cy="914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  <a:defRPr/>
            </a:pPr>
            <a:r>
              <a:rPr lang="en-US" sz="4800" b="1">
                <a:solidFill>
                  <a:srgbClr val="2D3237"/>
                </a:solidFill>
                <a:latin typeface="Arial Black"/>
                <a:ea typeface="Arial Black"/>
                <a:cs typeface="Arial Black"/>
              </a:rPr>
              <a:t>Zephyr OS vs MOSIX</a:t>
            </a:r>
            <a:endParaRPr lang="en-US" sz="4800">
              <a:latin typeface="Arial Black"/>
            </a:endParaRPr>
          </a:p>
        </p:txBody>
      </p:sp>
      <p:sp>
        <p:nvSpPr>
          <p:cNvPr id="1535478029" name="Text 4"/>
          <p:cNvSpPr/>
          <p:nvPr/>
        </p:nvSpPr>
        <p:spPr bwMode="auto">
          <a:xfrm>
            <a:off x="738941" y="29260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8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Trabajo Práctico Especial de Evaluación</a:t>
            </a:r>
            <a:endParaRPr lang="en-US" sz="1800"/>
          </a:p>
        </p:txBody>
      </p:sp>
      <p:sp>
        <p:nvSpPr>
          <p:cNvPr id="2000603274" name="Shape 5"/>
          <p:cNvSpPr/>
          <p:nvPr/>
        </p:nvSpPr>
        <p:spPr bwMode="auto">
          <a:xfrm>
            <a:off x="3200400" y="3480955"/>
            <a:ext cx="2743200" cy="27432"/>
          </a:xfrm>
          <a:prstGeom prst="rect">
            <a:avLst/>
          </a:prstGeom>
          <a:solidFill>
            <a:srgbClr val="D1D3D5"/>
          </a:solidFill>
          <a:ln/>
        </p:spPr>
      </p:sp>
      <p:sp>
        <p:nvSpPr>
          <p:cNvPr id="1797133978" name="Text 6"/>
          <p:cNvSpPr/>
          <p:nvPr/>
        </p:nvSpPr>
        <p:spPr bwMode="auto">
          <a:xfrm>
            <a:off x="731520" y="3514205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 i="1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Fundamentos de Sistemas Operativos</a:t>
            </a:r>
            <a:endParaRPr lang="en-US" sz="1600"/>
          </a:p>
        </p:txBody>
      </p:sp>
      <p:sp>
        <p:nvSpPr>
          <p:cNvPr id="2069212367" name="Text 7"/>
          <p:cNvSpPr/>
          <p:nvPr/>
        </p:nvSpPr>
        <p:spPr bwMode="auto">
          <a:xfrm>
            <a:off x="731520" y="388620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4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Universidad Nacional de Mar del Plata</a:t>
            </a:r>
            <a:endParaRPr lang="en-US" sz="1400"/>
          </a:p>
        </p:txBody>
      </p:sp>
      <p:sp>
        <p:nvSpPr>
          <p:cNvPr id="789426000" name="Text 8"/>
          <p:cNvSpPr/>
          <p:nvPr/>
        </p:nvSpPr>
        <p:spPr bwMode="auto"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spc="1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ARRIAGA • BELLONE • BISCAY • CALLA ALIENDE • CARDOZO</a:t>
            </a:r>
            <a:endParaRPr lang="en-US" sz="1100"/>
          </a:p>
        </p:txBody>
      </p:sp>
      <p:sp>
        <p:nvSpPr>
          <p:cNvPr id="472428485" name="Text 9"/>
          <p:cNvSpPr/>
          <p:nvPr/>
        </p:nvSpPr>
        <p:spPr bwMode="auto">
          <a:xfrm>
            <a:off x="457200" y="47091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0070C5"/>
                </a:solidFill>
                <a:latin typeface="Calibri"/>
                <a:ea typeface="Calibri"/>
                <a:cs typeface="Calibri"/>
              </a:rPr>
              <a:t>3 de Junio — 13:30 hs</a:t>
            </a:r>
            <a:endParaRPr lang="en-US" sz="1100"/>
          </a:p>
        </p:txBody>
      </p:sp>
      <p:sp>
        <p:nvSpPr>
          <p:cNvPr id="1681607396" name="Shape 10"/>
          <p:cNvSpPr/>
          <p:nvPr/>
        </p:nvSpPr>
        <p:spPr bwMode="auto">
          <a:xfrm>
            <a:off x="0" y="4983480"/>
            <a:ext cx="9144000" cy="160020"/>
          </a:xfrm>
          <a:prstGeom prst="rect">
            <a:avLst/>
          </a:prstGeom>
          <a:solidFill>
            <a:srgbClr val="0070C5"/>
          </a:solidFill>
          <a:ln/>
        </p:spPr>
      </p:sp>
      <p:sp>
        <p:nvSpPr>
          <p:cNvPr id="1627279088" name="Shape 11"/>
          <p:cNvSpPr/>
          <p:nvPr/>
        </p:nvSpPr>
        <p:spPr bwMode="auto">
          <a:xfrm>
            <a:off x="0" y="5074920"/>
            <a:ext cx="9144000" cy="68580"/>
          </a:xfrm>
          <a:prstGeom prst="rect">
            <a:avLst/>
          </a:prstGeom>
          <a:solidFill>
            <a:srgbClr val="66A9DC"/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">
    <p:bg>
      <p:bgPr shadeToTitle="0">
        <a:solidFill>
          <a:srgbClr val="F6F7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381304" name="Shape 0"/>
          <p:cNvSpPr/>
          <p:nvPr/>
        </p:nvSpPr>
        <p:spPr bwMode="auto">
          <a:xfrm>
            <a:off x="8503920" y="4663440"/>
            <a:ext cx="365760" cy="365760"/>
          </a:xfrm>
          <a:prstGeom prst="ellipse">
            <a:avLst/>
          </a:prstGeom>
          <a:solidFill>
            <a:srgbClr val="0070C5"/>
          </a:solidFill>
          <a:ln/>
        </p:spPr>
      </p:sp>
      <p:sp>
        <p:nvSpPr>
          <p:cNvPr id="181716488" name="Text 1"/>
          <p:cNvSpPr/>
          <p:nvPr/>
        </p:nvSpPr>
        <p:spPr bwMode="auto"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  <a:endParaRPr lang="en-US" sz="1200"/>
          </a:p>
        </p:txBody>
      </p:sp>
      <p:sp>
        <p:nvSpPr>
          <p:cNvPr id="249755798" name="Text 2"/>
          <p:cNvSpPr/>
          <p:nvPr/>
        </p:nvSpPr>
        <p:spPr bwMode="auto"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  <a:defRPr/>
            </a:pPr>
            <a:r>
              <a:rPr lang="en-US" sz="2800" b="1">
                <a:solidFill>
                  <a:srgbClr val="2D3237"/>
                </a:solidFill>
                <a:latin typeface="Arial Black"/>
                <a:ea typeface="Arial Black"/>
                <a:cs typeface="Arial Black"/>
              </a:rPr>
              <a:t>¿Por </a:t>
            </a:r>
            <a:r>
              <a:rPr lang="en-US" sz="2800" b="1">
                <a:solidFill>
                  <a:srgbClr val="2D3237"/>
                </a:solidFill>
                <a:latin typeface="Arial Black"/>
                <a:ea typeface="Arial Black"/>
                <a:cs typeface="Arial Black"/>
              </a:rPr>
              <a:t>qué</a:t>
            </a:r>
            <a:r>
              <a:rPr lang="en-US" sz="2800" b="1">
                <a:solidFill>
                  <a:srgbClr val="2D3237"/>
                </a:solidFill>
                <a:latin typeface="Arial Black"/>
                <a:ea typeface="Arial Black"/>
                <a:cs typeface="Arial Black"/>
              </a:rPr>
              <a:t> </a:t>
            </a:r>
            <a:r>
              <a:rPr lang="en-US" sz="2800" b="1">
                <a:solidFill>
                  <a:srgbClr val="2D3237"/>
                </a:solidFill>
                <a:latin typeface="Arial Black"/>
                <a:ea typeface="Arial Black"/>
                <a:cs typeface="Arial Black"/>
              </a:rPr>
              <a:t>comparar</a:t>
            </a:r>
            <a:r>
              <a:rPr lang="en-US" sz="2800" b="1">
                <a:solidFill>
                  <a:srgbClr val="2D3237"/>
                </a:solidFill>
                <a:latin typeface="Arial Black"/>
                <a:ea typeface="Arial Black"/>
                <a:cs typeface="Arial Black"/>
              </a:rPr>
              <a:t> </a:t>
            </a:r>
            <a:r>
              <a:rPr lang="en-US" sz="2800" b="1">
                <a:solidFill>
                  <a:srgbClr val="2D3237"/>
                </a:solidFill>
                <a:latin typeface="Arial Black"/>
                <a:ea typeface="Arial Black"/>
                <a:cs typeface="Arial Black"/>
              </a:rPr>
              <a:t>estos</a:t>
            </a:r>
            <a:r>
              <a:rPr lang="en-US" sz="2800" b="1">
                <a:solidFill>
                  <a:srgbClr val="2D3237"/>
                </a:solidFill>
                <a:latin typeface="Arial Black"/>
                <a:ea typeface="Arial Black"/>
                <a:cs typeface="Arial Black"/>
              </a:rPr>
              <a:t> </a:t>
            </a:r>
            <a:r>
              <a:rPr lang="en-US" sz="2800" b="1">
                <a:solidFill>
                  <a:srgbClr val="2D3237"/>
                </a:solidFill>
                <a:latin typeface="Arial Black"/>
                <a:ea typeface="Arial Black"/>
                <a:cs typeface="Arial Black"/>
              </a:rPr>
              <a:t>productos</a:t>
            </a:r>
            <a:r>
              <a:rPr lang="en-US" sz="2800" b="1">
                <a:solidFill>
                  <a:srgbClr val="2D3237"/>
                </a:solidFill>
                <a:latin typeface="Arial Black"/>
                <a:ea typeface="Arial Black"/>
                <a:cs typeface="Arial Black"/>
              </a:rPr>
              <a:t>?</a:t>
            </a:r>
            <a:endParaRPr lang="en-US" sz="2800">
              <a:latin typeface="Arial Black"/>
            </a:endParaRPr>
          </a:p>
        </p:txBody>
      </p:sp>
      <p:sp>
        <p:nvSpPr>
          <p:cNvPr id="1254239168" name="Shape 5"/>
          <p:cNvSpPr/>
          <p:nvPr/>
        </p:nvSpPr>
        <p:spPr bwMode="auto">
          <a:xfrm>
            <a:off x="443753" y="1180652"/>
            <a:ext cx="5303520" cy="320040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54080593" name="Text 6"/>
          <p:cNvSpPr/>
          <p:nvPr/>
        </p:nvSpPr>
        <p:spPr bwMode="auto">
          <a:xfrm>
            <a:off x="626633" y="131781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b="1" spc="2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POSICIONAMIENTO DE MERCADO</a:t>
            </a:r>
            <a:endParaRPr lang="en-US" sz="1000"/>
          </a:p>
        </p:txBody>
      </p:sp>
      <p:sp>
        <p:nvSpPr>
          <p:cNvPr id="1148601708" name="Text 7"/>
          <p:cNvSpPr/>
          <p:nvPr/>
        </p:nvSpPr>
        <p:spPr bwMode="auto">
          <a:xfrm rot="16199999">
            <a:off x="-14791" y="2720341"/>
            <a:ext cx="1461694" cy="2299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RECURSOS DE HARDWARE</a:t>
            </a:r>
            <a:endParaRPr lang="en-US" sz="900"/>
          </a:p>
        </p:txBody>
      </p:sp>
      <p:sp>
        <p:nvSpPr>
          <p:cNvPr id="1499682164" name="Text 8"/>
          <p:cNvSpPr/>
          <p:nvPr/>
        </p:nvSpPr>
        <p:spPr bwMode="auto">
          <a:xfrm>
            <a:off x="2057400" y="4098664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ALCANCE DE USO / ESCALA</a:t>
            </a:r>
            <a:endParaRPr lang="en-US" sz="900"/>
          </a:p>
        </p:txBody>
      </p:sp>
      <p:sp>
        <p:nvSpPr>
          <p:cNvPr id="287214955" name="Shape 9"/>
          <p:cNvSpPr/>
          <p:nvPr/>
        </p:nvSpPr>
        <p:spPr bwMode="auto">
          <a:xfrm>
            <a:off x="1083833" y="1683572"/>
            <a:ext cx="0" cy="2286000"/>
          </a:xfrm>
          <a:prstGeom prst="line">
            <a:avLst/>
          </a:prstGeom>
          <a:noFill/>
          <a:ln w="12700">
            <a:solidFill>
              <a:srgbClr val="4C5155"/>
            </a:solidFill>
            <a:prstDash val="solid"/>
          </a:ln>
        </p:spPr>
      </p:sp>
      <p:sp>
        <p:nvSpPr>
          <p:cNvPr id="91163489" name="Shape 10"/>
          <p:cNvSpPr/>
          <p:nvPr/>
        </p:nvSpPr>
        <p:spPr bwMode="auto">
          <a:xfrm>
            <a:off x="1083833" y="3969572"/>
            <a:ext cx="4206240" cy="0"/>
          </a:xfrm>
          <a:prstGeom prst="line">
            <a:avLst/>
          </a:prstGeom>
          <a:noFill/>
          <a:ln w="12700">
            <a:solidFill>
              <a:srgbClr val="4C5155"/>
            </a:solidFill>
            <a:prstDash val="solid"/>
          </a:ln>
        </p:spPr>
      </p:sp>
      <p:sp>
        <p:nvSpPr>
          <p:cNvPr id="1271667549" name="Text 11"/>
          <p:cNvSpPr/>
          <p:nvPr/>
        </p:nvSpPr>
        <p:spPr bwMode="auto">
          <a:xfrm>
            <a:off x="900953" y="159213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4C5155"/>
                </a:solidFill>
                <a:latin typeface="Arial"/>
                <a:ea typeface="Arial"/>
                <a:cs typeface="Arial"/>
              </a:rPr>
              <a:t>▲</a:t>
            </a:r>
            <a:endParaRPr lang="en-US" sz="800"/>
          </a:p>
        </p:txBody>
      </p:sp>
      <p:sp>
        <p:nvSpPr>
          <p:cNvPr id="14412050" name="Text 12"/>
          <p:cNvSpPr/>
          <p:nvPr/>
        </p:nvSpPr>
        <p:spPr bwMode="auto">
          <a:xfrm>
            <a:off x="5198633" y="3878132"/>
            <a:ext cx="182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4C5155"/>
                </a:solidFill>
                <a:latin typeface="Arial"/>
                <a:ea typeface="Arial"/>
                <a:cs typeface="Arial"/>
              </a:rPr>
              <a:t>►</a:t>
            </a:r>
            <a:endParaRPr lang="en-US" sz="800"/>
          </a:p>
        </p:txBody>
      </p:sp>
      <p:sp>
        <p:nvSpPr>
          <p:cNvPr id="979790550" name="Text 13"/>
          <p:cNvSpPr/>
          <p:nvPr/>
        </p:nvSpPr>
        <p:spPr bwMode="auto">
          <a:xfrm>
            <a:off x="489472" y="172929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Alto</a:t>
            </a:r>
            <a:endParaRPr lang="en-US" sz="800"/>
          </a:p>
        </p:txBody>
      </p:sp>
      <p:sp>
        <p:nvSpPr>
          <p:cNvPr id="785298773" name="Text 14"/>
          <p:cNvSpPr/>
          <p:nvPr/>
        </p:nvSpPr>
        <p:spPr bwMode="auto">
          <a:xfrm>
            <a:off x="489472" y="369525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Bajo</a:t>
            </a:r>
            <a:endParaRPr lang="en-US" sz="800"/>
          </a:p>
        </p:txBody>
      </p:sp>
      <p:sp>
        <p:nvSpPr>
          <p:cNvPr id="1423474836" name="Text 15"/>
          <p:cNvSpPr/>
          <p:nvPr/>
        </p:nvSpPr>
        <p:spPr bwMode="auto">
          <a:xfrm>
            <a:off x="1220993" y="4020133"/>
            <a:ext cx="837751" cy="1963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Pequeño</a:t>
            </a:r>
            <a:endParaRPr lang="en-US" sz="800"/>
          </a:p>
        </p:txBody>
      </p:sp>
      <p:sp>
        <p:nvSpPr>
          <p:cNvPr id="243621120" name="Text 16"/>
          <p:cNvSpPr/>
          <p:nvPr/>
        </p:nvSpPr>
        <p:spPr bwMode="auto">
          <a:xfrm>
            <a:off x="4375673" y="40335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Grande</a:t>
            </a:r>
            <a:endParaRPr lang="en-US" sz="800"/>
          </a:p>
        </p:txBody>
      </p:sp>
      <p:sp>
        <p:nvSpPr>
          <p:cNvPr id="1183271088" name="Shape 17"/>
          <p:cNvSpPr/>
          <p:nvPr/>
        </p:nvSpPr>
        <p:spPr bwMode="auto">
          <a:xfrm>
            <a:off x="1632473" y="3100892"/>
            <a:ext cx="1097280" cy="640080"/>
          </a:xfrm>
          <a:prstGeom prst="ellipse">
            <a:avLst/>
          </a:prstGeom>
          <a:solidFill>
            <a:srgbClr val="0070C5">
              <a:alpha val="80000"/>
            </a:srgbClr>
          </a:solidFill>
          <a:ln w="25400">
            <a:solidFill>
              <a:srgbClr val="0070C5"/>
            </a:solidFill>
            <a:prstDash val="solid"/>
          </a:ln>
        </p:spPr>
      </p:sp>
      <p:sp>
        <p:nvSpPr>
          <p:cNvPr id="155607810" name="Text 18"/>
          <p:cNvSpPr/>
          <p:nvPr/>
        </p:nvSpPr>
        <p:spPr bwMode="auto">
          <a:xfrm>
            <a:off x="1632473" y="3173506"/>
            <a:ext cx="109728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Zephyr OS</a:t>
            </a:r>
            <a:endParaRPr lang="en-US" sz="100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212202716" name="Text 19"/>
          <p:cNvSpPr/>
          <p:nvPr/>
        </p:nvSpPr>
        <p:spPr bwMode="auto">
          <a:xfrm>
            <a:off x="1632473" y="3402106"/>
            <a:ext cx="109728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RTOS</a:t>
            </a:r>
            <a:endParaRPr/>
          </a:p>
        </p:txBody>
      </p:sp>
      <p:sp>
        <p:nvSpPr>
          <p:cNvPr id="1062622606" name="Text 20"/>
          <p:cNvSpPr/>
          <p:nvPr/>
        </p:nvSpPr>
        <p:spPr bwMode="auto">
          <a:xfrm>
            <a:off x="2684033" y="2963732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800">
                <a:solidFill>
                  <a:srgbClr val="0070C5"/>
                </a:solidFill>
                <a:latin typeface="Calibri"/>
                <a:ea typeface="Calibri"/>
                <a:cs typeface="Calibri"/>
              </a:rPr>
              <a:t>IoT</a:t>
            </a:r>
            <a:endParaRPr lang="en-US" sz="800"/>
          </a:p>
          <a:p>
            <a:pPr marL="0" indent="0" algn="l">
              <a:buNone/>
              <a:defRPr/>
            </a:pPr>
            <a:r>
              <a:rPr lang="en-US" sz="800">
                <a:solidFill>
                  <a:srgbClr val="0070C5"/>
                </a:solidFill>
                <a:latin typeface="Calibri"/>
                <a:ea typeface="Calibri"/>
                <a:cs typeface="Calibri"/>
              </a:rPr>
              <a:t>Microcontroladores</a:t>
            </a:r>
            <a:endParaRPr lang="en-US" sz="800"/>
          </a:p>
          <a:p>
            <a:pPr marL="0" indent="0" algn="l">
              <a:buNone/>
              <a:defRPr/>
            </a:pPr>
            <a:r>
              <a:rPr lang="en-US" sz="800">
                <a:solidFill>
                  <a:srgbClr val="0070C5"/>
                </a:solidFill>
                <a:latin typeface="Calibri"/>
                <a:ea typeface="Calibri"/>
                <a:cs typeface="Calibri"/>
              </a:rPr>
              <a:t>Recursos limitados</a:t>
            </a:r>
            <a:endParaRPr lang="en-US" sz="800"/>
          </a:p>
        </p:txBody>
      </p:sp>
      <p:sp>
        <p:nvSpPr>
          <p:cNvPr id="1844996474" name="Shape 21"/>
          <p:cNvSpPr/>
          <p:nvPr/>
        </p:nvSpPr>
        <p:spPr bwMode="auto">
          <a:xfrm>
            <a:off x="3461273" y="2003612"/>
            <a:ext cx="1188720" cy="731520"/>
          </a:xfrm>
          <a:prstGeom prst="ellipse">
            <a:avLst/>
          </a:prstGeom>
          <a:solidFill>
            <a:srgbClr val="4C5155">
              <a:alpha val="80000"/>
            </a:srgbClr>
          </a:solidFill>
          <a:ln w="25400">
            <a:solidFill>
              <a:srgbClr val="4C5155"/>
            </a:solidFill>
            <a:prstDash val="solid"/>
          </a:ln>
        </p:spPr>
      </p:sp>
      <p:sp>
        <p:nvSpPr>
          <p:cNvPr id="428012603" name="Text 22"/>
          <p:cNvSpPr/>
          <p:nvPr/>
        </p:nvSpPr>
        <p:spPr bwMode="auto">
          <a:xfrm>
            <a:off x="3461273" y="2109844"/>
            <a:ext cx="118872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MOSIX</a:t>
            </a:r>
            <a:endParaRPr lang="en-US" sz="100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106804346" name="Text 23"/>
          <p:cNvSpPr/>
          <p:nvPr/>
        </p:nvSpPr>
        <p:spPr bwMode="auto">
          <a:xfrm>
            <a:off x="3461273" y="2338444"/>
            <a:ext cx="118872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Cluster OS</a:t>
            </a:r>
            <a:endParaRPr/>
          </a:p>
        </p:txBody>
      </p:sp>
      <p:sp>
        <p:nvSpPr>
          <p:cNvPr id="174443284" name="Text 24"/>
          <p:cNvSpPr/>
          <p:nvPr/>
        </p:nvSpPr>
        <p:spPr bwMode="auto">
          <a:xfrm>
            <a:off x="4604273" y="1866452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8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HPC</a:t>
            </a:r>
            <a:endParaRPr lang="en-US" sz="800"/>
          </a:p>
          <a:p>
            <a:pPr marL="0" indent="0" algn="l">
              <a:buNone/>
              <a:defRPr/>
            </a:pPr>
            <a:r>
              <a:rPr lang="en-US" sz="8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Clusters</a:t>
            </a:r>
            <a:endParaRPr lang="en-US" sz="800"/>
          </a:p>
          <a:p>
            <a:pPr marL="0" indent="0" algn="l">
              <a:buNone/>
              <a:defRPr/>
            </a:pPr>
            <a:r>
              <a:rPr lang="en-US" sz="8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Investigación</a:t>
            </a:r>
            <a:endParaRPr lang="en-US" sz="800"/>
          </a:p>
        </p:txBody>
      </p:sp>
      <p:sp>
        <p:nvSpPr>
          <p:cNvPr id="1725975749" name="Shape 25"/>
          <p:cNvSpPr/>
          <p:nvPr/>
        </p:nvSpPr>
        <p:spPr bwMode="auto">
          <a:xfrm>
            <a:off x="5930153" y="1180652"/>
            <a:ext cx="27432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97584938" name="Shape 26"/>
          <p:cNvSpPr/>
          <p:nvPr/>
        </p:nvSpPr>
        <p:spPr bwMode="auto">
          <a:xfrm>
            <a:off x="5930153" y="1180652"/>
            <a:ext cx="2743200" cy="320040"/>
          </a:xfrm>
          <a:prstGeom prst="rect">
            <a:avLst/>
          </a:prstGeom>
          <a:solidFill>
            <a:srgbClr val="0070C5"/>
          </a:solidFill>
          <a:ln/>
        </p:spPr>
      </p:sp>
      <p:sp>
        <p:nvSpPr>
          <p:cNvPr id="1888934425" name="Text 27"/>
          <p:cNvSpPr/>
          <p:nvPr/>
        </p:nvSpPr>
        <p:spPr bwMode="auto">
          <a:xfrm>
            <a:off x="5930153" y="118065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ZEPHYR OS</a:t>
            </a:r>
            <a:endParaRPr lang="en-US" sz="1200"/>
          </a:p>
        </p:txBody>
      </p:sp>
      <p:sp>
        <p:nvSpPr>
          <p:cNvPr id="2009437738" name="Text 28"/>
          <p:cNvSpPr/>
          <p:nvPr/>
        </p:nvSpPr>
        <p:spPr bwMode="auto">
          <a:xfrm>
            <a:off x="6021593" y="1592132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  <a:defRPr/>
            </a:pPr>
            <a:r>
              <a:rPr lang="en-US" sz="10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RTOS para IoT embebido</a:t>
            </a:r>
            <a:endParaRPr lang="en-US" sz="1000"/>
          </a:p>
          <a:p>
            <a:pPr marL="342900" indent="-342900" algn="l">
              <a:buSzPct val="100000"/>
              <a:buChar char="•"/>
              <a:defRPr/>
            </a:pPr>
            <a:r>
              <a:rPr lang="en-US" sz="10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Microcontroladores (MCU)</a:t>
            </a:r>
            <a:endParaRPr lang="en-US" sz="1000"/>
          </a:p>
          <a:p>
            <a:pPr marL="342900" indent="-342900" algn="l">
              <a:buSzPct val="100000"/>
              <a:buChar char="•"/>
              <a:defRPr/>
            </a:pPr>
            <a:r>
              <a:rPr lang="en-US" sz="10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~4 KB de footprint</a:t>
            </a:r>
            <a:endParaRPr lang="en-US" sz="1000"/>
          </a:p>
          <a:p>
            <a:pPr marL="342900" indent="-342900" algn="l">
              <a:buSzPct val="100000"/>
              <a:buChar char="•"/>
              <a:defRPr/>
            </a:pPr>
            <a:r>
              <a:rPr lang="en-US" sz="10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Multi-arquitectura (ARM, RISC-V...)</a:t>
            </a:r>
            <a:endParaRPr lang="en-US" sz="1000"/>
          </a:p>
        </p:txBody>
      </p:sp>
      <p:sp>
        <p:nvSpPr>
          <p:cNvPr id="694767410" name="Shape 29"/>
          <p:cNvSpPr/>
          <p:nvPr/>
        </p:nvSpPr>
        <p:spPr bwMode="auto">
          <a:xfrm>
            <a:off x="5930153" y="2689412"/>
            <a:ext cx="27432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98174680" name="Shape 30"/>
          <p:cNvSpPr/>
          <p:nvPr/>
        </p:nvSpPr>
        <p:spPr bwMode="auto">
          <a:xfrm>
            <a:off x="5930153" y="2689412"/>
            <a:ext cx="2743200" cy="320040"/>
          </a:xfrm>
          <a:prstGeom prst="rect">
            <a:avLst/>
          </a:prstGeom>
          <a:solidFill>
            <a:srgbClr val="4C5155"/>
          </a:solidFill>
          <a:ln/>
        </p:spPr>
      </p:sp>
      <p:sp>
        <p:nvSpPr>
          <p:cNvPr id="1052172000" name="Text 31"/>
          <p:cNvSpPr/>
          <p:nvPr/>
        </p:nvSpPr>
        <p:spPr bwMode="auto">
          <a:xfrm>
            <a:off x="5930153" y="26894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MOSIX</a:t>
            </a:r>
            <a:endParaRPr lang="en-US" sz="1200"/>
          </a:p>
        </p:txBody>
      </p:sp>
      <p:sp>
        <p:nvSpPr>
          <p:cNvPr id="1632744144" name="Text 32"/>
          <p:cNvSpPr/>
          <p:nvPr/>
        </p:nvSpPr>
        <p:spPr bwMode="auto">
          <a:xfrm>
            <a:off x="6021593" y="3100892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  <a:defRPr/>
            </a:pPr>
            <a:r>
              <a:rPr lang="en-US" sz="10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Sistema operativo de cluster</a:t>
            </a:r>
            <a:endParaRPr lang="en-US" sz="1000"/>
          </a:p>
          <a:p>
            <a:pPr marL="342900" indent="-342900" algn="l">
              <a:buSzPct val="100000"/>
              <a:buChar char="•"/>
              <a:defRPr/>
            </a:pPr>
            <a:r>
              <a:rPr lang="en-US" sz="10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HPC / Investigación científica</a:t>
            </a:r>
            <a:endParaRPr lang="en-US" sz="1000"/>
          </a:p>
          <a:p>
            <a:pPr marL="342900" indent="-342900" algn="l">
              <a:buSzPct val="100000"/>
              <a:buChar char="•"/>
              <a:defRPr/>
            </a:pPr>
            <a:r>
              <a:rPr lang="en-US" sz="10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Single System Image (SSI)</a:t>
            </a:r>
            <a:endParaRPr lang="en-US" sz="1000"/>
          </a:p>
          <a:p>
            <a:pPr marL="342900" indent="-342900" algn="l">
              <a:buSzPct val="100000"/>
              <a:buChar char="•"/>
              <a:defRPr/>
            </a:pPr>
            <a:r>
              <a:rPr lang="en-US" sz="10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Inactivo desde 2017</a:t>
            </a:r>
            <a:endParaRPr lang="en-US" sz="1000"/>
          </a:p>
        </p:txBody>
      </p:sp>
      <p:sp>
        <p:nvSpPr>
          <p:cNvPr id="929659379" name="Shape 33"/>
          <p:cNvSpPr/>
          <p:nvPr/>
        </p:nvSpPr>
        <p:spPr bwMode="auto">
          <a:xfrm>
            <a:off x="457200" y="4663440"/>
            <a:ext cx="7772400" cy="27432"/>
          </a:xfrm>
          <a:prstGeom prst="rect">
            <a:avLst/>
          </a:prstGeom>
          <a:solidFill>
            <a:srgbClr val="D1D3D5"/>
          </a:solidFill>
          <a:ln/>
        </p:spPr>
      </p:sp>
      <p:sp>
        <p:nvSpPr>
          <p:cNvPr id="2094081394" name="Text 34"/>
          <p:cNvSpPr/>
          <p:nvPr/>
        </p:nvSpPr>
        <p:spPr bwMode="auto">
          <a:xfrm>
            <a:off x="457200" y="473659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00" i="1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Categorías de producto completamente distintas — comparación académica para evaluar decisiones de diseño de SO según el dominio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">
    <p:bg>
      <p:bgPr shadeToTitle="0">
        <a:solidFill>
          <a:srgbClr val="F6F7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6986271" name="Shape 0"/>
          <p:cNvSpPr/>
          <p:nvPr/>
        </p:nvSpPr>
        <p:spPr bwMode="auto">
          <a:xfrm>
            <a:off x="8503920" y="4663440"/>
            <a:ext cx="365760" cy="365760"/>
          </a:xfrm>
          <a:prstGeom prst="ellipse">
            <a:avLst/>
          </a:prstGeom>
          <a:solidFill>
            <a:srgbClr val="0070C5"/>
          </a:solidFill>
          <a:ln/>
        </p:spPr>
      </p:sp>
      <p:sp>
        <p:nvSpPr>
          <p:cNvPr id="1419435185" name="Text 1"/>
          <p:cNvSpPr/>
          <p:nvPr/>
        </p:nvSpPr>
        <p:spPr bwMode="auto"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  <a:endParaRPr lang="en-US" sz="1200"/>
          </a:p>
        </p:txBody>
      </p:sp>
      <p:sp>
        <p:nvSpPr>
          <p:cNvPr id="728708688" name="Text 2"/>
          <p:cNvSpPr/>
          <p:nvPr/>
        </p:nvSpPr>
        <p:spPr bwMode="auto">
          <a:xfrm>
            <a:off x="457200" y="2743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2800" b="1">
                <a:solidFill>
                  <a:srgbClr val="2D3237"/>
                </a:solidFill>
                <a:latin typeface="Arial Black"/>
                <a:ea typeface="Arial Black"/>
                <a:cs typeface="Arial Black"/>
              </a:rPr>
              <a:t>Zephyr OS — La Empresa</a:t>
            </a:r>
            <a:endParaRPr lang="en-US" sz="2800"/>
          </a:p>
        </p:txBody>
      </p:sp>
      <p:sp>
        <p:nvSpPr>
          <p:cNvPr id="1472829803" name="Text 3"/>
          <p:cNvSpPr/>
          <p:nvPr/>
        </p:nvSpPr>
        <p:spPr bwMode="auto">
          <a:xfrm>
            <a:off x="457200" y="777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300" i="1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Historia, gobernanza y miembros</a:t>
            </a:r>
            <a:endParaRPr lang="en-US" sz="1300"/>
          </a:p>
        </p:txBody>
      </p:sp>
      <p:sp>
        <p:nvSpPr>
          <p:cNvPr id="1212116966" name="Shape 4"/>
          <p:cNvSpPr/>
          <p:nvPr/>
        </p:nvSpPr>
        <p:spPr bwMode="auto">
          <a:xfrm>
            <a:off x="457200" y="1188720"/>
            <a:ext cx="5029200" cy="333756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7396298" name="Shape 5"/>
          <p:cNvSpPr/>
          <p:nvPr/>
        </p:nvSpPr>
        <p:spPr bwMode="auto">
          <a:xfrm>
            <a:off x="457200" y="1188720"/>
            <a:ext cx="5029200" cy="320040"/>
          </a:xfrm>
          <a:prstGeom prst="rect">
            <a:avLst/>
          </a:prstGeom>
          <a:solidFill>
            <a:srgbClr val="0070C5"/>
          </a:solidFill>
          <a:ln/>
        </p:spPr>
      </p:sp>
      <p:sp>
        <p:nvSpPr>
          <p:cNvPr id="1245207299" name="Text 6"/>
          <p:cNvSpPr/>
          <p:nvPr/>
        </p:nvSpPr>
        <p:spPr bwMode="auto">
          <a:xfrm>
            <a:off x="457200" y="11887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 spc="200">
                <a:solidFill>
                  <a:srgbClr val="FFFFFF"/>
                </a:solidFill>
                <a:latin typeface="Arial"/>
                <a:ea typeface="Arial"/>
                <a:cs typeface="Arial"/>
              </a:rPr>
              <a:t>LÍNEA DE TIEMPO</a:t>
            </a:r>
            <a:endParaRPr lang="en-US" sz="1100"/>
          </a:p>
        </p:txBody>
      </p:sp>
      <p:sp>
        <p:nvSpPr>
          <p:cNvPr id="2100499265" name="Shape 7"/>
          <p:cNvSpPr/>
          <p:nvPr/>
        </p:nvSpPr>
        <p:spPr bwMode="auto">
          <a:xfrm>
            <a:off x="1188720" y="1691640"/>
            <a:ext cx="0" cy="2743200"/>
          </a:xfrm>
          <a:prstGeom prst="line">
            <a:avLst/>
          </a:prstGeom>
          <a:noFill/>
          <a:ln w="25400">
            <a:solidFill>
              <a:srgbClr val="0070C5"/>
            </a:solidFill>
            <a:prstDash val="solid"/>
          </a:ln>
        </p:spPr>
      </p:sp>
      <p:sp>
        <p:nvSpPr>
          <p:cNvPr id="229686365" name="Shape 8"/>
          <p:cNvSpPr/>
          <p:nvPr/>
        </p:nvSpPr>
        <p:spPr bwMode="auto">
          <a:xfrm>
            <a:off x="1097280" y="1764792"/>
            <a:ext cx="182880" cy="182880"/>
          </a:xfrm>
          <a:prstGeom prst="ellipse">
            <a:avLst/>
          </a:prstGeom>
          <a:solidFill>
            <a:srgbClr val="0070C5"/>
          </a:solidFill>
          <a:ln/>
        </p:spPr>
      </p:sp>
      <p:sp>
        <p:nvSpPr>
          <p:cNvPr id="789148325" name="Text 9"/>
          <p:cNvSpPr/>
          <p:nvPr/>
        </p:nvSpPr>
        <p:spPr bwMode="auto">
          <a:xfrm>
            <a:off x="457200" y="169164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900" b="1">
                <a:solidFill>
                  <a:srgbClr val="0070C5"/>
                </a:solidFill>
                <a:latin typeface="Arial"/>
                <a:ea typeface="Arial"/>
                <a:cs typeface="Arial"/>
              </a:rPr>
              <a:t>Finales '90</a:t>
            </a:r>
            <a:endParaRPr lang="en-US" sz="900"/>
          </a:p>
        </p:txBody>
      </p:sp>
      <p:sp>
        <p:nvSpPr>
          <p:cNvPr id="849114138" name="Text 10"/>
          <p:cNvSpPr/>
          <p:nvPr/>
        </p:nvSpPr>
        <p:spPr bwMode="auto">
          <a:xfrm>
            <a:off x="1417320" y="16916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Eonic Systems (Bélgica) desarrolla Virtuoso RTOS para DSPs</a:t>
            </a:r>
            <a:endParaRPr lang="en-US" sz="900"/>
          </a:p>
        </p:txBody>
      </p:sp>
      <p:sp>
        <p:nvSpPr>
          <p:cNvPr id="1890051070" name="Shape 11"/>
          <p:cNvSpPr/>
          <p:nvPr/>
        </p:nvSpPr>
        <p:spPr bwMode="auto">
          <a:xfrm>
            <a:off x="1097280" y="2295144"/>
            <a:ext cx="182880" cy="182880"/>
          </a:xfrm>
          <a:prstGeom prst="ellipse">
            <a:avLst/>
          </a:prstGeom>
          <a:solidFill>
            <a:srgbClr val="0070C5"/>
          </a:solidFill>
          <a:ln/>
        </p:spPr>
      </p:sp>
      <p:sp>
        <p:nvSpPr>
          <p:cNvPr id="1069483855" name="Text 12"/>
          <p:cNvSpPr/>
          <p:nvPr/>
        </p:nvSpPr>
        <p:spPr bwMode="auto">
          <a:xfrm>
            <a:off x="457200" y="2221992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900" b="1">
                <a:solidFill>
                  <a:srgbClr val="0070C5"/>
                </a:solidFill>
                <a:latin typeface="Arial"/>
                <a:ea typeface="Arial"/>
                <a:cs typeface="Arial"/>
              </a:rPr>
              <a:t>2001</a:t>
            </a:r>
            <a:endParaRPr lang="en-US" sz="900"/>
          </a:p>
        </p:txBody>
      </p:sp>
      <p:sp>
        <p:nvSpPr>
          <p:cNvPr id="1355635456" name="Text 13"/>
          <p:cNvSpPr/>
          <p:nvPr/>
        </p:nvSpPr>
        <p:spPr bwMode="auto">
          <a:xfrm>
            <a:off x="1417320" y="222199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Wind River adquiere Eonic Systems → Virtuoso pasa a ser de Wind River</a:t>
            </a:r>
            <a:endParaRPr lang="en-US" sz="900"/>
          </a:p>
        </p:txBody>
      </p:sp>
      <p:sp>
        <p:nvSpPr>
          <p:cNvPr id="473718610" name="Shape 14"/>
          <p:cNvSpPr/>
          <p:nvPr/>
        </p:nvSpPr>
        <p:spPr bwMode="auto">
          <a:xfrm>
            <a:off x="1097280" y="2825496"/>
            <a:ext cx="182880" cy="182880"/>
          </a:xfrm>
          <a:prstGeom prst="ellipse">
            <a:avLst/>
          </a:prstGeom>
          <a:solidFill>
            <a:srgbClr val="0070C5"/>
          </a:solidFill>
          <a:ln/>
        </p:spPr>
      </p:sp>
      <p:sp>
        <p:nvSpPr>
          <p:cNvPr id="624984224" name="Text 15"/>
          <p:cNvSpPr/>
          <p:nvPr/>
        </p:nvSpPr>
        <p:spPr bwMode="auto">
          <a:xfrm>
            <a:off x="457200" y="2752343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900" b="1">
                <a:solidFill>
                  <a:srgbClr val="0070C5"/>
                </a:solidFill>
                <a:latin typeface="Arial"/>
                <a:ea typeface="Arial"/>
                <a:cs typeface="Arial"/>
              </a:rPr>
              <a:t>Nov 2015</a:t>
            </a:r>
            <a:endParaRPr lang="en-US" sz="900"/>
          </a:p>
        </p:txBody>
      </p:sp>
      <p:sp>
        <p:nvSpPr>
          <p:cNvPr id="1011939728" name="Text 16"/>
          <p:cNvSpPr/>
          <p:nvPr/>
        </p:nvSpPr>
        <p:spPr bwMode="auto">
          <a:xfrm>
            <a:off x="1417320" y="2752343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Wind River abre código de Virtuoso → Rocket RTOS (libre de regalías, ~4 KB)</a:t>
            </a:r>
            <a:endParaRPr lang="en-US" sz="900"/>
          </a:p>
        </p:txBody>
      </p:sp>
      <p:sp>
        <p:nvSpPr>
          <p:cNvPr id="808734690" name="Shape 17"/>
          <p:cNvSpPr/>
          <p:nvPr/>
        </p:nvSpPr>
        <p:spPr bwMode="auto">
          <a:xfrm>
            <a:off x="1097280" y="3355848"/>
            <a:ext cx="182880" cy="182880"/>
          </a:xfrm>
          <a:prstGeom prst="ellipse">
            <a:avLst/>
          </a:prstGeom>
          <a:solidFill>
            <a:srgbClr val="0070C5"/>
          </a:solidFill>
          <a:ln/>
        </p:spPr>
      </p:sp>
      <p:sp>
        <p:nvSpPr>
          <p:cNvPr id="1773138346" name="Text 18"/>
          <p:cNvSpPr/>
          <p:nvPr/>
        </p:nvSpPr>
        <p:spPr bwMode="auto">
          <a:xfrm>
            <a:off x="457200" y="3282696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900" b="1">
                <a:solidFill>
                  <a:srgbClr val="0070C5"/>
                </a:solidFill>
                <a:latin typeface="Arial"/>
                <a:ea typeface="Arial"/>
                <a:cs typeface="Arial"/>
              </a:rPr>
              <a:t>Feb 2016</a:t>
            </a:r>
            <a:endParaRPr lang="en-US" sz="900"/>
          </a:p>
        </p:txBody>
      </p:sp>
      <p:sp>
        <p:nvSpPr>
          <p:cNvPr id="940597759" name="Text 19"/>
          <p:cNvSpPr/>
          <p:nvPr/>
        </p:nvSpPr>
        <p:spPr bwMode="auto">
          <a:xfrm>
            <a:off x="1417320" y="328269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Wind River dona kernel de Rocket a Linux Foundation → nace Zephyr Project</a:t>
            </a:r>
            <a:endParaRPr lang="en-US" sz="900"/>
          </a:p>
        </p:txBody>
      </p:sp>
      <p:sp>
        <p:nvSpPr>
          <p:cNvPr id="535419703" name="Shape 20"/>
          <p:cNvSpPr/>
          <p:nvPr/>
        </p:nvSpPr>
        <p:spPr bwMode="auto">
          <a:xfrm>
            <a:off x="1097280" y="3886200"/>
            <a:ext cx="182880" cy="182880"/>
          </a:xfrm>
          <a:prstGeom prst="ellipse">
            <a:avLst/>
          </a:prstGeom>
          <a:solidFill>
            <a:srgbClr val="0070C5"/>
          </a:solidFill>
          <a:ln/>
        </p:spPr>
      </p:sp>
      <p:sp>
        <p:nvSpPr>
          <p:cNvPr id="1502210204" name="Text 21"/>
          <p:cNvSpPr/>
          <p:nvPr/>
        </p:nvSpPr>
        <p:spPr bwMode="auto">
          <a:xfrm>
            <a:off x="457200" y="3813048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900" b="1">
                <a:solidFill>
                  <a:srgbClr val="0070C5"/>
                </a:solidFill>
                <a:latin typeface="Arial"/>
                <a:ea typeface="Arial"/>
                <a:cs typeface="Arial"/>
              </a:rPr>
              <a:t>2016-2026</a:t>
            </a:r>
            <a:endParaRPr lang="en-US" sz="900"/>
          </a:p>
        </p:txBody>
      </p:sp>
      <p:sp>
        <p:nvSpPr>
          <p:cNvPr id="1409430005" name="Text 22"/>
          <p:cNvSpPr/>
          <p:nvPr/>
        </p:nvSpPr>
        <p:spPr bwMode="auto">
          <a:xfrm>
            <a:off x="1417320" y="3813048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Crecimiento: 3,000+ contribuyentes, 1,000+ boards, 10 años</a:t>
            </a:r>
            <a:endParaRPr lang="en-US" sz="900"/>
          </a:p>
        </p:txBody>
      </p:sp>
      <p:sp>
        <p:nvSpPr>
          <p:cNvPr id="987010832" name="Shape 23"/>
          <p:cNvSpPr/>
          <p:nvPr/>
        </p:nvSpPr>
        <p:spPr bwMode="auto">
          <a:xfrm>
            <a:off x="5623560" y="1188720"/>
            <a:ext cx="306324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34758605" name="Shape 24"/>
          <p:cNvSpPr/>
          <p:nvPr/>
        </p:nvSpPr>
        <p:spPr bwMode="auto">
          <a:xfrm>
            <a:off x="5623560" y="1188720"/>
            <a:ext cx="3063240" cy="274320"/>
          </a:xfrm>
          <a:prstGeom prst="rect">
            <a:avLst/>
          </a:prstGeom>
          <a:solidFill>
            <a:srgbClr val="0070C5"/>
          </a:solidFill>
          <a:ln/>
        </p:spPr>
      </p:sp>
      <p:sp>
        <p:nvSpPr>
          <p:cNvPr id="373382539" name="Text 25"/>
          <p:cNvSpPr/>
          <p:nvPr/>
        </p:nvSpPr>
        <p:spPr bwMode="auto">
          <a:xfrm>
            <a:off x="5623560" y="11887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b="1" spc="200">
                <a:solidFill>
                  <a:srgbClr val="FFFFFF"/>
                </a:solidFill>
                <a:latin typeface="Arial"/>
                <a:ea typeface="Arial"/>
                <a:cs typeface="Arial"/>
              </a:rPr>
              <a:t>MIEMBROS</a:t>
            </a:r>
            <a:endParaRPr lang="en-US" sz="1000"/>
          </a:p>
        </p:txBody>
      </p:sp>
      <p:sp>
        <p:nvSpPr>
          <p:cNvPr id="1880887528" name="Text 26"/>
          <p:cNvSpPr/>
          <p:nvPr/>
        </p:nvSpPr>
        <p:spPr bwMode="auto">
          <a:xfrm>
            <a:off x="5715000" y="1554480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 b="1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Founding Members (2016):</a:t>
            </a:r>
            <a:endParaRPr lang="en-US" sz="900"/>
          </a:p>
        </p:txBody>
      </p:sp>
      <p:sp>
        <p:nvSpPr>
          <p:cNvPr id="1810635361" name="Text 27"/>
          <p:cNvSpPr/>
          <p:nvPr/>
        </p:nvSpPr>
        <p:spPr bwMode="auto">
          <a:xfrm>
            <a:off x="5715000" y="1737360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Intel, Wind River, Synopsys, NXP</a:t>
            </a:r>
            <a:endParaRPr lang="en-US" sz="900"/>
          </a:p>
        </p:txBody>
      </p:sp>
      <p:sp>
        <p:nvSpPr>
          <p:cNvPr id="1331943123" name="Text 28"/>
          <p:cNvSpPr/>
          <p:nvPr/>
        </p:nvSpPr>
        <p:spPr bwMode="auto">
          <a:xfrm>
            <a:off x="5715000" y="2011680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 b="1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Platinum (2025):</a:t>
            </a:r>
            <a:endParaRPr lang="en-US" sz="900"/>
          </a:p>
        </p:txBody>
      </p:sp>
      <p:sp>
        <p:nvSpPr>
          <p:cNvPr id="1427722940" name="Text 29"/>
          <p:cNvSpPr/>
          <p:nvPr/>
        </p:nvSpPr>
        <p:spPr bwMode="auto">
          <a:xfrm>
            <a:off x="5715000" y="2194560"/>
            <a:ext cx="2880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Renesas, Wind River, Intel</a:t>
            </a:r>
            <a:endParaRPr lang="en-US" sz="900"/>
          </a:p>
        </p:txBody>
      </p:sp>
      <p:sp>
        <p:nvSpPr>
          <p:cNvPr id="1060354281" name="Text 30"/>
          <p:cNvSpPr/>
          <p:nvPr/>
        </p:nvSpPr>
        <p:spPr bwMode="auto">
          <a:xfrm>
            <a:off x="5715000" y="2468880"/>
            <a:ext cx="2880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 b="1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Silver:</a:t>
            </a:r>
            <a:endParaRPr lang="en-US" sz="900"/>
          </a:p>
        </p:txBody>
      </p:sp>
      <p:sp>
        <p:nvSpPr>
          <p:cNvPr id="1858761079" name="Text 31"/>
          <p:cNvSpPr/>
          <p:nvPr/>
        </p:nvSpPr>
        <p:spPr bwMode="auto">
          <a:xfrm>
            <a:off x="5715000" y="2606040"/>
            <a:ext cx="2880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8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Nordic, Google, Meta, ST, TI, Qualcomm, Arduino, Canonical...</a:t>
            </a:r>
            <a:endParaRPr lang="en-US" sz="800"/>
          </a:p>
        </p:txBody>
      </p:sp>
      <p:sp>
        <p:nvSpPr>
          <p:cNvPr id="819861486" name="Text 34"/>
          <p:cNvSpPr/>
          <p:nvPr/>
        </p:nvSpPr>
        <p:spPr bwMode="auto">
          <a:xfrm>
            <a:off x="457200" y="46634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endParaRPr lang="en-US" sz="900"/>
          </a:p>
        </p:txBody>
      </p:sp>
      <p:pic>
        <p:nvPicPr>
          <p:cNvPr id="275996944" name="Imagen 36" descr="Texto, Logotipo&#10;&#10;El contenido generado por IA puede ser incorrecto.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715000" y="3244314"/>
            <a:ext cx="2877670" cy="10013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4">
    <p:bg>
      <p:bgPr shadeToTitle="0">
        <a:solidFill>
          <a:srgbClr val="F6F7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0089070" name="Shape 0"/>
          <p:cNvSpPr/>
          <p:nvPr/>
        </p:nvSpPr>
        <p:spPr bwMode="auto">
          <a:xfrm>
            <a:off x="8503920" y="4663440"/>
            <a:ext cx="365760" cy="365760"/>
          </a:xfrm>
          <a:prstGeom prst="ellipse">
            <a:avLst/>
          </a:prstGeom>
          <a:solidFill>
            <a:srgbClr val="0070C5"/>
          </a:solidFill>
          <a:ln/>
        </p:spPr>
      </p:sp>
      <p:sp>
        <p:nvSpPr>
          <p:cNvPr id="606310193" name="Text 1"/>
          <p:cNvSpPr/>
          <p:nvPr/>
        </p:nvSpPr>
        <p:spPr bwMode="auto"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  <a:endParaRPr lang="en-US" sz="1200"/>
          </a:p>
        </p:txBody>
      </p:sp>
      <p:sp>
        <p:nvSpPr>
          <p:cNvPr id="436460274" name="Text 2"/>
          <p:cNvSpPr/>
          <p:nvPr/>
        </p:nvSpPr>
        <p:spPr bwMode="auto">
          <a:xfrm>
            <a:off x="457200" y="274320"/>
            <a:ext cx="8169088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  <a:defRPr/>
            </a:pPr>
            <a:r>
              <a:rPr lang="en-US" sz="2800" b="1">
                <a:solidFill>
                  <a:srgbClr val="2D3237"/>
                </a:solidFill>
                <a:latin typeface="Arial Black"/>
                <a:ea typeface="Arial Black"/>
                <a:cs typeface="Arial Black"/>
              </a:rPr>
              <a:t>Zephyr OS — </a:t>
            </a:r>
            <a:r>
              <a:rPr lang="en-US" sz="2800" b="1">
                <a:solidFill>
                  <a:srgbClr val="2D3237"/>
                </a:solidFill>
                <a:latin typeface="Arial Black"/>
                <a:ea typeface="Arial Black"/>
                <a:cs typeface="Arial Black"/>
              </a:rPr>
              <a:t>Segmento</a:t>
            </a:r>
            <a:r>
              <a:rPr lang="en-US" sz="2800" b="1">
                <a:solidFill>
                  <a:srgbClr val="2D3237"/>
                </a:solidFill>
                <a:latin typeface="Arial Black"/>
                <a:ea typeface="Arial Black"/>
                <a:cs typeface="Arial Black"/>
              </a:rPr>
              <a:t> de Mercado</a:t>
            </a:r>
            <a:endParaRPr lang="en-US" sz="2800">
              <a:latin typeface="Arial Black"/>
            </a:endParaRPr>
          </a:p>
        </p:txBody>
      </p:sp>
      <p:sp>
        <p:nvSpPr>
          <p:cNvPr id="978448710" name="Text 3"/>
          <p:cNvSpPr/>
          <p:nvPr/>
        </p:nvSpPr>
        <p:spPr bwMode="auto">
          <a:xfrm>
            <a:off x="457200" y="7772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300" i="1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Aplicaciones comerciales y adopción global</a:t>
            </a:r>
            <a:endParaRPr lang="en-US" sz="1300"/>
          </a:p>
        </p:txBody>
      </p:sp>
      <p:sp>
        <p:nvSpPr>
          <p:cNvPr id="1451521046" name="Shape 4"/>
          <p:cNvSpPr/>
          <p:nvPr/>
        </p:nvSpPr>
        <p:spPr bwMode="auto">
          <a:xfrm>
            <a:off x="457200" y="1188720"/>
            <a:ext cx="393192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95850906" name="Shape 5"/>
          <p:cNvSpPr/>
          <p:nvPr/>
        </p:nvSpPr>
        <p:spPr bwMode="auto">
          <a:xfrm>
            <a:off x="457200" y="1188720"/>
            <a:ext cx="3931920" cy="320040"/>
          </a:xfrm>
          <a:prstGeom prst="rect">
            <a:avLst/>
          </a:prstGeom>
          <a:solidFill>
            <a:srgbClr val="0070C5"/>
          </a:solidFill>
          <a:ln/>
        </p:spPr>
      </p:sp>
      <p:sp>
        <p:nvSpPr>
          <p:cNvPr id="328662101" name="Text 6"/>
          <p:cNvSpPr/>
          <p:nvPr/>
        </p:nvSpPr>
        <p:spPr bwMode="auto">
          <a:xfrm>
            <a:off x="457200" y="11887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b="1" spc="200">
                <a:solidFill>
                  <a:srgbClr val="FFFFFF"/>
                </a:solidFill>
                <a:latin typeface="Arial"/>
                <a:ea typeface="Arial"/>
                <a:cs typeface="Arial"/>
              </a:rPr>
              <a:t>SEGMENTOS DE MERCADO</a:t>
            </a:r>
            <a:endParaRPr lang="en-US" sz="1000"/>
          </a:p>
        </p:txBody>
      </p:sp>
      <p:sp>
        <p:nvSpPr>
          <p:cNvPr id="706687524" name="Text 7"/>
          <p:cNvSpPr/>
          <p:nvPr/>
        </p:nvSpPr>
        <p:spPr bwMode="auto">
          <a:xfrm>
            <a:off x="640080" y="16002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IoT — sensores, dispositivos conectados de bajo consumo</a:t>
            </a:r>
            <a:endParaRPr lang="en-US" sz="1000"/>
          </a:p>
        </p:txBody>
      </p:sp>
      <p:sp>
        <p:nvSpPr>
          <p:cNvPr id="1669316255" name="Text 8"/>
          <p:cNvSpPr/>
          <p:nvPr/>
        </p:nvSpPr>
        <p:spPr bwMode="auto">
          <a:xfrm>
            <a:off x="640080" y="185623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Sistemas embebidos — microcontroladores (MCUs)</a:t>
            </a:r>
            <a:endParaRPr lang="en-US" sz="1000"/>
          </a:p>
        </p:txBody>
      </p:sp>
      <p:sp>
        <p:nvSpPr>
          <p:cNvPr id="2072400644" name="Text 9"/>
          <p:cNvSpPr/>
          <p:nvPr/>
        </p:nvSpPr>
        <p:spPr bwMode="auto">
          <a:xfrm>
            <a:off x="640080" y="2112264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Wearables — smartwatches, audífonos avanzados</a:t>
            </a:r>
            <a:endParaRPr lang="en-US" sz="1000"/>
          </a:p>
        </p:txBody>
      </p:sp>
      <p:sp>
        <p:nvSpPr>
          <p:cNvPr id="1547993828" name="Text 10"/>
          <p:cNvSpPr/>
          <p:nvPr/>
        </p:nvSpPr>
        <p:spPr bwMode="auto">
          <a:xfrm>
            <a:off x="640080" y="236829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Industrial — controladoras, automatización</a:t>
            </a:r>
            <a:endParaRPr lang="en-US" sz="1000"/>
          </a:p>
        </p:txBody>
      </p:sp>
      <p:sp>
        <p:nvSpPr>
          <p:cNvPr id="949909426" name="Text 11"/>
          <p:cNvSpPr/>
          <p:nvPr/>
        </p:nvSpPr>
        <p:spPr bwMode="auto">
          <a:xfrm>
            <a:off x="640080" y="262432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Dispositivos médicos — ECG, monitores</a:t>
            </a:r>
            <a:endParaRPr lang="en-US" sz="1000"/>
          </a:p>
        </p:txBody>
      </p:sp>
      <p:sp>
        <p:nvSpPr>
          <p:cNvPr id="215205175" name="Text 12"/>
          <p:cNvSpPr/>
          <p:nvPr/>
        </p:nvSpPr>
        <p:spPr bwMode="auto">
          <a:xfrm>
            <a:off x="640080" y="28803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Transporte — scooters, cerraduras BLE, GPS trackers</a:t>
            </a:r>
            <a:endParaRPr lang="en-US" sz="1000"/>
          </a:p>
        </p:txBody>
      </p:sp>
      <p:sp>
        <p:nvSpPr>
          <p:cNvPr id="7397065" name="Text 13"/>
          <p:cNvSpPr/>
          <p:nvPr/>
        </p:nvSpPr>
        <p:spPr bwMode="auto">
          <a:xfrm>
            <a:off x="640080" y="313639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Sostenibilidad — turbinas eólicas (Vestas), paneles solares</a:t>
            </a:r>
            <a:endParaRPr lang="en-US" sz="1000"/>
          </a:p>
        </p:txBody>
      </p:sp>
      <p:sp>
        <p:nvSpPr>
          <p:cNvPr id="734603746" name="Shape 14"/>
          <p:cNvSpPr/>
          <p:nvPr/>
        </p:nvSpPr>
        <p:spPr bwMode="auto">
          <a:xfrm>
            <a:off x="4572000" y="1188720"/>
            <a:ext cx="411480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78901779" name="Shape 15"/>
          <p:cNvSpPr/>
          <p:nvPr/>
        </p:nvSpPr>
        <p:spPr bwMode="auto">
          <a:xfrm>
            <a:off x="4572000" y="1188720"/>
            <a:ext cx="4114800" cy="320040"/>
          </a:xfrm>
          <a:prstGeom prst="rect">
            <a:avLst/>
          </a:prstGeom>
          <a:solidFill>
            <a:srgbClr val="0070C5"/>
          </a:solidFill>
          <a:ln/>
        </p:spPr>
      </p:sp>
      <p:sp>
        <p:nvSpPr>
          <p:cNvPr id="2001869325" name="Text 16"/>
          <p:cNvSpPr/>
          <p:nvPr/>
        </p:nvSpPr>
        <p:spPr bwMode="auto">
          <a:xfrm>
            <a:off x="4572000" y="1188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b="1" spc="200">
                <a:solidFill>
                  <a:srgbClr val="FFFFFF"/>
                </a:solidFill>
                <a:latin typeface="Arial"/>
                <a:ea typeface="Arial"/>
                <a:cs typeface="Arial"/>
              </a:rPr>
              <a:t>ADOPCIÓN GLOBAL (2026)</a:t>
            </a:r>
            <a:endParaRPr lang="en-US" sz="1000"/>
          </a:p>
        </p:txBody>
      </p:sp>
      <p:sp>
        <p:nvSpPr>
          <p:cNvPr id="808497550" name="Text 17"/>
          <p:cNvSpPr/>
          <p:nvPr/>
        </p:nvSpPr>
        <p:spPr bwMode="auto">
          <a:xfrm>
            <a:off x="4709160" y="16459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400" b="1">
                <a:solidFill>
                  <a:srgbClr val="0070C5"/>
                </a:solidFill>
                <a:latin typeface="Arial"/>
                <a:ea typeface="Arial"/>
                <a:cs typeface="Arial"/>
              </a:rPr>
              <a:t>70%</a:t>
            </a:r>
            <a:endParaRPr lang="en-US" sz="1400"/>
          </a:p>
        </p:txBody>
      </p:sp>
      <p:sp>
        <p:nvSpPr>
          <p:cNvPr id="969984262" name="Text 18"/>
          <p:cNvSpPr/>
          <p:nvPr/>
        </p:nvSpPr>
        <p:spPr bwMode="auto">
          <a:xfrm>
            <a:off x="5577840" y="16459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Organizaciones en Norteamérica usan Zephyr</a:t>
            </a:r>
            <a:endParaRPr lang="en-US" sz="900"/>
          </a:p>
        </p:txBody>
      </p:sp>
      <p:sp>
        <p:nvSpPr>
          <p:cNvPr id="1776393700" name="Text 19"/>
          <p:cNvSpPr/>
          <p:nvPr/>
        </p:nvSpPr>
        <p:spPr bwMode="auto">
          <a:xfrm>
            <a:off x="4709160" y="199339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400" b="1">
                <a:solidFill>
                  <a:srgbClr val="0070C5"/>
                </a:solidFill>
                <a:latin typeface="Arial"/>
                <a:ea typeface="Arial"/>
                <a:cs typeface="Arial"/>
              </a:rPr>
              <a:t>62%</a:t>
            </a:r>
            <a:endParaRPr lang="en-US" sz="1400"/>
          </a:p>
        </p:txBody>
      </p:sp>
      <p:sp>
        <p:nvSpPr>
          <p:cNvPr id="328981521" name="Text 20"/>
          <p:cNvSpPr/>
          <p:nvPr/>
        </p:nvSpPr>
        <p:spPr bwMode="auto">
          <a:xfrm>
            <a:off x="5577840" y="199339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Organizaciones en Europa usan Zephyr</a:t>
            </a:r>
            <a:endParaRPr lang="en-US" sz="900"/>
          </a:p>
        </p:txBody>
      </p:sp>
      <p:sp>
        <p:nvSpPr>
          <p:cNvPr id="1491683176" name="Text 21"/>
          <p:cNvSpPr/>
          <p:nvPr/>
        </p:nvSpPr>
        <p:spPr bwMode="auto">
          <a:xfrm>
            <a:off x="4709160" y="2340864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400" b="1">
                <a:solidFill>
                  <a:srgbClr val="0070C5"/>
                </a:solidFill>
                <a:latin typeface="Arial"/>
                <a:ea typeface="Arial"/>
                <a:cs typeface="Arial"/>
              </a:rPr>
              <a:t>69%</a:t>
            </a:r>
            <a:endParaRPr lang="en-US" sz="1400"/>
          </a:p>
        </p:txBody>
      </p:sp>
      <p:sp>
        <p:nvSpPr>
          <p:cNvPr id="1887149482" name="Text 22"/>
          <p:cNvSpPr/>
          <p:nvPr/>
        </p:nvSpPr>
        <p:spPr bwMode="auto">
          <a:xfrm>
            <a:off x="5577840" y="234086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Planea aumentar o significativamente aumentar adopción</a:t>
            </a:r>
            <a:endParaRPr lang="en-US" sz="900"/>
          </a:p>
        </p:txBody>
      </p:sp>
      <p:sp>
        <p:nvSpPr>
          <p:cNvPr id="692612272" name="Text 23"/>
          <p:cNvSpPr/>
          <p:nvPr/>
        </p:nvSpPr>
        <p:spPr bwMode="auto">
          <a:xfrm>
            <a:off x="4709160" y="2688336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400" b="1">
                <a:solidFill>
                  <a:srgbClr val="0070C5"/>
                </a:solidFill>
                <a:latin typeface="Arial"/>
                <a:ea typeface="Arial"/>
                <a:cs typeface="Arial"/>
              </a:rPr>
              <a:t>3,000+</a:t>
            </a:r>
            <a:endParaRPr lang="en-US" sz="1400"/>
          </a:p>
        </p:txBody>
      </p:sp>
      <p:sp>
        <p:nvSpPr>
          <p:cNvPr id="1107678123" name="Text 24"/>
          <p:cNvSpPr/>
          <p:nvPr/>
        </p:nvSpPr>
        <p:spPr bwMode="auto">
          <a:xfrm>
            <a:off x="5577840" y="268833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Contribuyentes globales</a:t>
            </a:r>
            <a:endParaRPr lang="en-US" sz="900"/>
          </a:p>
        </p:txBody>
      </p:sp>
      <p:sp>
        <p:nvSpPr>
          <p:cNvPr id="1191036943" name="Text 25"/>
          <p:cNvSpPr/>
          <p:nvPr/>
        </p:nvSpPr>
        <p:spPr bwMode="auto">
          <a:xfrm>
            <a:off x="4709160" y="3035808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  <a:defRPr/>
            </a:pPr>
            <a:r>
              <a:rPr lang="en-US" sz="1400" b="1">
                <a:solidFill>
                  <a:srgbClr val="0070C5"/>
                </a:solidFill>
                <a:latin typeface="Arial"/>
                <a:ea typeface="Arial"/>
                <a:cs typeface="Arial"/>
              </a:rPr>
              <a:t>1,000+</a:t>
            </a:r>
            <a:endParaRPr lang="en-US" sz="1400"/>
          </a:p>
        </p:txBody>
      </p:sp>
      <p:sp>
        <p:nvSpPr>
          <p:cNvPr id="1842687372" name="Text 26"/>
          <p:cNvSpPr/>
          <p:nvPr/>
        </p:nvSpPr>
        <p:spPr bwMode="auto">
          <a:xfrm>
            <a:off x="5577840" y="303580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Boards soportadas</a:t>
            </a:r>
            <a:endParaRPr lang="en-US" sz="900"/>
          </a:p>
        </p:txBody>
      </p:sp>
      <p:sp>
        <p:nvSpPr>
          <p:cNvPr id="308500719" name="Shape 27"/>
          <p:cNvSpPr/>
          <p:nvPr/>
        </p:nvSpPr>
        <p:spPr bwMode="auto">
          <a:xfrm>
            <a:off x="463924" y="3703320"/>
            <a:ext cx="82296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7126202" name="Shape 28"/>
          <p:cNvSpPr/>
          <p:nvPr/>
        </p:nvSpPr>
        <p:spPr bwMode="auto">
          <a:xfrm>
            <a:off x="457200" y="3703320"/>
            <a:ext cx="8229600" cy="274320"/>
          </a:xfrm>
          <a:prstGeom prst="rect">
            <a:avLst/>
          </a:prstGeom>
          <a:solidFill>
            <a:srgbClr val="66A9DC"/>
          </a:solidFill>
          <a:ln/>
        </p:spPr>
      </p:sp>
      <p:sp>
        <p:nvSpPr>
          <p:cNvPr id="1452513649" name="Text 29"/>
          <p:cNvSpPr/>
          <p:nvPr/>
        </p:nvSpPr>
        <p:spPr bwMode="auto">
          <a:xfrm>
            <a:off x="457200" y="3703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 spc="20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PRODUCTOS COMERCIALES QUE USAN ZEPHYR</a:t>
            </a:r>
            <a:endParaRPr lang="en-US" sz="900"/>
          </a:p>
        </p:txBody>
      </p:sp>
      <p:grpSp>
        <p:nvGrpSpPr>
          <p:cNvPr id="2057798644" name="Grupo 51"/>
          <p:cNvGrpSpPr/>
          <p:nvPr/>
        </p:nvGrpSpPr>
        <p:grpSpPr bwMode="auto">
          <a:xfrm>
            <a:off x="793376" y="4055095"/>
            <a:ext cx="1192755" cy="457200"/>
            <a:chOff x="793376" y="4055095"/>
            <a:chExt cx="1192755" cy="457200"/>
          </a:xfrm>
        </p:grpSpPr>
        <p:sp>
          <p:nvSpPr>
            <p:cNvPr id="32" name="Shape 30"/>
            <p:cNvSpPr/>
            <p:nvPr/>
          </p:nvSpPr>
          <p:spPr bwMode="auto">
            <a:xfrm>
              <a:off x="793376" y="4055095"/>
              <a:ext cx="1188720" cy="457200"/>
            </a:xfrm>
            <a:prstGeom prst="rect">
              <a:avLst/>
            </a:prstGeom>
            <a:solidFill>
              <a:srgbClr val="F6F7F8"/>
            </a:solidFill>
            <a:ln w="12700">
              <a:solidFill>
                <a:srgbClr val="0070C5"/>
              </a:solidFill>
              <a:prstDash val="solid"/>
            </a:ln>
          </p:spPr>
        </p:sp>
        <p:sp>
          <p:nvSpPr>
            <p:cNvPr id="33" name="Text 31"/>
            <p:cNvSpPr/>
            <p:nvPr/>
          </p:nvSpPr>
          <p:spPr bwMode="auto">
            <a:xfrm>
              <a:off x="850526" y="4061819"/>
              <a:ext cx="1058282" cy="301213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  <a:defRPr/>
              </a:pPr>
              <a:r>
                <a:rPr lang="en-US" sz="700" b="1">
                  <a:solidFill>
                    <a:srgbClr val="2D3237"/>
                  </a:solidFill>
                  <a:latin typeface="Calibri"/>
                  <a:ea typeface="Calibri"/>
                  <a:cs typeface="Calibri"/>
                </a:rPr>
                <a:t>Vestas Wind Turbines</a:t>
              </a:r>
              <a:endParaRPr lang="en-US" sz="700"/>
            </a:p>
          </p:txBody>
        </p:sp>
        <p:sp>
          <p:nvSpPr>
            <p:cNvPr id="34" name="Text 32"/>
            <p:cNvSpPr/>
            <p:nvPr/>
          </p:nvSpPr>
          <p:spPr bwMode="auto">
            <a:xfrm>
              <a:off x="793376" y="4279391"/>
              <a:ext cx="1192755" cy="187721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  <a:defRPr/>
              </a:pPr>
              <a:r>
                <a:rPr lang="en-US" sz="700">
                  <a:solidFill>
                    <a:srgbClr val="4C5155"/>
                  </a:solidFill>
                  <a:latin typeface="Calibri"/>
                  <a:ea typeface="Calibri"/>
                  <a:cs typeface="Calibri"/>
                </a:rPr>
                <a:t>Energía</a:t>
              </a:r>
              <a:endParaRPr lang="en-US" sz="700"/>
            </a:p>
          </p:txBody>
        </p:sp>
      </p:grpSp>
      <p:grpSp>
        <p:nvGrpSpPr>
          <p:cNvPr id="1111185295" name="Grupo 52"/>
          <p:cNvGrpSpPr/>
          <p:nvPr/>
        </p:nvGrpSpPr>
        <p:grpSpPr bwMode="auto">
          <a:xfrm>
            <a:off x="2055248" y="4055095"/>
            <a:ext cx="1188720" cy="457200"/>
            <a:chOff x="2055248" y="4055095"/>
            <a:chExt cx="1188720" cy="457200"/>
          </a:xfrm>
        </p:grpSpPr>
        <p:sp>
          <p:nvSpPr>
            <p:cNvPr id="35" name="Shape 33"/>
            <p:cNvSpPr/>
            <p:nvPr/>
          </p:nvSpPr>
          <p:spPr bwMode="auto">
            <a:xfrm>
              <a:off x="2055248" y="4055095"/>
              <a:ext cx="1188720" cy="457200"/>
            </a:xfrm>
            <a:prstGeom prst="rect">
              <a:avLst/>
            </a:prstGeom>
            <a:solidFill>
              <a:srgbClr val="F6F7F8"/>
            </a:solidFill>
            <a:ln w="12700">
              <a:solidFill>
                <a:srgbClr val="0070C5"/>
              </a:solidFill>
              <a:prstDash val="solid"/>
            </a:ln>
          </p:spPr>
        </p:sp>
        <p:sp>
          <p:nvSpPr>
            <p:cNvPr id="36" name="Text 34"/>
            <p:cNvSpPr/>
            <p:nvPr/>
          </p:nvSpPr>
          <p:spPr bwMode="auto">
            <a:xfrm>
              <a:off x="2085504" y="4061817"/>
              <a:ext cx="1125518" cy="30121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  <a:defRPr/>
              </a:pPr>
              <a:r>
                <a:rPr lang="en-US" sz="700" b="1">
                  <a:solidFill>
                    <a:srgbClr val="2D3237"/>
                  </a:solidFill>
                  <a:latin typeface="Calibri"/>
                  <a:ea typeface="Calibri"/>
                  <a:cs typeface="Calibri"/>
                </a:rPr>
                <a:t>Google Chromebook</a:t>
              </a:r>
              <a:endParaRPr lang="en-US" sz="700"/>
            </a:p>
          </p:txBody>
        </p:sp>
        <p:sp>
          <p:nvSpPr>
            <p:cNvPr id="37" name="Text 35"/>
            <p:cNvSpPr/>
            <p:nvPr/>
          </p:nvSpPr>
          <p:spPr bwMode="auto">
            <a:xfrm>
              <a:off x="2055248" y="4272669"/>
              <a:ext cx="1186031" cy="2011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  <a:defRPr/>
              </a:pPr>
              <a:r>
                <a:rPr lang="en-US" sz="700">
                  <a:solidFill>
                    <a:srgbClr val="4C5155"/>
                  </a:solidFill>
                  <a:latin typeface="Calibri"/>
                  <a:ea typeface="Calibri"/>
                  <a:cs typeface="Calibri"/>
                </a:rPr>
                <a:t>Consumer</a:t>
              </a:r>
              <a:endParaRPr lang="en-US" sz="700"/>
            </a:p>
          </p:txBody>
        </p:sp>
      </p:grpSp>
      <p:grpSp>
        <p:nvGrpSpPr>
          <p:cNvPr id="309258311" name="Grupo 53"/>
          <p:cNvGrpSpPr/>
          <p:nvPr/>
        </p:nvGrpSpPr>
        <p:grpSpPr bwMode="auto">
          <a:xfrm>
            <a:off x="3322163" y="4055095"/>
            <a:ext cx="1212922" cy="457200"/>
            <a:chOff x="3322163" y="4055095"/>
            <a:chExt cx="1212922" cy="457200"/>
          </a:xfrm>
        </p:grpSpPr>
        <p:sp>
          <p:nvSpPr>
            <p:cNvPr id="38" name="Shape 36"/>
            <p:cNvSpPr/>
            <p:nvPr/>
          </p:nvSpPr>
          <p:spPr bwMode="auto">
            <a:xfrm>
              <a:off x="3322163" y="4055095"/>
              <a:ext cx="1188720" cy="457200"/>
            </a:xfrm>
            <a:prstGeom prst="rect">
              <a:avLst/>
            </a:prstGeom>
            <a:solidFill>
              <a:srgbClr val="F6F7F8"/>
            </a:solidFill>
            <a:ln w="12700">
              <a:solidFill>
                <a:srgbClr val="0070C5"/>
              </a:solidFill>
              <a:prstDash val="solid"/>
            </a:ln>
          </p:spPr>
        </p:sp>
        <p:sp>
          <p:nvSpPr>
            <p:cNvPr id="39" name="Text 37"/>
            <p:cNvSpPr/>
            <p:nvPr/>
          </p:nvSpPr>
          <p:spPr bwMode="auto">
            <a:xfrm>
              <a:off x="3322163" y="4081990"/>
              <a:ext cx="1212922" cy="27431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  <a:defRPr/>
              </a:pPr>
              <a:r>
                <a:rPr lang="en-US" sz="700" b="1">
                  <a:solidFill>
                    <a:srgbClr val="2D3237"/>
                  </a:solidFill>
                  <a:latin typeface="Calibri"/>
                  <a:ea typeface="Calibri"/>
                  <a:cs typeface="Calibri"/>
                </a:rPr>
                <a:t>Framework Laptop 13</a:t>
              </a:r>
              <a:endParaRPr lang="en-US" sz="700"/>
            </a:p>
          </p:txBody>
        </p:sp>
        <p:sp>
          <p:nvSpPr>
            <p:cNvPr id="40" name="Text 38"/>
            <p:cNvSpPr/>
            <p:nvPr/>
          </p:nvSpPr>
          <p:spPr bwMode="auto">
            <a:xfrm>
              <a:off x="3325525" y="4279392"/>
              <a:ext cx="1186030" cy="180997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  <a:defRPr/>
              </a:pPr>
              <a:r>
                <a:rPr lang="en-US" sz="700">
                  <a:solidFill>
                    <a:srgbClr val="4C5155"/>
                  </a:solidFill>
                  <a:latin typeface="Calibri"/>
                  <a:ea typeface="Calibri"/>
                  <a:cs typeface="Calibri"/>
                </a:rPr>
                <a:t>Notebook</a:t>
              </a:r>
              <a:endParaRPr lang="en-US" sz="700"/>
            </a:p>
          </p:txBody>
        </p:sp>
      </p:grpSp>
      <p:grpSp>
        <p:nvGrpSpPr>
          <p:cNvPr id="840780739" name="Grupo 54"/>
          <p:cNvGrpSpPr/>
          <p:nvPr/>
        </p:nvGrpSpPr>
        <p:grpSpPr bwMode="auto">
          <a:xfrm>
            <a:off x="4575631" y="4055095"/>
            <a:ext cx="1188720" cy="457200"/>
            <a:chOff x="4575631" y="4055095"/>
            <a:chExt cx="1188720" cy="457200"/>
          </a:xfrm>
        </p:grpSpPr>
        <p:sp>
          <p:nvSpPr>
            <p:cNvPr id="41" name="Shape 39"/>
            <p:cNvSpPr/>
            <p:nvPr/>
          </p:nvSpPr>
          <p:spPr bwMode="auto">
            <a:xfrm>
              <a:off x="4575631" y="4055095"/>
              <a:ext cx="1188720" cy="457200"/>
            </a:xfrm>
            <a:prstGeom prst="rect">
              <a:avLst/>
            </a:prstGeom>
            <a:solidFill>
              <a:srgbClr val="F6F7F8"/>
            </a:solidFill>
            <a:ln w="12700">
              <a:solidFill>
                <a:srgbClr val="0070C5"/>
              </a:solidFill>
              <a:prstDash val="solid"/>
            </a:ln>
          </p:spPr>
        </p:sp>
        <p:sp>
          <p:nvSpPr>
            <p:cNvPr id="42" name="Text 40"/>
            <p:cNvSpPr/>
            <p:nvPr/>
          </p:nvSpPr>
          <p:spPr bwMode="auto">
            <a:xfrm>
              <a:off x="4605886" y="4061817"/>
              <a:ext cx="1132241" cy="301214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  <a:defRPr/>
              </a:pPr>
              <a:r>
                <a:rPr lang="en-US" sz="700" b="1">
                  <a:solidFill>
                    <a:srgbClr val="2D3237"/>
                  </a:solidFill>
                  <a:latin typeface="Calibri"/>
                  <a:ea typeface="Calibri"/>
                  <a:cs typeface="Calibri"/>
                </a:rPr>
                <a:t>Oticon More</a:t>
              </a:r>
              <a:endParaRPr lang="en-US" sz="700"/>
            </a:p>
          </p:txBody>
        </p:sp>
        <p:sp>
          <p:nvSpPr>
            <p:cNvPr id="43" name="Text 41"/>
            <p:cNvSpPr/>
            <p:nvPr/>
          </p:nvSpPr>
          <p:spPr bwMode="auto">
            <a:xfrm>
              <a:off x="4592439" y="4252498"/>
              <a:ext cx="1159136" cy="22133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  <a:defRPr/>
              </a:pPr>
              <a:r>
                <a:rPr lang="en-US" sz="700">
                  <a:solidFill>
                    <a:srgbClr val="4C5155"/>
                  </a:solidFill>
                  <a:latin typeface="Calibri"/>
                  <a:ea typeface="Calibri"/>
                  <a:cs typeface="Calibri"/>
                </a:rPr>
                <a:t>Médico</a:t>
              </a:r>
              <a:endParaRPr lang="en-US" sz="700"/>
            </a:p>
          </p:txBody>
        </p:sp>
      </p:grpSp>
      <p:grpSp>
        <p:nvGrpSpPr>
          <p:cNvPr id="1622200139" name="Grupo 55"/>
          <p:cNvGrpSpPr/>
          <p:nvPr/>
        </p:nvGrpSpPr>
        <p:grpSpPr bwMode="auto">
          <a:xfrm>
            <a:off x="5840864" y="4055095"/>
            <a:ext cx="1188720" cy="457200"/>
            <a:chOff x="5840864" y="4055095"/>
            <a:chExt cx="1188720" cy="457200"/>
          </a:xfrm>
        </p:grpSpPr>
        <p:sp>
          <p:nvSpPr>
            <p:cNvPr id="44" name="Shape 42"/>
            <p:cNvSpPr/>
            <p:nvPr/>
          </p:nvSpPr>
          <p:spPr bwMode="auto">
            <a:xfrm>
              <a:off x="5840864" y="4055095"/>
              <a:ext cx="1188720" cy="457200"/>
            </a:xfrm>
            <a:prstGeom prst="rect">
              <a:avLst/>
            </a:prstGeom>
            <a:solidFill>
              <a:srgbClr val="F6F7F8"/>
            </a:solidFill>
            <a:ln w="12700">
              <a:solidFill>
                <a:srgbClr val="0070C5"/>
              </a:solidFill>
              <a:prstDash val="solid"/>
            </a:ln>
          </p:spPr>
        </p:sp>
        <p:sp>
          <p:nvSpPr>
            <p:cNvPr id="45" name="Text 43"/>
            <p:cNvSpPr/>
            <p:nvPr/>
          </p:nvSpPr>
          <p:spPr bwMode="auto">
            <a:xfrm>
              <a:off x="5840864" y="4088712"/>
              <a:ext cx="1186030" cy="23397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  <a:defRPr/>
              </a:pPr>
              <a:r>
                <a:rPr lang="en-US" sz="700" b="1">
                  <a:solidFill>
                    <a:srgbClr val="2D3237"/>
                  </a:solidFill>
                  <a:latin typeface="Calibri"/>
                  <a:ea typeface="Calibri"/>
                  <a:cs typeface="Calibri"/>
                </a:rPr>
                <a:t>GARDENA Smart Irrigation</a:t>
              </a:r>
              <a:endParaRPr lang="en-US" sz="700"/>
            </a:p>
          </p:txBody>
        </p:sp>
        <p:sp>
          <p:nvSpPr>
            <p:cNvPr id="46" name="Text 44"/>
            <p:cNvSpPr/>
            <p:nvPr/>
          </p:nvSpPr>
          <p:spPr bwMode="auto">
            <a:xfrm>
              <a:off x="5840864" y="4259222"/>
              <a:ext cx="1186031" cy="22133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  <a:defRPr/>
              </a:pPr>
              <a:r>
                <a:rPr lang="en-US" sz="700">
                  <a:solidFill>
                    <a:srgbClr val="4C5155"/>
                  </a:solidFill>
                  <a:latin typeface="Calibri"/>
                  <a:ea typeface="Calibri"/>
                  <a:cs typeface="Calibri"/>
                </a:rPr>
                <a:t>Industrial</a:t>
              </a:r>
              <a:endParaRPr lang="en-US" sz="700"/>
            </a:p>
          </p:txBody>
        </p:sp>
      </p:grpSp>
      <p:grpSp>
        <p:nvGrpSpPr>
          <p:cNvPr id="1986310339" name="Grupo 56"/>
          <p:cNvGrpSpPr/>
          <p:nvPr/>
        </p:nvGrpSpPr>
        <p:grpSpPr bwMode="auto">
          <a:xfrm>
            <a:off x="7102736" y="4055095"/>
            <a:ext cx="1188720" cy="457200"/>
            <a:chOff x="7102736" y="4055095"/>
            <a:chExt cx="1188720" cy="457200"/>
          </a:xfrm>
        </p:grpSpPr>
        <p:sp>
          <p:nvSpPr>
            <p:cNvPr id="47" name="Shape 45"/>
            <p:cNvSpPr/>
            <p:nvPr/>
          </p:nvSpPr>
          <p:spPr bwMode="auto">
            <a:xfrm>
              <a:off x="7102736" y="4055095"/>
              <a:ext cx="1188720" cy="457200"/>
            </a:xfrm>
            <a:prstGeom prst="rect">
              <a:avLst/>
            </a:prstGeom>
            <a:solidFill>
              <a:srgbClr val="F6F7F8"/>
            </a:solidFill>
            <a:ln w="12700">
              <a:solidFill>
                <a:srgbClr val="0070C5"/>
              </a:solidFill>
              <a:prstDash val="solid"/>
            </a:ln>
          </p:spPr>
        </p:sp>
        <p:sp>
          <p:nvSpPr>
            <p:cNvPr id="48" name="Text 46"/>
            <p:cNvSpPr/>
            <p:nvPr/>
          </p:nvSpPr>
          <p:spPr bwMode="auto">
            <a:xfrm>
              <a:off x="7139715" y="4081989"/>
              <a:ext cx="1112070" cy="2339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  <a:defRPr/>
              </a:pPr>
              <a:r>
                <a:rPr lang="en-US" sz="700" b="1">
                  <a:solidFill>
                    <a:srgbClr val="2D3237"/>
                  </a:solidFill>
                  <a:latin typeface="Calibri"/>
                  <a:ea typeface="Calibri"/>
                  <a:cs typeface="Calibri"/>
                </a:rPr>
                <a:t>Tenstorrent Blackhole</a:t>
              </a:r>
              <a:endParaRPr lang="en-US" sz="700"/>
            </a:p>
          </p:txBody>
        </p:sp>
        <p:sp>
          <p:nvSpPr>
            <p:cNvPr id="49" name="Text 47"/>
            <p:cNvSpPr/>
            <p:nvPr/>
          </p:nvSpPr>
          <p:spPr bwMode="auto">
            <a:xfrm>
              <a:off x="7132992" y="4259222"/>
              <a:ext cx="1125519" cy="22133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  <a:defRPr/>
              </a:pPr>
              <a:r>
                <a:rPr lang="en-US" sz="700">
                  <a:solidFill>
                    <a:srgbClr val="4C5155"/>
                  </a:solidFill>
                  <a:latin typeface="Calibri"/>
                  <a:ea typeface="Calibri"/>
                  <a:cs typeface="Calibri"/>
                </a:rPr>
                <a:t>AI/HPC</a:t>
              </a:r>
              <a:endParaRPr lang="en-US" sz="700"/>
            </a:p>
          </p:txBody>
        </p:sp>
      </p:grpSp>
      <p:sp>
        <p:nvSpPr>
          <p:cNvPr id="543735176" name="Text 49"/>
          <p:cNvSpPr/>
          <p:nvPr/>
        </p:nvSpPr>
        <p:spPr bwMode="auto">
          <a:xfrm>
            <a:off x="457200" y="47091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">
    <p:bg>
      <p:bgPr shadeToTitle="0">
        <a:solidFill>
          <a:srgbClr val="F6F7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4656303" name="Shape 0"/>
          <p:cNvSpPr/>
          <p:nvPr/>
        </p:nvSpPr>
        <p:spPr bwMode="auto">
          <a:xfrm>
            <a:off x="8503920" y="4663440"/>
            <a:ext cx="365760" cy="365760"/>
          </a:xfrm>
          <a:prstGeom prst="ellipse">
            <a:avLst/>
          </a:prstGeom>
          <a:solidFill>
            <a:srgbClr val="4C5155"/>
          </a:solidFill>
          <a:ln/>
        </p:spPr>
      </p:sp>
      <p:sp>
        <p:nvSpPr>
          <p:cNvPr id="1250728961" name="Text 1"/>
          <p:cNvSpPr/>
          <p:nvPr/>
        </p:nvSpPr>
        <p:spPr bwMode="auto"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  <a:endParaRPr lang="en-US" sz="1200"/>
          </a:p>
        </p:txBody>
      </p:sp>
      <p:sp>
        <p:nvSpPr>
          <p:cNvPr id="229985214" name="Text 2"/>
          <p:cNvSpPr/>
          <p:nvPr/>
        </p:nvSpPr>
        <p:spPr bwMode="auto">
          <a:xfrm>
            <a:off x="457200" y="2743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2800" b="1">
                <a:solidFill>
                  <a:srgbClr val="2D3237"/>
                </a:solidFill>
                <a:latin typeface="Arial Black"/>
                <a:ea typeface="Arial Black"/>
                <a:cs typeface="Arial Black"/>
              </a:rPr>
              <a:t>MOSIX — La Empresa</a:t>
            </a:r>
            <a:endParaRPr lang="en-US" sz="2800"/>
          </a:p>
        </p:txBody>
      </p:sp>
      <p:sp>
        <p:nvSpPr>
          <p:cNvPr id="104805665" name="Text 3"/>
          <p:cNvSpPr/>
          <p:nvPr/>
        </p:nvSpPr>
        <p:spPr bwMode="auto">
          <a:xfrm>
            <a:off x="457200" y="777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200" i="1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Proyecto de investigación académica — Hebrew University of Jerusalem</a:t>
            </a:r>
            <a:endParaRPr lang="en-US" sz="1200"/>
          </a:p>
        </p:txBody>
      </p:sp>
      <p:sp>
        <p:nvSpPr>
          <p:cNvPr id="680488157" name="Shape 4"/>
          <p:cNvSpPr/>
          <p:nvPr/>
        </p:nvSpPr>
        <p:spPr bwMode="auto">
          <a:xfrm>
            <a:off x="457200" y="1188720"/>
            <a:ext cx="39319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90046088" name="Shape 5"/>
          <p:cNvSpPr/>
          <p:nvPr/>
        </p:nvSpPr>
        <p:spPr bwMode="auto">
          <a:xfrm>
            <a:off x="457200" y="1188720"/>
            <a:ext cx="3931920" cy="256032"/>
          </a:xfrm>
          <a:prstGeom prst="rect">
            <a:avLst/>
          </a:prstGeom>
          <a:solidFill>
            <a:srgbClr val="4C5155"/>
          </a:solidFill>
          <a:ln/>
        </p:spPr>
      </p:sp>
      <p:sp>
        <p:nvSpPr>
          <p:cNvPr id="329444449" name="Text 6"/>
          <p:cNvSpPr/>
          <p:nvPr/>
        </p:nvSpPr>
        <p:spPr bwMode="auto">
          <a:xfrm>
            <a:off x="457200" y="11887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 spc="100">
                <a:solidFill>
                  <a:srgbClr val="FFFFFF"/>
                </a:solidFill>
                <a:latin typeface="Arial"/>
                <a:ea typeface="Arial"/>
                <a:cs typeface="Arial"/>
              </a:rPr>
              <a:t>GRUPO DE INVESTIGACIÓN</a:t>
            </a:r>
            <a:endParaRPr lang="en-US" sz="900"/>
          </a:p>
        </p:txBody>
      </p:sp>
      <p:sp>
        <p:nvSpPr>
          <p:cNvPr id="298200084" name="Text 7"/>
          <p:cNvSpPr/>
          <p:nvPr/>
        </p:nvSpPr>
        <p:spPr bwMode="auto">
          <a:xfrm>
            <a:off x="548640" y="1508759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Hebrew University of Jerusalem, Israel</a:t>
            </a: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Prof. Amnon Barak — 71 papers, ~1,662 citas</a:t>
            </a: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Grupo de Sistemas Distribuidos</a:t>
            </a:r>
            <a:endParaRPr lang="en-US" sz="900"/>
          </a:p>
        </p:txBody>
      </p:sp>
      <p:sp>
        <p:nvSpPr>
          <p:cNvPr id="317535143" name="Shape 8"/>
          <p:cNvSpPr/>
          <p:nvPr/>
        </p:nvSpPr>
        <p:spPr bwMode="auto">
          <a:xfrm>
            <a:off x="457200" y="2194560"/>
            <a:ext cx="393192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81443908" name="Shape 9"/>
          <p:cNvSpPr/>
          <p:nvPr/>
        </p:nvSpPr>
        <p:spPr bwMode="auto">
          <a:xfrm>
            <a:off x="457200" y="2194560"/>
            <a:ext cx="3931920" cy="256032"/>
          </a:xfrm>
          <a:prstGeom prst="rect">
            <a:avLst/>
          </a:prstGeom>
          <a:solidFill>
            <a:srgbClr val="4C5155"/>
          </a:solidFill>
          <a:ln/>
        </p:spPr>
      </p:sp>
      <p:sp>
        <p:nvSpPr>
          <p:cNvPr id="2068944284" name="Text 10"/>
          <p:cNvSpPr/>
          <p:nvPr/>
        </p:nvSpPr>
        <p:spPr bwMode="auto">
          <a:xfrm>
            <a:off x="457200" y="21945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 spc="100">
                <a:solidFill>
                  <a:srgbClr val="FFFFFF"/>
                </a:solidFill>
                <a:latin typeface="Arial"/>
                <a:ea typeface="Arial"/>
                <a:cs typeface="Arial"/>
              </a:rPr>
              <a:t>LICENCIA Y ESTADO</a:t>
            </a:r>
            <a:endParaRPr lang="en-US" sz="900"/>
          </a:p>
        </p:txBody>
      </p:sp>
      <p:sp>
        <p:nvSpPr>
          <p:cNvPr id="502073010" name="Text 11"/>
          <p:cNvSpPr/>
          <p:nvPr/>
        </p:nvSpPr>
        <p:spPr bwMode="auto">
          <a:xfrm>
            <a:off x="548640" y="25146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Software PROPIETARIO — NO open source</a:t>
            </a: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Prohibido modificar o crear derivados</a:t>
            </a: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Último release: MOSIX-4.4.4 (Oct 2017)</a:t>
            </a:r>
            <a:endParaRPr lang="en-US" sz="900"/>
          </a:p>
        </p:txBody>
      </p:sp>
      <p:sp>
        <p:nvSpPr>
          <p:cNvPr id="173435217" name="Shape 12"/>
          <p:cNvSpPr/>
          <p:nvPr/>
        </p:nvSpPr>
        <p:spPr bwMode="auto">
          <a:xfrm>
            <a:off x="457200" y="3200400"/>
            <a:ext cx="393192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61353891" name="Shape 13"/>
          <p:cNvSpPr/>
          <p:nvPr/>
        </p:nvSpPr>
        <p:spPr bwMode="auto">
          <a:xfrm>
            <a:off x="457200" y="3200400"/>
            <a:ext cx="3931920" cy="256032"/>
          </a:xfrm>
          <a:prstGeom prst="rect">
            <a:avLst/>
          </a:prstGeom>
          <a:solidFill>
            <a:srgbClr val="4C5155"/>
          </a:solidFill>
          <a:ln/>
        </p:spPr>
      </p:sp>
      <p:sp>
        <p:nvSpPr>
          <p:cNvPr id="424429810" name="Text 14"/>
          <p:cNvSpPr/>
          <p:nvPr/>
        </p:nvSpPr>
        <p:spPr bwMode="auto">
          <a:xfrm>
            <a:off x="457200" y="32004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 spc="10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CONCEPTO CLAVE: SSI</a:t>
            </a:r>
            <a:endParaRPr lang="en-US" sz="900"/>
          </a:p>
        </p:txBody>
      </p:sp>
      <p:sp>
        <p:nvSpPr>
          <p:cNvPr id="1159988679" name="Text 15"/>
          <p:cNvSpPr/>
          <p:nvPr/>
        </p:nvSpPr>
        <p:spPr bwMode="auto">
          <a:xfrm>
            <a:off x="548640" y="352044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Single System Image — cluster aparece como UNA máquina lógica</a:t>
            </a:r>
            <a:endParaRPr lang="en-US" sz="900"/>
          </a:p>
        </p:txBody>
      </p:sp>
      <p:sp>
        <p:nvSpPr>
          <p:cNvPr id="630426237" name="Shape 16"/>
          <p:cNvSpPr/>
          <p:nvPr/>
        </p:nvSpPr>
        <p:spPr bwMode="auto">
          <a:xfrm>
            <a:off x="4572000" y="1188720"/>
            <a:ext cx="4114800" cy="278892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68918666" name="Shape 17"/>
          <p:cNvSpPr/>
          <p:nvPr/>
        </p:nvSpPr>
        <p:spPr bwMode="auto">
          <a:xfrm>
            <a:off x="4572000" y="1188720"/>
            <a:ext cx="4114800" cy="292608"/>
          </a:xfrm>
          <a:prstGeom prst="rect">
            <a:avLst/>
          </a:prstGeom>
          <a:solidFill>
            <a:srgbClr val="4C5155"/>
          </a:solidFill>
          <a:ln/>
        </p:spPr>
      </p:sp>
      <p:sp>
        <p:nvSpPr>
          <p:cNvPr id="712814056" name="Text 18"/>
          <p:cNvSpPr/>
          <p:nvPr/>
        </p:nvSpPr>
        <p:spPr bwMode="auto">
          <a:xfrm>
            <a:off x="4572000" y="118872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b="1" spc="200">
                <a:solidFill>
                  <a:srgbClr val="FFFFFF"/>
                </a:solidFill>
                <a:latin typeface="Arial"/>
                <a:ea typeface="Arial"/>
                <a:cs typeface="Arial"/>
              </a:rPr>
              <a:t>LÍNEA DE TIEMPO</a:t>
            </a:r>
            <a:endParaRPr lang="en-US" sz="1000"/>
          </a:p>
        </p:txBody>
      </p:sp>
      <p:sp>
        <p:nvSpPr>
          <p:cNvPr id="1897780095" name="Shape 19"/>
          <p:cNvSpPr/>
          <p:nvPr/>
        </p:nvSpPr>
        <p:spPr bwMode="auto">
          <a:xfrm>
            <a:off x="5120640" y="1645920"/>
            <a:ext cx="0" cy="2194560"/>
          </a:xfrm>
          <a:prstGeom prst="line">
            <a:avLst/>
          </a:prstGeom>
          <a:noFill/>
          <a:ln w="25400">
            <a:solidFill>
              <a:srgbClr val="4C5155"/>
            </a:solidFill>
            <a:prstDash val="solid"/>
          </a:ln>
        </p:spPr>
      </p:sp>
      <p:sp>
        <p:nvSpPr>
          <p:cNvPr id="286649367" name="Shape 20"/>
          <p:cNvSpPr/>
          <p:nvPr/>
        </p:nvSpPr>
        <p:spPr bwMode="auto">
          <a:xfrm>
            <a:off x="5029200" y="1682496"/>
            <a:ext cx="182880" cy="182880"/>
          </a:xfrm>
          <a:prstGeom prst="ellipse">
            <a:avLst/>
          </a:prstGeom>
          <a:solidFill>
            <a:srgbClr val="4C5155"/>
          </a:solidFill>
          <a:ln/>
        </p:spPr>
      </p:sp>
      <p:sp>
        <p:nvSpPr>
          <p:cNvPr id="1361477395" name="Text 21"/>
          <p:cNvSpPr/>
          <p:nvPr/>
        </p:nvSpPr>
        <p:spPr bwMode="auto">
          <a:xfrm>
            <a:off x="5257800" y="162763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800" b="1">
                <a:solidFill>
                  <a:srgbClr val="4C5155"/>
                </a:solidFill>
                <a:latin typeface="Arial"/>
                <a:ea typeface="Arial"/>
                <a:cs typeface="Arial"/>
              </a:rPr>
              <a:t>1977</a:t>
            </a:r>
            <a:endParaRPr lang="en-US" sz="800"/>
          </a:p>
        </p:txBody>
      </p:sp>
      <p:sp>
        <p:nvSpPr>
          <p:cNvPr id="2062189936" name="Text 22"/>
          <p:cNvSpPr/>
          <p:nvPr/>
        </p:nvSpPr>
        <p:spPr bwMode="auto">
          <a:xfrm>
            <a:off x="5897880" y="162763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8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Origen en PDP-11/45 — migración de procesos</a:t>
            </a:r>
            <a:endParaRPr lang="en-US" sz="800"/>
          </a:p>
        </p:txBody>
      </p:sp>
      <p:sp>
        <p:nvSpPr>
          <p:cNvPr id="1171368040" name="Shape 23"/>
          <p:cNvSpPr/>
          <p:nvPr/>
        </p:nvSpPr>
        <p:spPr bwMode="auto">
          <a:xfrm>
            <a:off x="5029200" y="2048256"/>
            <a:ext cx="182880" cy="182880"/>
          </a:xfrm>
          <a:prstGeom prst="ellipse">
            <a:avLst/>
          </a:prstGeom>
          <a:solidFill>
            <a:srgbClr val="4C5155"/>
          </a:solidFill>
          <a:ln/>
        </p:spPr>
      </p:sp>
      <p:sp>
        <p:nvSpPr>
          <p:cNvPr id="1171418049" name="Text 24"/>
          <p:cNvSpPr/>
          <p:nvPr/>
        </p:nvSpPr>
        <p:spPr bwMode="auto">
          <a:xfrm>
            <a:off x="5257800" y="199339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800" b="1">
                <a:solidFill>
                  <a:srgbClr val="4C5155"/>
                </a:solidFill>
                <a:latin typeface="Arial"/>
                <a:ea typeface="Arial"/>
                <a:cs typeface="Arial"/>
              </a:rPr>
              <a:t>1988</a:t>
            </a:r>
            <a:endParaRPr lang="en-US" sz="800"/>
          </a:p>
        </p:txBody>
      </p:sp>
      <p:sp>
        <p:nvSpPr>
          <p:cNvPr id="631524130" name="Text 25"/>
          <p:cNvSpPr/>
          <p:nvPr/>
        </p:nvSpPr>
        <p:spPr bwMode="auto">
          <a:xfrm>
            <a:off x="5897880" y="199339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8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Primer cluster con nombre MOSIX (16 nodos)</a:t>
            </a:r>
            <a:endParaRPr lang="en-US" sz="800"/>
          </a:p>
        </p:txBody>
      </p:sp>
      <p:sp>
        <p:nvSpPr>
          <p:cNvPr id="402412722" name="Shape 26"/>
          <p:cNvSpPr/>
          <p:nvPr/>
        </p:nvSpPr>
        <p:spPr bwMode="auto">
          <a:xfrm>
            <a:off x="5029200" y="2414016"/>
            <a:ext cx="182880" cy="182880"/>
          </a:xfrm>
          <a:prstGeom prst="ellipse">
            <a:avLst/>
          </a:prstGeom>
          <a:solidFill>
            <a:srgbClr val="4C5155"/>
          </a:solidFill>
          <a:ln/>
        </p:spPr>
      </p:sp>
      <p:sp>
        <p:nvSpPr>
          <p:cNvPr id="463506593" name="Text 27"/>
          <p:cNvSpPr/>
          <p:nvPr/>
        </p:nvSpPr>
        <p:spPr bwMode="auto">
          <a:xfrm>
            <a:off x="5257800" y="235915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800" b="1">
                <a:solidFill>
                  <a:srgbClr val="4C5155"/>
                </a:solidFill>
                <a:latin typeface="Arial"/>
                <a:ea typeface="Arial"/>
                <a:cs typeface="Arial"/>
              </a:rPr>
              <a:t>1999</a:t>
            </a:r>
            <a:endParaRPr lang="en-US" sz="800"/>
          </a:p>
        </p:txBody>
      </p:sp>
      <p:sp>
        <p:nvSpPr>
          <p:cNvPr id="1799589509" name="Text 28"/>
          <p:cNvSpPr/>
          <p:nvPr/>
        </p:nvSpPr>
        <p:spPr bwMode="auto">
          <a:xfrm>
            <a:off x="5897880" y="235915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8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Transición definitiva a Linux</a:t>
            </a:r>
            <a:endParaRPr lang="en-US" sz="800"/>
          </a:p>
        </p:txBody>
      </p:sp>
      <p:sp>
        <p:nvSpPr>
          <p:cNvPr id="2044263252" name="Shape 29"/>
          <p:cNvSpPr/>
          <p:nvPr/>
        </p:nvSpPr>
        <p:spPr bwMode="auto">
          <a:xfrm>
            <a:off x="5029200" y="2779776"/>
            <a:ext cx="182880" cy="182880"/>
          </a:xfrm>
          <a:prstGeom prst="ellipse">
            <a:avLst/>
          </a:prstGeom>
          <a:solidFill>
            <a:srgbClr val="4C5155"/>
          </a:solidFill>
          <a:ln/>
        </p:spPr>
      </p:sp>
      <p:sp>
        <p:nvSpPr>
          <p:cNvPr id="729115585" name="Text 30"/>
          <p:cNvSpPr/>
          <p:nvPr/>
        </p:nvSpPr>
        <p:spPr bwMode="auto">
          <a:xfrm>
            <a:off x="5257800" y="2724911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800" b="1">
                <a:solidFill>
                  <a:srgbClr val="4C5155"/>
                </a:solidFill>
                <a:latin typeface="Arial"/>
                <a:ea typeface="Arial"/>
                <a:cs typeface="Arial"/>
              </a:rPr>
              <a:t>2001</a:t>
            </a:r>
            <a:endParaRPr lang="en-US" sz="800"/>
          </a:p>
        </p:txBody>
      </p:sp>
      <p:sp>
        <p:nvSpPr>
          <p:cNvPr id="717357608" name="Text 31"/>
          <p:cNvSpPr/>
          <p:nvPr/>
        </p:nvSpPr>
        <p:spPr bwMode="auto">
          <a:xfrm>
            <a:off x="5897880" y="2724911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8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Se vuelve propietario — nace openMosix (fork GPL)</a:t>
            </a:r>
            <a:endParaRPr lang="en-US" sz="800"/>
          </a:p>
        </p:txBody>
      </p:sp>
      <p:sp>
        <p:nvSpPr>
          <p:cNvPr id="2133482251" name="Shape 32"/>
          <p:cNvSpPr/>
          <p:nvPr/>
        </p:nvSpPr>
        <p:spPr bwMode="auto">
          <a:xfrm>
            <a:off x="5029200" y="3145536"/>
            <a:ext cx="182880" cy="182880"/>
          </a:xfrm>
          <a:prstGeom prst="ellipse">
            <a:avLst/>
          </a:prstGeom>
          <a:solidFill>
            <a:srgbClr val="4C5155"/>
          </a:solidFill>
          <a:ln/>
        </p:spPr>
      </p:sp>
      <p:sp>
        <p:nvSpPr>
          <p:cNvPr id="301749139" name="Text 33"/>
          <p:cNvSpPr/>
          <p:nvPr/>
        </p:nvSpPr>
        <p:spPr bwMode="auto">
          <a:xfrm>
            <a:off x="5257800" y="309067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800" b="1">
                <a:solidFill>
                  <a:srgbClr val="4C5155"/>
                </a:solidFill>
                <a:latin typeface="Arial"/>
                <a:ea typeface="Arial"/>
                <a:cs typeface="Arial"/>
              </a:rPr>
              <a:t>2014</a:t>
            </a:r>
            <a:endParaRPr lang="en-US" sz="800"/>
          </a:p>
        </p:txBody>
      </p:sp>
      <p:sp>
        <p:nvSpPr>
          <p:cNvPr id="456015591" name="Text 34"/>
          <p:cNvSpPr/>
          <p:nvPr/>
        </p:nvSpPr>
        <p:spPr bwMode="auto">
          <a:xfrm>
            <a:off x="5897880" y="309067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8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Ya no requiere parche de kernel (módulo)</a:t>
            </a:r>
            <a:endParaRPr lang="en-US" sz="800"/>
          </a:p>
        </p:txBody>
      </p:sp>
      <p:sp>
        <p:nvSpPr>
          <p:cNvPr id="1604993467" name="Shape 35"/>
          <p:cNvSpPr/>
          <p:nvPr/>
        </p:nvSpPr>
        <p:spPr bwMode="auto">
          <a:xfrm>
            <a:off x="5029200" y="3511296"/>
            <a:ext cx="182880" cy="182880"/>
          </a:xfrm>
          <a:prstGeom prst="ellipse">
            <a:avLst/>
          </a:prstGeom>
          <a:solidFill>
            <a:srgbClr val="4C5155"/>
          </a:solidFill>
          <a:ln/>
        </p:spPr>
      </p:sp>
      <p:sp>
        <p:nvSpPr>
          <p:cNvPr id="886146614" name="Text 36"/>
          <p:cNvSpPr/>
          <p:nvPr/>
        </p:nvSpPr>
        <p:spPr bwMode="auto">
          <a:xfrm>
            <a:off x="5257800" y="3456432"/>
            <a:ext cx="640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800" b="1">
                <a:solidFill>
                  <a:srgbClr val="4C5155"/>
                </a:solidFill>
                <a:latin typeface="Arial"/>
                <a:ea typeface="Arial"/>
                <a:cs typeface="Arial"/>
              </a:rPr>
              <a:t>Oct 2017</a:t>
            </a:r>
            <a:endParaRPr lang="en-US" sz="800"/>
          </a:p>
        </p:txBody>
      </p:sp>
      <p:sp>
        <p:nvSpPr>
          <p:cNvPr id="1544719835" name="Text 37"/>
          <p:cNvSpPr/>
          <p:nvPr/>
        </p:nvSpPr>
        <p:spPr bwMode="auto">
          <a:xfrm>
            <a:off x="5897880" y="345643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8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Último release: MOSIX-4.4.4</a:t>
            </a:r>
            <a:endParaRPr lang="en-US" sz="800"/>
          </a:p>
        </p:txBody>
      </p:sp>
      <p:sp>
        <p:nvSpPr>
          <p:cNvPr id="1285245881" name="Shape 40"/>
          <p:cNvSpPr/>
          <p:nvPr/>
        </p:nvSpPr>
        <p:spPr bwMode="auto">
          <a:xfrm>
            <a:off x="457200" y="4114800"/>
            <a:ext cx="3931920" cy="594360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07884432" name="Text 41"/>
          <p:cNvSpPr/>
          <p:nvPr/>
        </p:nvSpPr>
        <p:spPr bwMode="auto">
          <a:xfrm>
            <a:off x="548640" y="4160519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 b="1">
                <a:solidFill>
                  <a:srgbClr val="991B1B"/>
                </a:solidFill>
                <a:latin typeface="Calibri"/>
                <a:ea typeface="Calibri"/>
                <a:cs typeface="Calibri"/>
              </a:rPr>
              <a:t>⚠️ INACTIVO desde 2017 — Sin soporte, sin updates, sin comunidad activa</a:t>
            </a:r>
            <a:endParaRPr lang="en-US" sz="900"/>
          </a:p>
        </p:txBody>
      </p:sp>
      <p:sp>
        <p:nvSpPr>
          <p:cNvPr id="1870239076" name="Text 42"/>
          <p:cNvSpPr/>
          <p:nvPr/>
        </p:nvSpPr>
        <p:spPr bwMode="auto">
          <a:xfrm>
            <a:off x="457200" y="480060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endParaRPr lang="en-US" sz="900"/>
          </a:p>
        </p:txBody>
      </p:sp>
      <p:pic>
        <p:nvPicPr>
          <p:cNvPr id="1809208990" name="Imagen 44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6139296" y="4067297"/>
            <a:ext cx="1162793" cy="69025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">
    <p:bg>
      <p:bgPr shadeToTitle="0">
        <a:solidFill>
          <a:srgbClr val="F6F7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3089135" name="Shape 0"/>
          <p:cNvSpPr/>
          <p:nvPr/>
        </p:nvSpPr>
        <p:spPr bwMode="auto">
          <a:xfrm>
            <a:off x="8503920" y="4663440"/>
            <a:ext cx="365760" cy="365760"/>
          </a:xfrm>
          <a:prstGeom prst="ellipse">
            <a:avLst/>
          </a:prstGeom>
          <a:solidFill>
            <a:srgbClr val="0070C5"/>
          </a:solidFill>
          <a:ln/>
        </p:spPr>
      </p:sp>
      <p:sp>
        <p:nvSpPr>
          <p:cNvPr id="18830183" name="Text 1"/>
          <p:cNvSpPr/>
          <p:nvPr/>
        </p:nvSpPr>
        <p:spPr bwMode="auto"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  <a:endParaRPr lang="en-US" sz="1200"/>
          </a:p>
        </p:txBody>
      </p:sp>
      <p:sp>
        <p:nvSpPr>
          <p:cNvPr id="1510614966" name="Text 2"/>
          <p:cNvSpPr/>
          <p:nvPr/>
        </p:nvSpPr>
        <p:spPr bwMode="auto">
          <a:xfrm>
            <a:off x="457200" y="274320"/>
            <a:ext cx="8357347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  <a:defRPr/>
            </a:pPr>
            <a:r>
              <a:rPr lang="en-US" sz="2800" b="1">
                <a:solidFill>
                  <a:srgbClr val="2D3237"/>
                </a:solidFill>
                <a:latin typeface="Arial Black"/>
                <a:ea typeface="Arial Black"/>
                <a:cs typeface="Arial Black"/>
              </a:rPr>
              <a:t>Zephyr OS — </a:t>
            </a:r>
            <a:r>
              <a:rPr lang="en-US" sz="2800" b="1">
                <a:solidFill>
                  <a:srgbClr val="2D3237"/>
                </a:solidFill>
                <a:latin typeface="Arial Black"/>
                <a:ea typeface="Arial Black"/>
                <a:cs typeface="Arial Black"/>
              </a:rPr>
              <a:t>Características</a:t>
            </a:r>
            <a:r>
              <a:rPr lang="en-US" sz="2800" b="1">
                <a:solidFill>
                  <a:srgbClr val="2D3237"/>
                </a:solidFill>
                <a:latin typeface="Arial Black"/>
                <a:ea typeface="Arial Black"/>
                <a:cs typeface="Arial Black"/>
              </a:rPr>
              <a:t> Generales</a:t>
            </a:r>
            <a:endParaRPr lang="en-US" sz="2800">
              <a:latin typeface="Arial Black"/>
            </a:endParaRPr>
          </a:p>
        </p:txBody>
      </p:sp>
      <p:sp>
        <p:nvSpPr>
          <p:cNvPr id="771890196" name="Text 3"/>
          <p:cNvSpPr/>
          <p:nvPr/>
        </p:nvSpPr>
        <p:spPr bwMode="auto">
          <a:xfrm>
            <a:off x="457200" y="777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200" i="1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RTOS monolítico para sistemas embebidos — footprint desde ~4 KB</a:t>
            </a:r>
            <a:endParaRPr lang="en-US" sz="1200"/>
          </a:p>
        </p:txBody>
      </p:sp>
      <p:sp>
        <p:nvSpPr>
          <p:cNvPr id="1618141177" name="Shape 4"/>
          <p:cNvSpPr/>
          <p:nvPr/>
        </p:nvSpPr>
        <p:spPr bwMode="auto">
          <a:xfrm>
            <a:off x="457200" y="1143000"/>
            <a:ext cx="41148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3964713" name="Shape 5"/>
          <p:cNvSpPr/>
          <p:nvPr/>
        </p:nvSpPr>
        <p:spPr bwMode="auto">
          <a:xfrm>
            <a:off x="457200" y="1143000"/>
            <a:ext cx="4114800" cy="274320"/>
          </a:xfrm>
          <a:prstGeom prst="rect">
            <a:avLst/>
          </a:prstGeom>
          <a:solidFill>
            <a:srgbClr val="0070C5"/>
          </a:solidFill>
          <a:ln/>
        </p:spPr>
      </p:sp>
      <p:sp>
        <p:nvSpPr>
          <p:cNvPr id="1034536569" name="Text 6"/>
          <p:cNvSpPr/>
          <p:nvPr/>
        </p:nvSpPr>
        <p:spPr bwMode="auto">
          <a:xfrm>
            <a:off x="457200" y="11430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 spc="100">
                <a:solidFill>
                  <a:srgbClr val="FFFFFF"/>
                </a:solidFill>
                <a:latin typeface="Arial"/>
                <a:ea typeface="Arial"/>
                <a:cs typeface="Arial"/>
              </a:rPr>
              <a:t>ARQUITECTURA DEL KERNEL</a:t>
            </a:r>
            <a:endParaRPr lang="en-US" sz="900"/>
          </a:p>
        </p:txBody>
      </p:sp>
      <p:sp>
        <p:nvSpPr>
          <p:cNvPr id="51840509" name="Text 7"/>
          <p:cNvSpPr/>
          <p:nvPr/>
        </p:nvSpPr>
        <p:spPr bwMode="auto">
          <a:xfrm>
            <a:off x="548640" y="1481328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Kernel monolítico unificado (desde v1.6)</a:t>
            </a:r>
            <a:endParaRPr lang="en-US" sz="900"/>
          </a:p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Single address space — kernel + apps compartido</a:t>
            </a:r>
            <a:endParaRPr lang="en-US" sz="900"/>
          </a:p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System calls como function calls (sin context switch)</a:t>
            </a:r>
            <a:endParaRPr lang="en-US" sz="900"/>
          </a:p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Compilación estática — binario único, mínimo overhead</a:t>
            </a:r>
            <a:endParaRPr lang="en-US" sz="900"/>
          </a:p>
        </p:txBody>
      </p:sp>
      <p:sp>
        <p:nvSpPr>
          <p:cNvPr id="588544404" name="Shape 8"/>
          <p:cNvSpPr/>
          <p:nvPr/>
        </p:nvSpPr>
        <p:spPr bwMode="auto">
          <a:xfrm>
            <a:off x="457200" y="246888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58210438" name="Shape 9"/>
          <p:cNvSpPr/>
          <p:nvPr/>
        </p:nvSpPr>
        <p:spPr bwMode="auto">
          <a:xfrm>
            <a:off x="457200" y="2468880"/>
            <a:ext cx="4114800" cy="274320"/>
          </a:xfrm>
          <a:prstGeom prst="rect">
            <a:avLst/>
          </a:prstGeom>
          <a:solidFill>
            <a:srgbClr val="0070C5"/>
          </a:solidFill>
          <a:ln/>
        </p:spPr>
      </p:sp>
      <p:sp>
        <p:nvSpPr>
          <p:cNvPr id="1133396451" name="Text 10"/>
          <p:cNvSpPr/>
          <p:nvPr/>
        </p:nvSpPr>
        <p:spPr bwMode="auto">
          <a:xfrm>
            <a:off x="457200" y="2468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 spc="100">
                <a:solidFill>
                  <a:srgbClr val="FFFFFF"/>
                </a:solidFill>
                <a:latin typeface="Arial"/>
                <a:ea typeface="Arial"/>
                <a:cs typeface="Arial"/>
              </a:rPr>
              <a:t>SCHEDULING</a:t>
            </a:r>
            <a:endParaRPr lang="en-US" sz="900"/>
          </a:p>
        </p:txBody>
      </p:sp>
      <p:sp>
        <p:nvSpPr>
          <p:cNvPr id="1206691334" name="Text 11"/>
          <p:cNvSpPr/>
          <p:nvPr/>
        </p:nvSpPr>
        <p:spPr bwMode="auto">
          <a:xfrm>
            <a:off x="548640" y="278892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Cooperativo + Preemptive + Híbrido</a:t>
            </a:r>
            <a:endParaRPr lang="en-US" sz="900"/>
          </a:p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SMP (multi-core simétrico)</a:t>
            </a:r>
            <a:endParaRPr lang="en-US" sz="900"/>
          </a:p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AMP (procesamiento asimétrico via OpenAMP)</a:t>
            </a:r>
            <a:endParaRPr lang="en-US" sz="900"/>
          </a:p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Priority inheritance — evita inversión de prioridad</a:t>
            </a:r>
            <a:endParaRPr lang="en-US" sz="900"/>
          </a:p>
        </p:txBody>
      </p:sp>
      <p:sp>
        <p:nvSpPr>
          <p:cNvPr id="114504433" name="Shape 12"/>
          <p:cNvSpPr/>
          <p:nvPr/>
        </p:nvSpPr>
        <p:spPr bwMode="auto">
          <a:xfrm>
            <a:off x="457200" y="347472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17357117" name="Shape 13"/>
          <p:cNvSpPr/>
          <p:nvPr/>
        </p:nvSpPr>
        <p:spPr bwMode="auto">
          <a:xfrm>
            <a:off x="457200" y="3474720"/>
            <a:ext cx="4114800" cy="274320"/>
          </a:xfrm>
          <a:prstGeom prst="rect">
            <a:avLst/>
          </a:prstGeom>
          <a:solidFill>
            <a:srgbClr val="0070C5"/>
          </a:solidFill>
          <a:ln/>
        </p:spPr>
      </p:sp>
      <p:sp>
        <p:nvSpPr>
          <p:cNvPr id="1017052155" name="Text 14"/>
          <p:cNvSpPr/>
          <p:nvPr/>
        </p:nvSpPr>
        <p:spPr bwMode="auto">
          <a:xfrm>
            <a:off x="457200" y="3474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 spc="100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MODELO DE MEMORIA</a:t>
            </a:r>
            <a:endParaRPr lang="en-US" sz="900"/>
          </a:p>
        </p:txBody>
      </p:sp>
      <p:sp>
        <p:nvSpPr>
          <p:cNvPr id="2053104579" name="Text 15"/>
          <p:cNvSpPr/>
          <p:nvPr/>
        </p:nvSpPr>
        <p:spPr bwMode="auto">
          <a:xfrm>
            <a:off x="548640" y="379476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MPU-based protection (sin MMU en la mayoría)</a:t>
            </a:r>
            <a:endParaRPr lang="en-US" sz="900"/>
          </a:p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User mode + Kernel mode (privilege levels)</a:t>
            </a:r>
            <a:endParaRPr lang="en-US" sz="900"/>
          </a:p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Demand paging (arquitecturas con MMU)</a:t>
            </a:r>
            <a:endParaRPr lang="en-US" sz="900"/>
          </a:p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Heap, Memory Slabs, Memory Blocks</a:t>
            </a:r>
            <a:endParaRPr lang="en-US" sz="900"/>
          </a:p>
        </p:txBody>
      </p:sp>
      <p:sp>
        <p:nvSpPr>
          <p:cNvPr id="575147452" name="Shape 16"/>
          <p:cNvSpPr/>
          <p:nvPr/>
        </p:nvSpPr>
        <p:spPr bwMode="auto">
          <a:xfrm>
            <a:off x="4746270" y="1143000"/>
            <a:ext cx="3940530" cy="1601388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98294236" name="Shape 17"/>
          <p:cNvSpPr/>
          <p:nvPr/>
        </p:nvSpPr>
        <p:spPr bwMode="auto">
          <a:xfrm>
            <a:off x="4709160" y="1143000"/>
            <a:ext cx="3977640" cy="274320"/>
          </a:xfrm>
          <a:prstGeom prst="rect">
            <a:avLst/>
          </a:prstGeom>
          <a:solidFill>
            <a:srgbClr val="0070C5"/>
          </a:solidFill>
          <a:ln/>
        </p:spPr>
      </p:sp>
      <p:sp>
        <p:nvSpPr>
          <p:cNvPr id="495860427" name="Text 18"/>
          <p:cNvSpPr/>
          <p:nvPr/>
        </p:nvSpPr>
        <p:spPr bwMode="auto">
          <a:xfrm>
            <a:off x="4709160" y="114300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 spc="100">
                <a:solidFill>
                  <a:srgbClr val="FFFFFF"/>
                </a:solidFill>
                <a:latin typeface="Arial"/>
                <a:ea typeface="Arial"/>
                <a:cs typeface="Arial"/>
              </a:rPr>
              <a:t>ARQUITECTURAS SOPORTADAS</a:t>
            </a:r>
            <a:endParaRPr lang="en-US" sz="900"/>
          </a:p>
        </p:txBody>
      </p:sp>
      <p:sp>
        <p:nvSpPr>
          <p:cNvPr id="1627613694" name="Shape 19"/>
          <p:cNvSpPr/>
          <p:nvPr/>
        </p:nvSpPr>
        <p:spPr bwMode="auto">
          <a:xfrm>
            <a:off x="4754880" y="1508759"/>
            <a:ext cx="1188720" cy="457200"/>
          </a:xfrm>
          <a:prstGeom prst="rect">
            <a:avLst/>
          </a:prstGeom>
          <a:solidFill>
            <a:srgbClr val="F6F7F8"/>
          </a:solidFill>
          <a:ln w="12700">
            <a:solidFill>
              <a:srgbClr val="66A9DC"/>
            </a:solidFill>
            <a:prstDash val="solid"/>
          </a:ln>
        </p:spPr>
      </p:sp>
      <p:sp>
        <p:nvSpPr>
          <p:cNvPr id="637826959" name="Text 20"/>
          <p:cNvSpPr/>
          <p:nvPr/>
        </p:nvSpPr>
        <p:spPr bwMode="auto">
          <a:xfrm>
            <a:off x="4754880" y="1508759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0070C5"/>
                </a:solidFill>
                <a:latin typeface="Arial"/>
                <a:ea typeface="Arial"/>
                <a:cs typeface="Arial"/>
              </a:rPr>
              <a:t>ARM</a:t>
            </a:r>
            <a:endParaRPr lang="en-US" sz="1000"/>
          </a:p>
        </p:txBody>
      </p:sp>
      <p:sp>
        <p:nvSpPr>
          <p:cNvPr id="1039095452" name="Text 21"/>
          <p:cNvSpPr/>
          <p:nvPr/>
        </p:nvSpPr>
        <p:spPr bwMode="auto">
          <a:xfrm>
            <a:off x="4754880" y="173736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7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Cortex-M/R/A</a:t>
            </a:r>
            <a:endParaRPr lang="en-US" sz="700"/>
          </a:p>
        </p:txBody>
      </p:sp>
      <p:sp>
        <p:nvSpPr>
          <p:cNvPr id="2074457712" name="Shape 22"/>
          <p:cNvSpPr/>
          <p:nvPr/>
        </p:nvSpPr>
        <p:spPr bwMode="auto">
          <a:xfrm>
            <a:off x="6080760" y="1508759"/>
            <a:ext cx="1188720" cy="457200"/>
          </a:xfrm>
          <a:prstGeom prst="rect">
            <a:avLst/>
          </a:prstGeom>
          <a:solidFill>
            <a:srgbClr val="F6F7F8"/>
          </a:solidFill>
          <a:ln w="12700">
            <a:solidFill>
              <a:srgbClr val="66A9DC"/>
            </a:solidFill>
            <a:prstDash val="solid"/>
          </a:ln>
        </p:spPr>
      </p:sp>
      <p:sp>
        <p:nvSpPr>
          <p:cNvPr id="662313425" name="Text 23"/>
          <p:cNvSpPr/>
          <p:nvPr/>
        </p:nvSpPr>
        <p:spPr bwMode="auto">
          <a:xfrm>
            <a:off x="6080760" y="1508759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0070C5"/>
                </a:solidFill>
                <a:latin typeface="Arial"/>
                <a:ea typeface="Arial"/>
                <a:cs typeface="Arial"/>
              </a:rPr>
              <a:t>RISC-V</a:t>
            </a:r>
            <a:endParaRPr lang="en-US" sz="1000"/>
          </a:p>
        </p:txBody>
      </p:sp>
      <p:sp>
        <p:nvSpPr>
          <p:cNvPr id="216352131" name="Text 24"/>
          <p:cNvSpPr/>
          <p:nvPr/>
        </p:nvSpPr>
        <p:spPr bwMode="auto">
          <a:xfrm>
            <a:off x="6080760" y="173736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7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32 y 64-bit</a:t>
            </a:r>
            <a:endParaRPr lang="en-US" sz="700"/>
          </a:p>
        </p:txBody>
      </p:sp>
      <p:sp>
        <p:nvSpPr>
          <p:cNvPr id="775095275" name="Shape 25"/>
          <p:cNvSpPr/>
          <p:nvPr/>
        </p:nvSpPr>
        <p:spPr bwMode="auto">
          <a:xfrm>
            <a:off x="7406640" y="1508759"/>
            <a:ext cx="1188720" cy="457200"/>
          </a:xfrm>
          <a:prstGeom prst="rect">
            <a:avLst/>
          </a:prstGeom>
          <a:solidFill>
            <a:srgbClr val="F6F7F8"/>
          </a:solidFill>
          <a:ln w="12700">
            <a:solidFill>
              <a:srgbClr val="66A9DC"/>
            </a:solidFill>
            <a:prstDash val="solid"/>
          </a:ln>
        </p:spPr>
      </p:sp>
      <p:sp>
        <p:nvSpPr>
          <p:cNvPr id="406379340" name="Text 26"/>
          <p:cNvSpPr/>
          <p:nvPr/>
        </p:nvSpPr>
        <p:spPr bwMode="auto">
          <a:xfrm>
            <a:off x="7406640" y="1508759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0070C5"/>
                </a:solidFill>
                <a:latin typeface="Arial"/>
                <a:ea typeface="Arial"/>
                <a:cs typeface="Arial"/>
              </a:rPr>
              <a:t>x86</a:t>
            </a:r>
            <a:endParaRPr lang="en-US" sz="1000"/>
          </a:p>
        </p:txBody>
      </p:sp>
      <p:sp>
        <p:nvSpPr>
          <p:cNvPr id="1449736169" name="Text 27"/>
          <p:cNvSpPr/>
          <p:nvPr/>
        </p:nvSpPr>
        <p:spPr bwMode="auto">
          <a:xfrm>
            <a:off x="7406640" y="173736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7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32 y 64-bit</a:t>
            </a:r>
            <a:endParaRPr lang="en-US" sz="700"/>
          </a:p>
        </p:txBody>
      </p:sp>
      <p:sp>
        <p:nvSpPr>
          <p:cNvPr id="1989474777" name="Shape 28"/>
          <p:cNvSpPr/>
          <p:nvPr/>
        </p:nvSpPr>
        <p:spPr bwMode="auto">
          <a:xfrm>
            <a:off x="4754880" y="2057400"/>
            <a:ext cx="1188720" cy="457200"/>
          </a:xfrm>
          <a:prstGeom prst="rect">
            <a:avLst/>
          </a:prstGeom>
          <a:solidFill>
            <a:srgbClr val="F6F7F8"/>
          </a:solidFill>
          <a:ln w="12700">
            <a:solidFill>
              <a:srgbClr val="66A9DC"/>
            </a:solidFill>
            <a:prstDash val="solid"/>
          </a:ln>
        </p:spPr>
      </p:sp>
      <p:sp>
        <p:nvSpPr>
          <p:cNvPr id="1868350350" name="Text 29"/>
          <p:cNvSpPr/>
          <p:nvPr/>
        </p:nvSpPr>
        <p:spPr bwMode="auto">
          <a:xfrm>
            <a:off x="4754880" y="205740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0070C5"/>
                </a:solidFill>
                <a:latin typeface="Arial"/>
                <a:ea typeface="Arial"/>
                <a:cs typeface="Arial"/>
              </a:rPr>
              <a:t>ARC</a:t>
            </a:r>
            <a:endParaRPr lang="en-US" sz="1000"/>
          </a:p>
        </p:txBody>
      </p:sp>
      <p:sp>
        <p:nvSpPr>
          <p:cNvPr id="1852496973" name="Text 30"/>
          <p:cNvSpPr/>
          <p:nvPr/>
        </p:nvSpPr>
        <p:spPr bwMode="auto">
          <a:xfrm>
            <a:off x="4754880" y="228600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7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HS, EM</a:t>
            </a:r>
            <a:endParaRPr lang="en-US" sz="700"/>
          </a:p>
        </p:txBody>
      </p:sp>
      <p:sp>
        <p:nvSpPr>
          <p:cNvPr id="1231157694" name="Shape 31"/>
          <p:cNvSpPr/>
          <p:nvPr/>
        </p:nvSpPr>
        <p:spPr bwMode="auto">
          <a:xfrm>
            <a:off x="6080760" y="2057400"/>
            <a:ext cx="1188720" cy="457200"/>
          </a:xfrm>
          <a:prstGeom prst="rect">
            <a:avLst/>
          </a:prstGeom>
          <a:solidFill>
            <a:srgbClr val="F6F7F8"/>
          </a:solidFill>
          <a:ln w="12700">
            <a:solidFill>
              <a:srgbClr val="66A9DC"/>
            </a:solidFill>
            <a:prstDash val="solid"/>
          </a:ln>
        </p:spPr>
      </p:sp>
      <p:sp>
        <p:nvSpPr>
          <p:cNvPr id="1319679777" name="Text 32"/>
          <p:cNvSpPr/>
          <p:nvPr/>
        </p:nvSpPr>
        <p:spPr bwMode="auto">
          <a:xfrm>
            <a:off x="6080760" y="205740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0070C5"/>
                </a:solidFill>
                <a:latin typeface="Arial"/>
                <a:ea typeface="Arial"/>
                <a:cs typeface="Arial"/>
              </a:rPr>
              <a:t>Nios II</a:t>
            </a:r>
            <a:endParaRPr lang="en-US" sz="1000"/>
          </a:p>
        </p:txBody>
      </p:sp>
      <p:sp>
        <p:nvSpPr>
          <p:cNvPr id="441991833" name="Text 33"/>
          <p:cNvSpPr/>
          <p:nvPr/>
        </p:nvSpPr>
        <p:spPr bwMode="auto">
          <a:xfrm>
            <a:off x="6080760" y="228600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7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Soft-core</a:t>
            </a:r>
            <a:endParaRPr lang="en-US" sz="700"/>
          </a:p>
        </p:txBody>
      </p:sp>
      <p:sp>
        <p:nvSpPr>
          <p:cNvPr id="286255905" name="Shape 34"/>
          <p:cNvSpPr/>
          <p:nvPr/>
        </p:nvSpPr>
        <p:spPr bwMode="auto">
          <a:xfrm>
            <a:off x="7406640" y="2057400"/>
            <a:ext cx="1188720" cy="457200"/>
          </a:xfrm>
          <a:prstGeom prst="rect">
            <a:avLst/>
          </a:prstGeom>
          <a:solidFill>
            <a:srgbClr val="F6F7F8"/>
          </a:solidFill>
          <a:ln w="12700">
            <a:solidFill>
              <a:srgbClr val="66A9DC"/>
            </a:solidFill>
            <a:prstDash val="solid"/>
          </a:ln>
        </p:spPr>
      </p:sp>
      <p:sp>
        <p:nvSpPr>
          <p:cNvPr id="411520766" name="Text 35"/>
          <p:cNvSpPr/>
          <p:nvPr/>
        </p:nvSpPr>
        <p:spPr bwMode="auto">
          <a:xfrm>
            <a:off x="7406640" y="205740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0070C5"/>
                </a:solidFill>
                <a:latin typeface="Arial"/>
                <a:ea typeface="Arial"/>
                <a:cs typeface="Arial"/>
              </a:rPr>
              <a:t>Xtensa</a:t>
            </a:r>
            <a:endParaRPr lang="en-US" sz="1000"/>
          </a:p>
        </p:txBody>
      </p:sp>
      <p:sp>
        <p:nvSpPr>
          <p:cNvPr id="727980494" name="Text 36"/>
          <p:cNvSpPr/>
          <p:nvPr/>
        </p:nvSpPr>
        <p:spPr bwMode="auto">
          <a:xfrm>
            <a:off x="7406640" y="228600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7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ESP32</a:t>
            </a:r>
            <a:endParaRPr lang="en-US" sz="700"/>
          </a:p>
        </p:txBody>
      </p:sp>
      <p:sp>
        <p:nvSpPr>
          <p:cNvPr id="1074979878" name="Text 38"/>
          <p:cNvSpPr/>
          <p:nvPr/>
        </p:nvSpPr>
        <p:spPr bwMode="auto">
          <a:xfrm>
            <a:off x="4746270" y="2479566"/>
            <a:ext cx="3933108" cy="3173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0070C5"/>
                </a:solidFill>
                <a:latin typeface="Calibri"/>
                <a:ea typeface="Calibri"/>
                <a:cs typeface="Calibri"/>
              </a:rPr>
              <a:t>1,000+ boards • &gt;15 arquitecturas • ~4 KB footprint mínimo</a:t>
            </a:r>
            <a:endParaRPr lang="en-US" sz="1000"/>
          </a:p>
        </p:txBody>
      </p:sp>
      <p:sp>
        <p:nvSpPr>
          <p:cNvPr id="767459152" name="Text 41"/>
          <p:cNvSpPr/>
          <p:nvPr/>
        </p:nvSpPr>
        <p:spPr bwMode="auto"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endParaRPr lang="en-US" sz="900"/>
          </a:p>
        </p:txBody>
      </p:sp>
      <p:pic>
        <p:nvPicPr>
          <p:cNvPr id="1601521007" name="Imagen 43" descr="Interfaz de usuario gráfica, Aplicación&#10;&#10;El contenido generado por IA puede ser incorrecto.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4816930" y="2748934"/>
            <a:ext cx="3762993" cy="17683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7">
    <p:bg>
      <p:bgPr shadeToTitle="0">
        <a:solidFill>
          <a:srgbClr val="F6F7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9647583" name="Shape 0"/>
          <p:cNvSpPr/>
          <p:nvPr/>
        </p:nvSpPr>
        <p:spPr bwMode="auto">
          <a:xfrm>
            <a:off x="8503920" y="4663440"/>
            <a:ext cx="365760" cy="365760"/>
          </a:xfrm>
          <a:prstGeom prst="ellipse">
            <a:avLst/>
          </a:prstGeom>
          <a:solidFill>
            <a:srgbClr val="4C5155"/>
          </a:solidFill>
          <a:ln/>
        </p:spPr>
      </p:sp>
      <p:sp>
        <p:nvSpPr>
          <p:cNvPr id="640313304" name="Text 1"/>
          <p:cNvSpPr/>
          <p:nvPr/>
        </p:nvSpPr>
        <p:spPr bwMode="auto"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  <a:endParaRPr lang="en-US" sz="1200"/>
          </a:p>
        </p:txBody>
      </p:sp>
      <p:sp>
        <p:nvSpPr>
          <p:cNvPr id="741280223" name="Text 2"/>
          <p:cNvSpPr/>
          <p:nvPr/>
        </p:nvSpPr>
        <p:spPr bwMode="auto">
          <a:xfrm>
            <a:off x="457200" y="2743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2800" b="1">
                <a:solidFill>
                  <a:srgbClr val="2D3237"/>
                </a:solidFill>
                <a:latin typeface="Arial Black"/>
                <a:ea typeface="Arial Black"/>
                <a:cs typeface="Arial Black"/>
              </a:rPr>
              <a:t>MOSIX — Características Generales</a:t>
            </a:r>
            <a:endParaRPr lang="en-US" sz="2800"/>
          </a:p>
        </p:txBody>
      </p:sp>
      <p:sp>
        <p:nvSpPr>
          <p:cNvPr id="1251871515" name="Text 3"/>
          <p:cNvSpPr/>
          <p:nvPr/>
        </p:nvSpPr>
        <p:spPr bwMode="auto">
          <a:xfrm>
            <a:off x="457200" y="777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200" i="1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Sistema operativo distribuido para clusters — Single System Image (SSI)</a:t>
            </a:r>
            <a:endParaRPr lang="en-US" sz="1200"/>
          </a:p>
        </p:txBody>
      </p:sp>
      <p:sp>
        <p:nvSpPr>
          <p:cNvPr id="1765179226" name="Shape 4"/>
          <p:cNvSpPr/>
          <p:nvPr/>
        </p:nvSpPr>
        <p:spPr bwMode="auto">
          <a:xfrm>
            <a:off x="457200" y="1143000"/>
            <a:ext cx="411480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3049472" name="Shape 5"/>
          <p:cNvSpPr/>
          <p:nvPr/>
        </p:nvSpPr>
        <p:spPr bwMode="auto">
          <a:xfrm>
            <a:off x="457200" y="1143000"/>
            <a:ext cx="4114800" cy="256032"/>
          </a:xfrm>
          <a:prstGeom prst="rect">
            <a:avLst/>
          </a:prstGeom>
          <a:solidFill>
            <a:srgbClr val="4C5155"/>
          </a:solidFill>
          <a:ln/>
        </p:spPr>
      </p:sp>
      <p:sp>
        <p:nvSpPr>
          <p:cNvPr id="1166402831" name="Text 6"/>
          <p:cNvSpPr/>
          <p:nvPr/>
        </p:nvSpPr>
        <p:spPr bwMode="auto">
          <a:xfrm>
            <a:off x="457200" y="114300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 spc="100">
                <a:solidFill>
                  <a:srgbClr val="FFFFFF"/>
                </a:solidFill>
                <a:latin typeface="Arial"/>
                <a:ea typeface="Arial"/>
                <a:cs typeface="Arial"/>
              </a:rPr>
              <a:t>¿QUÉ ES MOSIX?</a:t>
            </a:r>
            <a:endParaRPr lang="en-US" sz="900"/>
          </a:p>
        </p:txBody>
      </p:sp>
      <p:sp>
        <p:nvSpPr>
          <p:cNvPr id="809361982" name="Text 7"/>
          <p:cNvSpPr/>
          <p:nvPr/>
        </p:nvSpPr>
        <p:spPr bwMode="auto">
          <a:xfrm>
            <a:off x="548640" y="146304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Capa de software sobre Linux (no reemplaza el SO)</a:t>
            </a:r>
            <a:endParaRPr lang="en-US" sz="900"/>
          </a:p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Kernel module + daemon — desde 2014 sin parche kernel</a:t>
            </a:r>
            <a:endParaRPr lang="en-US" sz="900"/>
          </a:p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Administra cluster como un único sistema (SSI)</a:t>
            </a:r>
            <a:endParaRPr lang="en-US" sz="900"/>
          </a:p>
        </p:txBody>
      </p:sp>
      <p:sp>
        <p:nvSpPr>
          <p:cNvPr id="1812564382" name="Shape 8"/>
          <p:cNvSpPr/>
          <p:nvPr/>
        </p:nvSpPr>
        <p:spPr bwMode="auto">
          <a:xfrm>
            <a:off x="457200" y="2404753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34923403" name="Shape 9"/>
          <p:cNvSpPr/>
          <p:nvPr/>
        </p:nvSpPr>
        <p:spPr bwMode="auto">
          <a:xfrm>
            <a:off x="457200" y="2404753"/>
            <a:ext cx="4114800" cy="256032"/>
          </a:xfrm>
          <a:prstGeom prst="rect">
            <a:avLst/>
          </a:prstGeom>
          <a:solidFill>
            <a:srgbClr val="4C5155"/>
          </a:solidFill>
          <a:ln/>
        </p:spPr>
      </p:sp>
      <p:sp>
        <p:nvSpPr>
          <p:cNvPr id="1565540593" name="Text 10"/>
          <p:cNvSpPr/>
          <p:nvPr/>
        </p:nvSpPr>
        <p:spPr bwMode="auto">
          <a:xfrm>
            <a:off x="457200" y="2404753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 spc="100">
                <a:solidFill>
                  <a:srgbClr val="FFFFFF"/>
                </a:solidFill>
                <a:latin typeface="Arial"/>
                <a:ea typeface="Arial"/>
                <a:cs typeface="Arial"/>
              </a:rPr>
              <a:t>MIGRACIÓN DE PROCESOS</a:t>
            </a:r>
            <a:endParaRPr lang="en-US" sz="900"/>
          </a:p>
        </p:txBody>
      </p:sp>
      <p:sp>
        <p:nvSpPr>
          <p:cNvPr id="251927045" name="Text 11"/>
          <p:cNvSpPr/>
          <p:nvPr/>
        </p:nvSpPr>
        <p:spPr bwMode="auto">
          <a:xfrm>
            <a:off x="548640" y="2724793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Preemptiva — mueve procesos incluso en ejecución</a:t>
            </a:r>
            <a:endParaRPr lang="en-US" sz="900"/>
          </a:p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Transfiere contexto CPU + memoria completa</a:t>
            </a:r>
            <a:endParaRPr lang="en-US" sz="900"/>
          </a:p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Transparente — proceso no sabe que fue migrado</a:t>
            </a:r>
            <a:endParaRPr lang="en-US" sz="900"/>
          </a:p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Considera: CPU, memoria, comunicación inter-procesos</a:t>
            </a:r>
            <a:endParaRPr lang="en-US" sz="900"/>
          </a:p>
        </p:txBody>
      </p:sp>
      <p:sp>
        <p:nvSpPr>
          <p:cNvPr id="1217428408" name="Shape 12"/>
          <p:cNvSpPr/>
          <p:nvPr/>
        </p:nvSpPr>
        <p:spPr bwMode="auto">
          <a:xfrm>
            <a:off x="457200" y="3704804"/>
            <a:ext cx="411480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72126252" name="Shape 13"/>
          <p:cNvSpPr/>
          <p:nvPr/>
        </p:nvSpPr>
        <p:spPr bwMode="auto">
          <a:xfrm>
            <a:off x="457200" y="3704804"/>
            <a:ext cx="4114800" cy="256032"/>
          </a:xfrm>
          <a:prstGeom prst="rect">
            <a:avLst/>
          </a:prstGeom>
          <a:solidFill>
            <a:srgbClr val="4C5155"/>
          </a:solidFill>
          <a:ln/>
        </p:spPr>
      </p:sp>
      <p:sp>
        <p:nvSpPr>
          <p:cNvPr id="554616772" name="Text 14"/>
          <p:cNvSpPr/>
          <p:nvPr/>
        </p:nvSpPr>
        <p:spPr bwMode="auto">
          <a:xfrm>
            <a:off x="457200" y="370480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 spc="100">
                <a:solidFill>
                  <a:srgbClr val="FFFFFF"/>
                </a:solidFill>
                <a:latin typeface="Arial"/>
                <a:ea typeface="Arial"/>
                <a:cs typeface="Arial"/>
              </a:rPr>
              <a:t>MEMORY USHERING</a:t>
            </a:r>
            <a:endParaRPr lang="en-US" sz="900"/>
          </a:p>
        </p:txBody>
      </p:sp>
      <p:sp>
        <p:nvSpPr>
          <p:cNvPr id="1891152077" name="Text 15"/>
          <p:cNvSpPr/>
          <p:nvPr/>
        </p:nvSpPr>
        <p:spPr bwMode="auto">
          <a:xfrm>
            <a:off x="548640" y="4024844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Detecta nodos con poca memoria y migra procesos proactivamente antes de OOM</a:t>
            </a:r>
            <a:endParaRPr lang="en-US" sz="900"/>
          </a:p>
        </p:txBody>
      </p:sp>
      <p:sp>
        <p:nvSpPr>
          <p:cNvPr id="1827176887" name="Shape 16"/>
          <p:cNvSpPr/>
          <p:nvPr/>
        </p:nvSpPr>
        <p:spPr bwMode="auto">
          <a:xfrm>
            <a:off x="4709160" y="1143000"/>
            <a:ext cx="3977640" cy="1620091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46342544" name="Shape 17"/>
          <p:cNvSpPr/>
          <p:nvPr/>
        </p:nvSpPr>
        <p:spPr bwMode="auto">
          <a:xfrm>
            <a:off x="4709160" y="1143000"/>
            <a:ext cx="3977640" cy="256032"/>
          </a:xfrm>
          <a:prstGeom prst="rect">
            <a:avLst/>
          </a:prstGeom>
          <a:solidFill>
            <a:srgbClr val="4C5155"/>
          </a:solidFill>
          <a:ln/>
        </p:spPr>
      </p:sp>
      <p:sp>
        <p:nvSpPr>
          <p:cNvPr id="1847274739" name="Text 18"/>
          <p:cNvSpPr/>
          <p:nvPr/>
        </p:nvSpPr>
        <p:spPr bwMode="auto">
          <a:xfrm>
            <a:off x="4709160" y="114300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 spc="100">
                <a:solidFill>
                  <a:srgbClr val="FFFFFF"/>
                </a:solidFill>
                <a:latin typeface="Arial"/>
                <a:ea typeface="Arial"/>
                <a:cs typeface="Arial"/>
              </a:rPr>
              <a:t>SINGLE SYSTEM IMAGE (SSI)</a:t>
            </a:r>
            <a:endParaRPr lang="en-US" sz="900"/>
          </a:p>
        </p:txBody>
      </p:sp>
      <p:sp>
        <p:nvSpPr>
          <p:cNvPr id="98284431" name="Shape 19"/>
          <p:cNvSpPr/>
          <p:nvPr/>
        </p:nvSpPr>
        <p:spPr bwMode="auto">
          <a:xfrm>
            <a:off x="5760720" y="1464228"/>
            <a:ext cx="2004258" cy="211084"/>
          </a:xfrm>
          <a:prstGeom prst="rect">
            <a:avLst/>
          </a:prstGeom>
          <a:solidFill>
            <a:srgbClr val="8C9196">
              <a:alpha val="50000"/>
            </a:srgbClr>
          </a:solidFill>
          <a:ln w="12700">
            <a:solidFill>
              <a:srgbClr val="4C5155"/>
            </a:solidFill>
            <a:prstDash val="solid"/>
          </a:ln>
        </p:spPr>
      </p:sp>
      <p:sp>
        <p:nvSpPr>
          <p:cNvPr id="1736505427" name="Text 20"/>
          <p:cNvSpPr/>
          <p:nvPr/>
        </p:nvSpPr>
        <p:spPr bwMode="auto">
          <a:xfrm>
            <a:off x="5760720" y="1464228"/>
            <a:ext cx="2004258" cy="2110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Usuario / App</a:t>
            </a:r>
            <a:endParaRPr lang="en-US" sz="900"/>
          </a:p>
        </p:txBody>
      </p:sp>
      <p:sp>
        <p:nvSpPr>
          <p:cNvPr id="1642565888" name="Text 21"/>
          <p:cNvSpPr/>
          <p:nvPr/>
        </p:nvSpPr>
        <p:spPr bwMode="auto">
          <a:xfrm>
            <a:off x="6581305" y="167531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4C5155"/>
                </a:solidFill>
                <a:latin typeface="Arial"/>
                <a:ea typeface="Arial"/>
                <a:cs typeface="Arial"/>
              </a:rPr>
              <a:t>▼</a:t>
            </a:r>
            <a:endParaRPr lang="en-US" sz="1000"/>
          </a:p>
        </p:txBody>
      </p:sp>
      <p:sp>
        <p:nvSpPr>
          <p:cNvPr id="1911388594" name="Shape 22"/>
          <p:cNvSpPr/>
          <p:nvPr/>
        </p:nvSpPr>
        <p:spPr bwMode="auto">
          <a:xfrm>
            <a:off x="5422273" y="1865613"/>
            <a:ext cx="2743200" cy="308759"/>
          </a:xfrm>
          <a:prstGeom prst="rect">
            <a:avLst/>
          </a:prstGeom>
          <a:solidFill>
            <a:srgbClr val="4C5155"/>
          </a:solidFill>
          <a:ln w="12700">
            <a:solidFill>
              <a:srgbClr val="4C5155"/>
            </a:solidFill>
            <a:prstDash val="solid"/>
          </a:ln>
        </p:spPr>
      </p:sp>
      <p:sp>
        <p:nvSpPr>
          <p:cNvPr id="1212372280" name="Text 23"/>
          <p:cNvSpPr/>
          <p:nvPr/>
        </p:nvSpPr>
        <p:spPr bwMode="auto">
          <a:xfrm>
            <a:off x="5422273" y="1865613"/>
            <a:ext cx="2743200" cy="3087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CLUSTER MOSIX (SSI)</a:t>
            </a:r>
            <a:endParaRPr lang="en-US" sz="900"/>
          </a:p>
        </p:txBody>
      </p:sp>
      <p:sp>
        <p:nvSpPr>
          <p:cNvPr id="1023965511" name="Shape 24"/>
          <p:cNvSpPr/>
          <p:nvPr/>
        </p:nvSpPr>
        <p:spPr bwMode="auto">
          <a:xfrm>
            <a:off x="5385163" y="2242358"/>
            <a:ext cx="5943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5155"/>
            </a:solidFill>
            <a:prstDash val="solid"/>
          </a:ln>
        </p:spPr>
      </p:sp>
      <p:sp>
        <p:nvSpPr>
          <p:cNvPr id="963340033" name="Text 25"/>
          <p:cNvSpPr/>
          <p:nvPr/>
        </p:nvSpPr>
        <p:spPr bwMode="auto">
          <a:xfrm>
            <a:off x="5385163" y="2242358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N1</a:t>
            </a:r>
            <a:endParaRPr lang="en-US" sz="800"/>
          </a:p>
        </p:txBody>
      </p:sp>
      <p:sp>
        <p:nvSpPr>
          <p:cNvPr id="1415927877" name="Shape 26"/>
          <p:cNvSpPr/>
          <p:nvPr/>
        </p:nvSpPr>
        <p:spPr bwMode="auto">
          <a:xfrm>
            <a:off x="6116683" y="2242358"/>
            <a:ext cx="5943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5155"/>
            </a:solidFill>
            <a:prstDash val="solid"/>
          </a:ln>
        </p:spPr>
      </p:sp>
      <p:sp>
        <p:nvSpPr>
          <p:cNvPr id="1581406496" name="Text 27"/>
          <p:cNvSpPr/>
          <p:nvPr/>
        </p:nvSpPr>
        <p:spPr bwMode="auto">
          <a:xfrm>
            <a:off x="6116683" y="2242358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N2</a:t>
            </a:r>
            <a:endParaRPr lang="en-US" sz="800"/>
          </a:p>
        </p:txBody>
      </p:sp>
      <p:sp>
        <p:nvSpPr>
          <p:cNvPr id="762946113" name="Shape 28"/>
          <p:cNvSpPr/>
          <p:nvPr/>
        </p:nvSpPr>
        <p:spPr bwMode="auto">
          <a:xfrm>
            <a:off x="6848203" y="2242358"/>
            <a:ext cx="5943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5155"/>
            </a:solidFill>
            <a:prstDash val="solid"/>
          </a:ln>
        </p:spPr>
      </p:sp>
      <p:sp>
        <p:nvSpPr>
          <p:cNvPr id="264704495" name="Text 29"/>
          <p:cNvSpPr/>
          <p:nvPr/>
        </p:nvSpPr>
        <p:spPr bwMode="auto">
          <a:xfrm>
            <a:off x="6848203" y="2242358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N3</a:t>
            </a:r>
            <a:endParaRPr lang="en-US" sz="800"/>
          </a:p>
        </p:txBody>
      </p:sp>
      <p:sp>
        <p:nvSpPr>
          <p:cNvPr id="376425612" name="Shape 30"/>
          <p:cNvSpPr/>
          <p:nvPr/>
        </p:nvSpPr>
        <p:spPr bwMode="auto">
          <a:xfrm>
            <a:off x="7579723" y="2242358"/>
            <a:ext cx="5943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4C5155"/>
            </a:solidFill>
            <a:prstDash val="solid"/>
          </a:ln>
        </p:spPr>
      </p:sp>
      <p:sp>
        <p:nvSpPr>
          <p:cNvPr id="1867755103" name="Text 31"/>
          <p:cNvSpPr/>
          <p:nvPr/>
        </p:nvSpPr>
        <p:spPr bwMode="auto">
          <a:xfrm>
            <a:off x="7579723" y="2242358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N4</a:t>
            </a:r>
            <a:endParaRPr lang="en-US" sz="800"/>
          </a:p>
        </p:txBody>
      </p:sp>
      <p:sp>
        <p:nvSpPr>
          <p:cNvPr id="1731261628" name="Text 33"/>
          <p:cNvSpPr/>
          <p:nvPr/>
        </p:nvSpPr>
        <p:spPr bwMode="auto">
          <a:xfrm>
            <a:off x="4867399" y="2535381"/>
            <a:ext cx="3794760" cy="257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DFSA: acceso transparente a archivos en cualquier nodo</a:t>
            </a:r>
            <a:endParaRPr lang="en-US" sz="900"/>
          </a:p>
        </p:txBody>
      </p:sp>
      <p:sp>
        <p:nvSpPr>
          <p:cNvPr id="723446660" name="Text 36"/>
          <p:cNvSpPr/>
          <p:nvPr/>
        </p:nvSpPr>
        <p:spPr bwMode="auto"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endParaRPr lang="en-US" sz="900"/>
          </a:p>
        </p:txBody>
      </p:sp>
      <p:pic>
        <p:nvPicPr>
          <p:cNvPr id="875155108" name="Imagen 38" descr="Diagrama&#10;&#10;El contenido generado por IA puede ser incorrecto.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5248561" y="2835234"/>
            <a:ext cx="2899730" cy="18035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8">
    <p:bg>
      <p:bgPr shadeToTitle="0">
        <a:solidFill>
          <a:srgbClr val="F6F7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71770" name="Shape 0"/>
          <p:cNvSpPr/>
          <p:nvPr/>
        </p:nvSpPr>
        <p:spPr bwMode="auto">
          <a:xfrm>
            <a:off x="8503920" y="4663440"/>
            <a:ext cx="365760" cy="365760"/>
          </a:xfrm>
          <a:prstGeom prst="ellipse">
            <a:avLst/>
          </a:prstGeom>
          <a:solidFill>
            <a:srgbClr val="0070C5"/>
          </a:solidFill>
          <a:ln/>
        </p:spPr>
      </p:sp>
      <p:sp>
        <p:nvSpPr>
          <p:cNvPr id="1449491111" name="Text 1"/>
          <p:cNvSpPr/>
          <p:nvPr/>
        </p:nvSpPr>
        <p:spPr bwMode="auto"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  <a:endParaRPr lang="en-US" sz="1200"/>
          </a:p>
        </p:txBody>
      </p:sp>
      <p:sp>
        <p:nvSpPr>
          <p:cNvPr id="1958689338" name="Text 2"/>
          <p:cNvSpPr/>
          <p:nvPr/>
        </p:nvSpPr>
        <p:spPr bwMode="auto">
          <a:xfrm>
            <a:off x="457200" y="2743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2800" b="1">
                <a:solidFill>
                  <a:srgbClr val="2D3237"/>
                </a:solidFill>
                <a:latin typeface="Arial Black"/>
                <a:ea typeface="Arial Black"/>
                <a:cs typeface="Arial Black"/>
              </a:rPr>
              <a:t>Zephyr OS — Sistema de Archivos</a:t>
            </a:r>
            <a:endParaRPr lang="en-US" sz="2800"/>
          </a:p>
        </p:txBody>
      </p:sp>
      <p:sp>
        <p:nvSpPr>
          <p:cNvPr id="1113023654" name="Text 3"/>
          <p:cNvSpPr/>
          <p:nvPr/>
        </p:nvSpPr>
        <p:spPr bwMode="auto">
          <a:xfrm>
            <a:off x="457200" y="777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200" i="1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VFS con API POSIX-like — tres sistemas de archivos nativos</a:t>
            </a:r>
            <a:endParaRPr lang="en-US" sz="1200"/>
          </a:p>
        </p:txBody>
      </p:sp>
      <p:sp>
        <p:nvSpPr>
          <p:cNvPr id="1033898870" name="Shape 4"/>
          <p:cNvSpPr/>
          <p:nvPr/>
        </p:nvSpPr>
        <p:spPr bwMode="auto">
          <a:xfrm>
            <a:off x="532906" y="1623426"/>
            <a:ext cx="3798118" cy="367651"/>
          </a:xfrm>
          <a:prstGeom prst="rect">
            <a:avLst/>
          </a:prstGeom>
          <a:solidFill>
            <a:srgbClr val="0070C5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05374340" name="Text 5"/>
          <p:cNvSpPr/>
          <p:nvPr/>
        </p:nvSpPr>
        <p:spPr bwMode="auto">
          <a:xfrm>
            <a:off x="532906" y="1623426"/>
            <a:ext cx="3798118" cy="36765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Virtual File System Switch (VFS)</a:t>
            </a:r>
            <a:endParaRPr lang="en-US" sz="1200">
              <a:latin typeface="Arial"/>
              <a:ea typeface="Calibri"/>
              <a:cs typeface="Calibri"/>
            </a:endParaRPr>
          </a:p>
        </p:txBody>
      </p:sp>
      <p:grpSp>
        <p:nvGrpSpPr>
          <p:cNvPr id="1139128836" name="Grupo 7"/>
          <p:cNvGrpSpPr/>
          <p:nvPr/>
        </p:nvGrpSpPr>
        <p:grpSpPr bwMode="auto">
          <a:xfrm>
            <a:off x="555110" y="2255155"/>
            <a:ext cx="1127566" cy="561775"/>
            <a:chOff x="555110" y="2214814"/>
            <a:chExt cx="1127566" cy="797098"/>
          </a:xfrm>
        </p:grpSpPr>
        <p:sp>
          <p:nvSpPr>
            <p:cNvPr id="9" name="Shape 7"/>
            <p:cNvSpPr/>
            <p:nvPr/>
          </p:nvSpPr>
          <p:spPr bwMode="auto">
            <a:xfrm>
              <a:off x="555110" y="2214814"/>
              <a:ext cx="1127566" cy="79709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70C5"/>
              </a:solidFill>
              <a:prstDash val="solid"/>
            </a:ln>
          </p:spPr>
        </p:sp>
        <p:sp>
          <p:nvSpPr>
            <p:cNvPr id="10" name="Text 8"/>
            <p:cNvSpPr/>
            <p:nvPr/>
          </p:nvSpPr>
          <p:spPr bwMode="auto">
            <a:xfrm>
              <a:off x="555110" y="2332262"/>
              <a:ext cx="1127566" cy="39854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  <a:defRPr/>
              </a:pPr>
              <a:r>
                <a:rPr lang="en-US" sz="1100" b="1">
                  <a:solidFill>
                    <a:srgbClr val="0070C5"/>
                  </a:solidFill>
                  <a:latin typeface="Arial"/>
                  <a:ea typeface="Arial"/>
                  <a:cs typeface="Arial"/>
                </a:rPr>
                <a:t>LittleFS</a:t>
              </a:r>
              <a:endParaRPr lang="en-US" sz="1100"/>
            </a:p>
          </p:txBody>
        </p:sp>
        <p:sp>
          <p:nvSpPr>
            <p:cNvPr id="11" name="Text 9"/>
            <p:cNvSpPr/>
            <p:nvPr/>
          </p:nvSpPr>
          <p:spPr bwMode="auto">
            <a:xfrm>
              <a:off x="555110" y="2584917"/>
              <a:ext cx="1127566" cy="31883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  <a:defRPr/>
              </a:pPr>
              <a:r>
                <a:rPr lang="en-US" sz="800">
                  <a:solidFill>
                    <a:srgbClr val="4C5155"/>
                  </a:solidFill>
                  <a:latin typeface="Calibri"/>
                  <a:ea typeface="Calibri"/>
                  <a:cs typeface="Calibri"/>
                </a:rPr>
                <a:t>Log-structured</a:t>
              </a:r>
              <a:endParaRPr lang="en-US" sz="800"/>
            </a:p>
          </p:txBody>
        </p:sp>
      </p:grpSp>
      <p:grpSp>
        <p:nvGrpSpPr>
          <p:cNvPr id="1642489298" name="Grupo 17"/>
          <p:cNvGrpSpPr/>
          <p:nvPr/>
        </p:nvGrpSpPr>
        <p:grpSpPr bwMode="auto">
          <a:xfrm>
            <a:off x="1868104" y="2255155"/>
            <a:ext cx="1127566" cy="561775"/>
            <a:chOff x="1868104" y="2214814"/>
            <a:chExt cx="1127566" cy="797098"/>
          </a:xfrm>
        </p:grpSpPr>
        <p:sp>
          <p:nvSpPr>
            <p:cNvPr id="12" name="Shape 10"/>
            <p:cNvSpPr/>
            <p:nvPr/>
          </p:nvSpPr>
          <p:spPr bwMode="auto">
            <a:xfrm>
              <a:off x="1868104" y="2214814"/>
              <a:ext cx="1127566" cy="79709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70C5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 bwMode="auto">
            <a:xfrm>
              <a:off x="1868104" y="2332262"/>
              <a:ext cx="1127566" cy="39854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  <a:defRPr/>
              </a:pPr>
              <a:r>
                <a:rPr lang="en-US" sz="1100" b="1">
                  <a:solidFill>
                    <a:srgbClr val="0070C5"/>
                  </a:solidFill>
                  <a:latin typeface="Arial"/>
                  <a:ea typeface="Arial"/>
                  <a:cs typeface="Arial"/>
                </a:rPr>
                <a:t>FAT FS</a:t>
              </a:r>
              <a:endParaRPr lang="en-US" sz="1100"/>
            </a:p>
          </p:txBody>
        </p:sp>
        <p:sp>
          <p:nvSpPr>
            <p:cNvPr id="14" name="Text 12"/>
            <p:cNvSpPr/>
            <p:nvPr/>
          </p:nvSpPr>
          <p:spPr bwMode="auto">
            <a:xfrm>
              <a:off x="1868104" y="2584917"/>
              <a:ext cx="1127566" cy="31883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  <a:defRPr/>
              </a:pPr>
              <a:r>
                <a:rPr lang="en-US" sz="800">
                  <a:solidFill>
                    <a:srgbClr val="4C5155"/>
                  </a:solidFill>
                  <a:latin typeface="Calibri"/>
                  <a:ea typeface="Calibri"/>
                  <a:cs typeface="Calibri"/>
                </a:rPr>
                <a:t>MSDOS-style</a:t>
              </a:r>
              <a:endParaRPr lang="en-US" sz="800"/>
            </a:p>
          </p:txBody>
        </p:sp>
      </p:grpSp>
      <p:grpSp>
        <p:nvGrpSpPr>
          <p:cNvPr id="1805631397" name="Grupo 38"/>
          <p:cNvGrpSpPr/>
          <p:nvPr/>
        </p:nvGrpSpPr>
        <p:grpSpPr bwMode="auto">
          <a:xfrm>
            <a:off x="3188521" y="2255155"/>
            <a:ext cx="1127566" cy="561775"/>
            <a:chOff x="3188521" y="2214814"/>
            <a:chExt cx="1127566" cy="797098"/>
          </a:xfrm>
        </p:grpSpPr>
        <p:sp>
          <p:nvSpPr>
            <p:cNvPr id="15" name="Shape 13"/>
            <p:cNvSpPr/>
            <p:nvPr/>
          </p:nvSpPr>
          <p:spPr bwMode="auto">
            <a:xfrm>
              <a:off x="3188521" y="2214814"/>
              <a:ext cx="1127566" cy="797098"/>
            </a:xfrm>
            <a:prstGeom prst="rect">
              <a:avLst/>
            </a:prstGeom>
            <a:solidFill>
              <a:srgbClr val="FFFFFF"/>
            </a:solidFill>
            <a:ln w="25400">
              <a:solidFill>
                <a:srgbClr val="0070C5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 bwMode="auto">
            <a:xfrm>
              <a:off x="3188521" y="2332262"/>
              <a:ext cx="1127566" cy="398549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  <a:defRPr/>
              </a:pPr>
              <a:r>
                <a:rPr lang="en-US" sz="1100" b="1">
                  <a:solidFill>
                    <a:srgbClr val="0070C5"/>
                  </a:solidFill>
                  <a:latin typeface="Arial"/>
                  <a:ea typeface="Arial"/>
                  <a:cs typeface="Arial"/>
                </a:rPr>
                <a:t>NVS</a:t>
              </a:r>
              <a:endParaRPr lang="en-US" sz="1100"/>
            </a:p>
          </p:txBody>
        </p:sp>
        <p:sp>
          <p:nvSpPr>
            <p:cNvPr id="17" name="Text 15"/>
            <p:cNvSpPr/>
            <p:nvPr/>
          </p:nvSpPr>
          <p:spPr bwMode="auto">
            <a:xfrm>
              <a:off x="3188521" y="2584917"/>
              <a:ext cx="1127566" cy="31883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  <a:defRPr/>
              </a:pPr>
              <a:r>
                <a:rPr lang="en-US" sz="800">
                  <a:solidFill>
                    <a:srgbClr val="4C5155"/>
                  </a:solidFill>
                  <a:latin typeface="Calibri"/>
                  <a:ea typeface="Calibri"/>
                  <a:cs typeface="Calibri"/>
                </a:rPr>
                <a:t>Key-value</a:t>
              </a:r>
              <a:endParaRPr lang="en-US" sz="800"/>
            </a:p>
          </p:txBody>
        </p:sp>
      </p:grpSp>
      <p:sp>
        <p:nvSpPr>
          <p:cNvPr id="1505712158" name="Shape 17"/>
          <p:cNvSpPr/>
          <p:nvPr/>
        </p:nvSpPr>
        <p:spPr bwMode="auto">
          <a:xfrm>
            <a:off x="532906" y="3077860"/>
            <a:ext cx="3798118" cy="327738"/>
          </a:xfrm>
          <a:prstGeom prst="rect">
            <a:avLst/>
          </a:prstGeom>
          <a:solidFill>
            <a:schemeClr val="bg2"/>
          </a:solidFill>
          <a:ln w="12700">
            <a:solidFill>
              <a:srgbClr val="4C5155"/>
            </a:solidFill>
            <a:prstDash val="solid"/>
          </a:ln>
        </p:spPr>
      </p:sp>
      <p:sp>
        <p:nvSpPr>
          <p:cNvPr id="1921773265" name="Text 18"/>
          <p:cNvSpPr/>
          <p:nvPr/>
        </p:nvSpPr>
        <p:spPr bwMode="auto">
          <a:xfrm>
            <a:off x="532906" y="3077860"/>
            <a:ext cx="3798118" cy="32773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  <a:defRPr/>
            </a:pPr>
            <a:r>
              <a:rPr lang="en-US" sz="105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Dispositivos</a:t>
            </a:r>
            <a:r>
              <a:rPr lang="en-US" sz="105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05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almacenamiento</a:t>
            </a:r>
            <a:r>
              <a:rPr lang="en-US" sz="105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 (flash, SD)</a:t>
            </a:r>
            <a:endParaRPr lang="en-US" sz="1050">
              <a:latin typeface="Calibri"/>
              <a:ea typeface="Calibri"/>
              <a:cs typeface="Calibri"/>
            </a:endParaRPr>
          </a:p>
        </p:txBody>
      </p:sp>
      <p:sp>
        <p:nvSpPr>
          <p:cNvPr id="196053433" name="Shape 19"/>
          <p:cNvSpPr/>
          <p:nvPr/>
        </p:nvSpPr>
        <p:spPr bwMode="auto">
          <a:xfrm>
            <a:off x="4572000" y="1143000"/>
            <a:ext cx="41148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30772072" name="Shape 20"/>
          <p:cNvSpPr/>
          <p:nvPr/>
        </p:nvSpPr>
        <p:spPr bwMode="auto">
          <a:xfrm>
            <a:off x="4572000" y="1143000"/>
            <a:ext cx="109728" cy="868680"/>
          </a:xfrm>
          <a:prstGeom prst="rect">
            <a:avLst/>
          </a:prstGeom>
          <a:solidFill>
            <a:srgbClr val="0070C5"/>
          </a:solidFill>
          <a:ln/>
        </p:spPr>
      </p:sp>
      <p:sp>
        <p:nvSpPr>
          <p:cNvPr id="1610279786" name="Text 21"/>
          <p:cNvSpPr/>
          <p:nvPr/>
        </p:nvSpPr>
        <p:spPr bwMode="auto">
          <a:xfrm>
            <a:off x="4754880" y="117043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100" b="1">
                <a:solidFill>
                  <a:srgbClr val="0070C5"/>
                </a:solidFill>
                <a:latin typeface="Arial"/>
                <a:ea typeface="Arial"/>
                <a:cs typeface="Arial"/>
              </a:rPr>
              <a:t>LittleFS</a:t>
            </a:r>
            <a:endParaRPr lang="en-US" sz="1100"/>
          </a:p>
        </p:txBody>
      </p:sp>
      <p:sp>
        <p:nvSpPr>
          <p:cNvPr id="1264785833" name="Text 22"/>
          <p:cNvSpPr/>
          <p:nvPr/>
        </p:nvSpPr>
        <p:spPr bwMode="auto">
          <a:xfrm>
            <a:off x="4754880" y="14173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Log-structured, wear leveling, tolerante a fallas. Optimizado para flash con limitadas escrituras.</a:t>
            </a:r>
            <a:endParaRPr lang="en-US" sz="900"/>
          </a:p>
        </p:txBody>
      </p:sp>
      <p:sp>
        <p:nvSpPr>
          <p:cNvPr id="2119211991" name="Shape 23"/>
          <p:cNvSpPr/>
          <p:nvPr/>
        </p:nvSpPr>
        <p:spPr bwMode="auto">
          <a:xfrm>
            <a:off x="4572000" y="2103120"/>
            <a:ext cx="41148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31576344" name="Shape 24"/>
          <p:cNvSpPr/>
          <p:nvPr/>
        </p:nvSpPr>
        <p:spPr bwMode="auto">
          <a:xfrm>
            <a:off x="4572000" y="2103120"/>
            <a:ext cx="109728" cy="868680"/>
          </a:xfrm>
          <a:prstGeom prst="rect">
            <a:avLst/>
          </a:prstGeom>
          <a:solidFill>
            <a:srgbClr val="0070C5"/>
          </a:solidFill>
          <a:ln/>
        </p:spPr>
      </p:sp>
      <p:sp>
        <p:nvSpPr>
          <p:cNvPr id="724519254" name="Text 25"/>
          <p:cNvSpPr/>
          <p:nvPr/>
        </p:nvSpPr>
        <p:spPr bwMode="auto">
          <a:xfrm>
            <a:off x="4754880" y="213055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100" b="1">
                <a:solidFill>
                  <a:srgbClr val="0070C5"/>
                </a:solidFill>
                <a:latin typeface="Arial"/>
                <a:ea typeface="Arial"/>
                <a:cs typeface="Arial"/>
              </a:rPr>
              <a:t>FAT FS</a:t>
            </a:r>
            <a:endParaRPr lang="en-US" sz="1100"/>
          </a:p>
        </p:txBody>
      </p:sp>
      <p:sp>
        <p:nvSpPr>
          <p:cNvPr id="1988204553" name="Text 26"/>
          <p:cNvSpPr/>
          <p:nvPr/>
        </p:nvSpPr>
        <p:spPr bwMode="auto">
          <a:xfrm>
            <a:off x="4754880" y="23774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Implementación de ChaN (FatFS). Portabilidad MSDOS, ampliamente compatible.</a:t>
            </a:r>
            <a:endParaRPr lang="en-US" sz="900"/>
          </a:p>
        </p:txBody>
      </p:sp>
      <p:sp>
        <p:nvSpPr>
          <p:cNvPr id="1940217530" name="Shape 27"/>
          <p:cNvSpPr/>
          <p:nvPr/>
        </p:nvSpPr>
        <p:spPr bwMode="auto">
          <a:xfrm>
            <a:off x="4572000" y="3063240"/>
            <a:ext cx="411480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46219692" name="Shape 28"/>
          <p:cNvSpPr/>
          <p:nvPr/>
        </p:nvSpPr>
        <p:spPr bwMode="auto">
          <a:xfrm>
            <a:off x="4572000" y="3063240"/>
            <a:ext cx="109728" cy="868680"/>
          </a:xfrm>
          <a:prstGeom prst="rect">
            <a:avLst/>
          </a:prstGeom>
          <a:solidFill>
            <a:srgbClr val="0070C5"/>
          </a:solidFill>
          <a:ln/>
        </p:spPr>
      </p:sp>
      <p:sp>
        <p:nvSpPr>
          <p:cNvPr id="1066987244" name="Text 29"/>
          <p:cNvSpPr/>
          <p:nvPr/>
        </p:nvSpPr>
        <p:spPr bwMode="auto">
          <a:xfrm>
            <a:off x="4754880" y="309067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100" b="1">
                <a:solidFill>
                  <a:srgbClr val="0070C5"/>
                </a:solidFill>
                <a:latin typeface="Arial"/>
                <a:ea typeface="Arial"/>
                <a:cs typeface="Arial"/>
              </a:rPr>
              <a:t>NVS (Non-Volatile Storage)</a:t>
            </a:r>
            <a:endParaRPr lang="en-US" sz="1100"/>
          </a:p>
        </p:txBody>
      </p:sp>
      <p:sp>
        <p:nvSpPr>
          <p:cNvPr id="371548904" name="Text 30"/>
          <p:cNvSpPr/>
          <p:nvPr/>
        </p:nvSpPr>
        <p:spPr bwMode="auto">
          <a:xfrm>
            <a:off x="4754880" y="33375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Almacenamiento clave-valor simple para configuración. Sin archivos ni directorios.</a:t>
            </a:r>
            <a:endParaRPr lang="en-US" sz="900"/>
          </a:p>
        </p:txBody>
      </p:sp>
      <p:sp>
        <p:nvSpPr>
          <p:cNvPr id="1157327380" name="Shape 31"/>
          <p:cNvSpPr/>
          <p:nvPr/>
        </p:nvSpPr>
        <p:spPr bwMode="auto">
          <a:xfrm>
            <a:off x="457200" y="4069080"/>
            <a:ext cx="822960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61415399" name="Shape 32"/>
          <p:cNvSpPr/>
          <p:nvPr/>
        </p:nvSpPr>
        <p:spPr bwMode="auto">
          <a:xfrm>
            <a:off x="457200" y="4069080"/>
            <a:ext cx="8229600" cy="256032"/>
          </a:xfrm>
          <a:prstGeom prst="rect">
            <a:avLst/>
          </a:prstGeom>
          <a:solidFill>
            <a:srgbClr val="0070C5"/>
          </a:solidFill>
          <a:ln/>
        </p:spPr>
      </p:sp>
      <p:sp>
        <p:nvSpPr>
          <p:cNvPr id="631840211" name="Text 33"/>
          <p:cNvSpPr/>
          <p:nvPr/>
        </p:nvSpPr>
        <p:spPr bwMode="auto">
          <a:xfrm>
            <a:off x="457200" y="40690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 spc="100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COMPARACIÓN CON UNIX </a:t>
            </a:r>
            <a:endParaRPr lang="en-US" sz="900"/>
          </a:p>
        </p:txBody>
      </p:sp>
      <p:sp>
        <p:nvSpPr>
          <p:cNvPr id="1498425539" name="Text 34"/>
          <p:cNvSpPr/>
          <p:nvPr/>
        </p:nvSpPr>
        <p:spPr bwMode="auto">
          <a:xfrm>
            <a:off x="548640" y="4370832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✗ Sin i-nodos ✗ Sin symbolic links ✗ Sin permisos rwx (no hay owner/group) ✗ NVS sin nombres de archivo</a:t>
            </a:r>
            <a:endParaRPr lang="en-US" sz="900"/>
          </a:p>
        </p:txBody>
      </p:sp>
      <p:sp>
        <p:nvSpPr>
          <p:cNvPr id="1178458421" name="Text 35"/>
          <p:cNvSpPr/>
          <p:nvPr/>
        </p:nvSpPr>
        <p:spPr bwMode="auto">
          <a:xfrm>
            <a:off x="457200" y="477316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endParaRPr lang="en-US" sz="900"/>
          </a:p>
        </p:txBody>
      </p:sp>
      <p:sp>
        <p:nvSpPr>
          <p:cNvPr id="29192483" name="Text 21"/>
          <p:cNvSpPr/>
          <p:nvPr/>
        </p:nvSpPr>
        <p:spPr bwMode="auto">
          <a:xfrm>
            <a:off x="844042" y="2019697"/>
            <a:ext cx="489309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4C5155"/>
                </a:solidFill>
                <a:latin typeface="Arial"/>
                <a:ea typeface="Arial"/>
                <a:cs typeface="Arial"/>
              </a:rPr>
              <a:t>▼</a:t>
            </a:r>
            <a:endParaRPr lang="en-US" sz="1000"/>
          </a:p>
        </p:txBody>
      </p:sp>
      <p:sp>
        <p:nvSpPr>
          <p:cNvPr id="1606962944" name="Text 21"/>
          <p:cNvSpPr/>
          <p:nvPr/>
        </p:nvSpPr>
        <p:spPr bwMode="auto">
          <a:xfrm>
            <a:off x="2193729" y="2019697"/>
            <a:ext cx="489309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4C5155"/>
                </a:solidFill>
                <a:latin typeface="Arial"/>
                <a:ea typeface="Arial"/>
                <a:cs typeface="Arial"/>
              </a:rPr>
              <a:t>▼</a:t>
            </a:r>
            <a:endParaRPr lang="en-US" sz="1000"/>
          </a:p>
        </p:txBody>
      </p:sp>
      <p:sp>
        <p:nvSpPr>
          <p:cNvPr id="472012371" name="Text 21"/>
          <p:cNvSpPr/>
          <p:nvPr/>
        </p:nvSpPr>
        <p:spPr bwMode="auto">
          <a:xfrm>
            <a:off x="3496347" y="2019697"/>
            <a:ext cx="489309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4C5155"/>
                </a:solidFill>
                <a:latin typeface="Arial"/>
                <a:ea typeface="Arial"/>
                <a:cs typeface="Arial"/>
              </a:rPr>
              <a:t>▼</a:t>
            </a:r>
            <a:endParaRPr lang="en-US" sz="1000"/>
          </a:p>
        </p:txBody>
      </p:sp>
      <p:sp>
        <p:nvSpPr>
          <p:cNvPr id="243156053" name="Text 21"/>
          <p:cNvSpPr/>
          <p:nvPr/>
        </p:nvSpPr>
        <p:spPr bwMode="auto">
          <a:xfrm>
            <a:off x="844040" y="2849485"/>
            <a:ext cx="489309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4C5155"/>
                </a:solidFill>
                <a:latin typeface="Arial"/>
                <a:ea typeface="Arial"/>
                <a:cs typeface="Arial"/>
              </a:rPr>
              <a:t>▼</a:t>
            </a:r>
            <a:endParaRPr lang="en-US" sz="1000"/>
          </a:p>
        </p:txBody>
      </p:sp>
      <p:sp>
        <p:nvSpPr>
          <p:cNvPr id="2090050859" name="Text 21"/>
          <p:cNvSpPr/>
          <p:nvPr/>
        </p:nvSpPr>
        <p:spPr bwMode="auto">
          <a:xfrm>
            <a:off x="2193725" y="2849485"/>
            <a:ext cx="489309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4C5155"/>
                </a:solidFill>
                <a:latin typeface="Arial"/>
                <a:ea typeface="Arial"/>
                <a:cs typeface="Arial"/>
              </a:rPr>
              <a:t>▼</a:t>
            </a:r>
            <a:endParaRPr lang="en-US" sz="1000"/>
          </a:p>
        </p:txBody>
      </p:sp>
      <p:sp>
        <p:nvSpPr>
          <p:cNvPr id="1758873549" name="Text 21"/>
          <p:cNvSpPr/>
          <p:nvPr/>
        </p:nvSpPr>
        <p:spPr bwMode="auto">
          <a:xfrm>
            <a:off x="3496341" y="2849485"/>
            <a:ext cx="489309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4C5155"/>
                </a:solidFill>
                <a:latin typeface="Arial"/>
                <a:ea typeface="Arial"/>
                <a:cs typeface="Arial"/>
              </a:rPr>
              <a:t>▼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9">
    <p:bg>
      <p:bgPr shadeToTitle="0">
        <a:solidFill>
          <a:srgbClr val="F6F7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7737204" name="Shape 0"/>
          <p:cNvSpPr/>
          <p:nvPr/>
        </p:nvSpPr>
        <p:spPr bwMode="auto">
          <a:xfrm>
            <a:off x="8503920" y="4663440"/>
            <a:ext cx="365760" cy="365760"/>
          </a:xfrm>
          <a:prstGeom prst="ellipse">
            <a:avLst/>
          </a:prstGeom>
          <a:solidFill>
            <a:srgbClr val="4C5155"/>
          </a:solidFill>
          <a:ln/>
        </p:spPr>
      </p:sp>
      <p:sp>
        <p:nvSpPr>
          <p:cNvPr id="994688836" name="Text 1"/>
          <p:cNvSpPr/>
          <p:nvPr/>
        </p:nvSpPr>
        <p:spPr bwMode="auto"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</a:t>
            </a:r>
            <a:endParaRPr lang="en-US" sz="1200"/>
          </a:p>
        </p:txBody>
      </p:sp>
      <p:sp>
        <p:nvSpPr>
          <p:cNvPr id="1329507624" name="Text 2"/>
          <p:cNvSpPr/>
          <p:nvPr/>
        </p:nvSpPr>
        <p:spPr bwMode="auto">
          <a:xfrm>
            <a:off x="457200" y="2743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2800" b="1">
                <a:solidFill>
                  <a:srgbClr val="2D3237"/>
                </a:solidFill>
                <a:latin typeface="Arial Black"/>
                <a:ea typeface="Arial Black"/>
                <a:cs typeface="Arial Black"/>
              </a:rPr>
              <a:t>MOSIX — Sistema de Archivos</a:t>
            </a:r>
            <a:endParaRPr lang="en-US" sz="2800"/>
          </a:p>
        </p:txBody>
      </p:sp>
      <p:sp>
        <p:nvSpPr>
          <p:cNvPr id="679375747" name="Text 3"/>
          <p:cNvSpPr/>
          <p:nvPr/>
        </p:nvSpPr>
        <p:spPr bwMode="auto">
          <a:xfrm>
            <a:off x="457200" y="777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200" i="1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DFSA — Acceso transparente a archivos en cualquier nodo del cluster</a:t>
            </a:r>
            <a:endParaRPr lang="en-US" sz="1200"/>
          </a:p>
        </p:txBody>
      </p:sp>
      <p:sp>
        <p:nvSpPr>
          <p:cNvPr id="1493436477" name="Shape 4"/>
          <p:cNvSpPr/>
          <p:nvPr/>
        </p:nvSpPr>
        <p:spPr bwMode="auto">
          <a:xfrm>
            <a:off x="457200" y="1054147"/>
            <a:ext cx="4114800" cy="319091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73029709" name="Shape 5"/>
          <p:cNvSpPr/>
          <p:nvPr/>
        </p:nvSpPr>
        <p:spPr bwMode="auto">
          <a:xfrm>
            <a:off x="457200" y="1097280"/>
            <a:ext cx="4114800" cy="274320"/>
          </a:xfrm>
          <a:prstGeom prst="rect">
            <a:avLst/>
          </a:prstGeom>
          <a:solidFill>
            <a:srgbClr val="4C5155"/>
          </a:solidFill>
          <a:ln/>
        </p:spPr>
      </p:sp>
      <p:sp>
        <p:nvSpPr>
          <p:cNvPr id="1176110068" name="Text 6"/>
          <p:cNvSpPr/>
          <p:nvPr/>
        </p:nvSpPr>
        <p:spPr bwMode="auto">
          <a:xfrm>
            <a:off x="45720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 spc="100">
                <a:solidFill>
                  <a:srgbClr val="FFFFFF"/>
                </a:solidFill>
                <a:latin typeface="Arial"/>
                <a:ea typeface="Arial"/>
                <a:cs typeface="Arial"/>
              </a:rPr>
              <a:t>DFSA — INTERCEPTION FLOW</a:t>
            </a:r>
            <a:endParaRPr lang="en-US" sz="900"/>
          </a:p>
        </p:txBody>
      </p:sp>
      <p:sp>
        <p:nvSpPr>
          <p:cNvPr id="1475304224" name="Shape 7"/>
          <p:cNvSpPr/>
          <p:nvPr/>
        </p:nvSpPr>
        <p:spPr bwMode="auto">
          <a:xfrm>
            <a:off x="640080" y="1584241"/>
            <a:ext cx="1645920" cy="554247"/>
          </a:xfrm>
          <a:prstGeom prst="rect">
            <a:avLst/>
          </a:prstGeom>
          <a:solidFill>
            <a:srgbClr val="F6F7F8"/>
          </a:solidFill>
          <a:ln w="12700">
            <a:solidFill>
              <a:srgbClr val="4C5155"/>
            </a:solidFill>
            <a:prstDash val="solid"/>
          </a:ln>
        </p:spPr>
      </p:sp>
      <p:sp>
        <p:nvSpPr>
          <p:cNvPr id="1789420634" name="Text 8"/>
          <p:cNvSpPr/>
          <p:nvPr/>
        </p:nvSpPr>
        <p:spPr bwMode="auto">
          <a:xfrm>
            <a:off x="640080" y="1627372"/>
            <a:ext cx="164592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  <a:defRPr/>
            </a:pPr>
            <a:r>
              <a:rPr lang="en-US" sz="105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Proceso</a:t>
            </a:r>
            <a:endParaRPr lang="en-US" sz="1050">
              <a:latin typeface="Calibri"/>
              <a:ea typeface="Calibri"/>
              <a:cs typeface="Calibri"/>
            </a:endParaRPr>
          </a:p>
          <a:p>
            <a:pPr marL="0" indent="0" algn="ctr">
              <a:buNone/>
              <a:defRPr/>
            </a:pPr>
            <a:r>
              <a:rPr lang="en-US" sz="105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(</a:t>
            </a:r>
            <a:r>
              <a:rPr lang="en-US" sz="105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Nodo</a:t>
            </a:r>
            <a:r>
              <a:rPr lang="en-US" sz="105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 A)</a:t>
            </a:r>
            <a:endParaRPr lang="en-US" sz="1050">
              <a:latin typeface="Calibri"/>
              <a:ea typeface="Calibri"/>
              <a:cs typeface="Calibri"/>
            </a:endParaRPr>
          </a:p>
        </p:txBody>
      </p:sp>
      <p:sp>
        <p:nvSpPr>
          <p:cNvPr id="1629005389" name="Text 9"/>
          <p:cNvSpPr/>
          <p:nvPr/>
        </p:nvSpPr>
        <p:spPr bwMode="auto">
          <a:xfrm>
            <a:off x="2286000" y="1718813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>
                <a:solidFill>
                  <a:srgbClr val="4C5155"/>
                </a:solidFill>
                <a:latin typeface="Arial"/>
                <a:ea typeface="Arial"/>
                <a:cs typeface="Arial"/>
              </a:rPr>
              <a:t>→</a:t>
            </a:r>
            <a:endParaRPr lang="en-US" sz="1600"/>
          </a:p>
        </p:txBody>
      </p:sp>
      <p:sp>
        <p:nvSpPr>
          <p:cNvPr id="1155523989" name="Shape 10"/>
          <p:cNvSpPr/>
          <p:nvPr/>
        </p:nvSpPr>
        <p:spPr bwMode="auto">
          <a:xfrm>
            <a:off x="2560320" y="1581653"/>
            <a:ext cx="1737360" cy="548640"/>
          </a:xfrm>
          <a:prstGeom prst="rect">
            <a:avLst/>
          </a:prstGeom>
          <a:solidFill>
            <a:srgbClr val="4C5155"/>
          </a:solidFill>
          <a:ln w="25400">
            <a:solidFill>
              <a:srgbClr val="4C5155"/>
            </a:solidFill>
            <a:prstDash val="solid"/>
          </a:ln>
        </p:spPr>
      </p:sp>
      <p:sp>
        <p:nvSpPr>
          <p:cNvPr id="545529447" name="Text 11"/>
          <p:cNvSpPr/>
          <p:nvPr/>
        </p:nvSpPr>
        <p:spPr bwMode="auto">
          <a:xfrm>
            <a:off x="2560320" y="1581653"/>
            <a:ext cx="173736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DFSA</a:t>
            </a:r>
            <a:endParaRPr lang="en-US" sz="1050">
              <a:latin typeface="Arial"/>
              <a:ea typeface="Calibri"/>
              <a:cs typeface="Calibri"/>
            </a:endParaRPr>
          </a:p>
          <a:p>
            <a:pPr marL="0" indent="0" algn="ctr">
              <a:buNone/>
              <a:defRPr/>
            </a:pPr>
            <a:r>
              <a:rPr lang="en-US"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intercepta</a:t>
            </a:r>
            <a:endParaRPr lang="en-US" sz="1050">
              <a:latin typeface="Arial"/>
              <a:ea typeface="Calibri"/>
              <a:cs typeface="Calibri"/>
            </a:endParaRPr>
          </a:p>
        </p:txBody>
      </p:sp>
      <p:sp>
        <p:nvSpPr>
          <p:cNvPr id="647128106" name="Text 12"/>
          <p:cNvSpPr/>
          <p:nvPr/>
        </p:nvSpPr>
        <p:spPr bwMode="auto">
          <a:xfrm rot="8099999">
            <a:off x="2817917" y="2077919"/>
            <a:ext cx="565461" cy="4144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>
                <a:solidFill>
                  <a:srgbClr val="4C5155"/>
                </a:solidFill>
                <a:latin typeface="Arial"/>
                <a:ea typeface="Arial"/>
                <a:cs typeface="Arial"/>
              </a:rPr>
              <a:t>→</a:t>
            </a:r>
            <a:endParaRPr lang="en-US" sz="1600"/>
          </a:p>
        </p:txBody>
      </p:sp>
      <p:grpSp>
        <p:nvGrpSpPr>
          <p:cNvPr id="224287168" name="Grupo 41"/>
          <p:cNvGrpSpPr/>
          <p:nvPr/>
        </p:nvGrpSpPr>
        <p:grpSpPr bwMode="auto">
          <a:xfrm>
            <a:off x="1072163" y="2406007"/>
            <a:ext cx="2788919" cy="384307"/>
            <a:chOff x="640080" y="2286000"/>
            <a:chExt cx="1645920" cy="502920"/>
          </a:xfrm>
        </p:grpSpPr>
        <p:sp>
          <p:nvSpPr>
            <p:cNvPr id="15" name="Shape 13"/>
            <p:cNvSpPr/>
            <p:nvPr/>
          </p:nvSpPr>
          <p:spPr bwMode="auto">
            <a:xfrm>
              <a:off x="640080" y="2286000"/>
              <a:ext cx="1645920" cy="502920"/>
            </a:xfrm>
            <a:prstGeom prst="rect">
              <a:avLst/>
            </a:prstGeom>
            <a:solidFill>
              <a:srgbClr val="D1D3D5"/>
            </a:solidFill>
            <a:ln w="12700">
              <a:solidFill>
                <a:srgbClr val="4C5155"/>
              </a:solidFill>
              <a:prstDash val="solid"/>
            </a:ln>
          </p:spPr>
        </p:sp>
        <p:sp>
          <p:nvSpPr>
            <p:cNvPr id="16" name="Text 14"/>
            <p:cNvSpPr/>
            <p:nvPr/>
          </p:nvSpPr>
          <p:spPr bwMode="auto">
            <a:xfrm>
              <a:off x="640080" y="2286000"/>
              <a:ext cx="1645920" cy="50292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algn="ctr">
                <a:defRPr/>
              </a:pPr>
              <a:r>
                <a:rPr lang="en-US" sz="1200">
                  <a:solidFill>
                    <a:srgbClr val="2D3237"/>
                  </a:solidFill>
                  <a:latin typeface="Calibri"/>
                  <a:ea typeface="Calibri"/>
                  <a:cs typeface="Calibri"/>
                </a:rPr>
                <a:t>¿</a:t>
              </a:r>
              <a:r>
                <a:rPr lang="en-US" sz="1200">
                  <a:solidFill>
                    <a:srgbClr val="2D3237"/>
                  </a:solidFill>
                  <a:latin typeface="Calibri"/>
                  <a:ea typeface="Calibri"/>
                  <a:cs typeface="Calibri"/>
                </a:rPr>
                <a:t>Archivo</a:t>
              </a:r>
              <a:r>
                <a:rPr lang="en-US" sz="1200">
                  <a:solidFill>
                    <a:srgbClr val="2D3237"/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lang="en-US" sz="1200">
                  <a:solidFill>
                    <a:srgbClr val="2D3237"/>
                  </a:solidFill>
                  <a:latin typeface="Calibri"/>
                  <a:ea typeface="Calibri"/>
                  <a:cs typeface="Calibri"/>
                </a:rPr>
                <a:t>en</a:t>
              </a:r>
              <a:r>
                <a:rPr lang="en-US" sz="1200">
                  <a:solidFill>
                    <a:srgbClr val="2D3237"/>
                  </a:solidFill>
                  <a:latin typeface="Calibri"/>
                  <a:ea typeface="Calibri"/>
                  <a:cs typeface="Calibri"/>
                </a:rPr>
                <a:t> </a:t>
              </a:r>
              <a:r>
                <a:rPr lang="en-US" sz="1200">
                  <a:solidFill>
                    <a:srgbClr val="2D3237"/>
                  </a:solidFill>
                  <a:latin typeface="Calibri"/>
                  <a:ea typeface="Calibri"/>
                  <a:cs typeface="Calibri"/>
                </a:rPr>
                <a:t>nodo</a:t>
              </a:r>
              <a:r>
                <a:rPr lang="en-US" sz="1200">
                  <a:solidFill>
                    <a:srgbClr val="2D3237"/>
                  </a:solidFill>
                  <a:latin typeface="Calibri"/>
                  <a:ea typeface="Calibri"/>
                  <a:cs typeface="Calibri"/>
                </a:rPr>
                <a:t> B?</a:t>
              </a:r>
              <a:endParaRPr lang="en-US" sz="1200"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746436806" name="Text 15"/>
          <p:cNvSpPr/>
          <p:nvPr/>
        </p:nvSpPr>
        <p:spPr bwMode="auto">
          <a:xfrm rot="5400000">
            <a:off x="1466491" y="281269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>
                <a:solidFill>
                  <a:srgbClr val="4C5155"/>
                </a:solidFill>
                <a:latin typeface="Arial"/>
                <a:ea typeface="Arial"/>
                <a:cs typeface="Arial"/>
              </a:rPr>
              <a:t>→</a:t>
            </a:r>
            <a:endParaRPr lang="en-US" sz="1600"/>
          </a:p>
        </p:txBody>
      </p:sp>
      <p:grpSp>
        <p:nvGrpSpPr>
          <p:cNvPr id="2047349648" name="Grupo 40"/>
          <p:cNvGrpSpPr/>
          <p:nvPr/>
        </p:nvGrpSpPr>
        <p:grpSpPr bwMode="auto">
          <a:xfrm>
            <a:off x="637391" y="3096122"/>
            <a:ext cx="1649955" cy="502920"/>
            <a:chOff x="2560320" y="2286000"/>
            <a:chExt cx="1737360" cy="502920"/>
          </a:xfrm>
        </p:grpSpPr>
        <p:sp>
          <p:nvSpPr>
            <p:cNvPr id="18" name="Shape 16"/>
            <p:cNvSpPr/>
            <p:nvPr/>
          </p:nvSpPr>
          <p:spPr bwMode="auto">
            <a:xfrm>
              <a:off x="2560320" y="2286000"/>
              <a:ext cx="1737360" cy="502920"/>
            </a:xfrm>
            <a:prstGeom prst="rect">
              <a:avLst/>
            </a:prstGeom>
            <a:solidFill>
              <a:srgbClr val="F6F7F8"/>
            </a:solidFill>
            <a:ln w="12700">
              <a:solidFill>
                <a:srgbClr val="4C5155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 bwMode="auto">
            <a:xfrm>
              <a:off x="2560320" y="2286000"/>
              <a:ext cx="1737360" cy="50292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 algn="ctr">
                <a:buNone/>
                <a:defRPr/>
              </a:pPr>
              <a:r>
                <a:rPr lang="en-US" sz="1050">
                  <a:solidFill>
                    <a:srgbClr val="2D3237"/>
                  </a:solidFill>
                  <a:latin typeface="Calibri"/>
                  <a:ea typeface="Calibri"/>
                  <a:cs typeface="Calibri"/>
                </a:rPr>
                <a:t>Acceso</a:t>
              </a:r>
              <a:endParaRPr lang="en-US" sz="1050">
                <a:latin typeface="Calibri"/>
                <a:ea typeface="Calibri"/>
                <a:cs typeface="Calibri"/>
              </a:endParaRPr>
            </a:p>
            <a:p>
              <a:pPr algn="ctr">
                <a:defRPr/>
              </a:pPr>
              <a:r>
                <a:rPr lang="en-US" sz="1050">
                  <a:solidFill>
                    <a:srgbClr val="2D3237"/>
                  </a:solidFill>
                  <a:latin typeface="Calibri"/>
                  <a:ea typeface="Calibri"/>
                  <a:cs typeface="Calibri"/>
                </a:rPr>
                <a:t>por</a:t>
              </a:r>
              <a:r>
                <a:rPr lang="en-US" sz="1050">
                  <a:solidFill>
                    <a:srgbClr val="2D3237"/>
                  </a:solidFill>
                  <a:latin typeface="Calibri"/>
                  <a:ea typeface="Calibri"/>
                  <a:cs typeface="Calibri"/>
                </a:rPr>
                <a:t> Red</a:t>
              </a:r>
              <a:endParaRPr lang="en-US" sz="1050"/>
            </a:p>
          </p:txBody>
        </p:sp>
      </p:grpSp>
      <p:sp>
        <p:nvSpPr>
          <p:cNvPr id="1531475963" name="Shape 18"/>
          <p:cNvSpPr/>
          <p:nvPr/>
        </p:nvSpPr>
        <p:spPr bwMode="auto">
          <a:xfrm>
            <a:off x="640080" y="3713240"/>
            <a:ext cx="3657600" cy="392071"/>
          </a:xfrm>
          <a:prstGeom prst="rect">
            <a:avLst/>
          </a:prstGeom>
          <a:solidFill>
            <a:srgbClr val="8C9196">
              <a:alpha val="30000"/>
            </a:srgbClr>
          </a:solidFill>
          <a:ln/>
        </p:spPr>
      </p:sp>
      <p:sp>
        <p:nvSpPr>
          <p:cNvPr id="161897900" name="Text 19"/>
          <p:cNvSpPr/>
          <p:nvPr/>
        </p:nvSpPr>
        <p:spPr bwMode="auto">
          <a:xfrm>
            <a:off x="683212" y="3702457"/>
            <a:ext cx="3657600" cy="39207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Proceso</a:t>
            </a: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ve</a:t>
            </a: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operación</a:t>
            </a: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 local</a:t>
            </a:r>
            <a:endParaRPr lang="en-US" sz="900">
              <a:latin typeface="Calibri"/>
              <a:ea typeface="Calibri"/>
              <a:cs typeface="Calibri"/>
            </a:endParaRPr>
          </a:p>
          <a:p>
            <a:pPr algn="ctr"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pero</a:t>
            </a: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el</a:t>
            </a: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archivo</a:t>
            </a: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puede</a:t>
            </a: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estar</a:t>
            </a: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en</a:t>
            </a: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cualquier</a:t>
            </a: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nodo</a:t>
            </a:r>
            <a:endParaRPr lang="en-US" sz="900">
              <a:latin typeface="Calibri"/>
              <a:ea typeface="Calibri"/>
              <a:cs typeface="Calibri"/>
            </a:endParaRPr>
          </a:p>
        </p:txBody>
      </p:sp>
      <p:sp>
        <p:nvSpPr>
          <p:cNvPr id="1541927461" name="Shape 20"/>
          <p:cNvSpPr/>
          <p:nvPr/>
        </p:nvSpPr>
        <p:spPr bwMode="auto">
          <a:xfrm>
            <a:off x="4709160" y="1097280"/>
            <a:ext cx="397764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42755568" name="Shape 21"/>
          <p:cNvSpPr/>
          <p:nvPr/>
        </p:nvSpPr>
        <p:spPr bwMode="auto">
          <a:xfrm>
            <a:off x="4709160" y="1097280"/>
            <a:ext cx="3977640" cy="274320"/>
          </a:xfrm>
          <a:prstGeom prst="rect">
            <a:avLst/>
          </a:prstGeom>
          <a:solidFill>
            <a:srgbClr val="4C5155"/>
          </a:solidFill>
          <a:ln/>
        </p:spPr>
      </p:sp>
      <p:sp>
        <p:nvSpPr>
          <p:cNvPr id="1162808006" name="Text 22"/>
          <p:cNvSpPr/>
          <p:nvPr/>
        </p:nvSpPr>
        <p:spPr bwMode="auto">
          <a:xfrm>
            <a:off x="4709160" y="109728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 spc="100">
                <a:solidFill>
                  <a:srgbClr val="FFFFFF"/>
                </a:solidFill>
                <a:latin typeface="Arial"/>
                <a:ea typeface="Arial"/>
                <a:cs typeface="Arial"/>
              </a:rPr>
              <a:t>FS LOCALES POR NODO</a:t>
            </a:r>
            <a:endParaRPr lang="en-US" sz="900"/>
          </a:p>
        </p:txBody>
      </p:sp>
      <p:sp>
        <p:nvSpPr>
          <p:cNvPr id="1863179210" name="Shape 23"/>
          <p:cNvSpPr/>
          <p:nvPr/>
        </p:nvSpPr>
        <p:spPr bwMode="auto">
          <a:xfrm>
            <a:off x="4846320" y="1463040"/>
            <a:ext cx="685800" cy="320040"/>
          </a:xfrm>
          <a:prstGeom prst="rect">
            <a:avLst/>
          </a:prstGeom>
          <a:solidFill>
            <a:srgbClr val="F6F7F8"/>
          </a:solidFill>
          <a:ln w="12700">
            <a:solidFill>
              <a:srgbClr val="8C9196"/>
            </a:solidFill>
            <a:prstDash val="solid"/>
          </a:ln>
        </p:spPr>
      </p:sp>
      <p:sp>
        <p:nvSpPr>
          <p:cNvPr id="177487356" name="Text 24"/>
          <p:cNvSpPr/>
          <p:nvPr/>
        </p:nvSpPr>
        <p:spPr bwMode="auto">
          <a:xfrm>
            <a:off x="4846320" y="1463040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ext3</a:t>
            </a:r>
            <a:endParaRPr lang="en-US" sz="800"/>
          </a:p>
        </p:txBody>
      </p:sp>
      <p:sp>
        <p:nvSpPr>
          <p:cNvPr id="683244553" name="Shape 25"/>
          <p:cNvSpPr/>
          <p:nvPr/>
        </p:nvSpPr>
        <p:spPr bwMode="auto">
          <a:xfrm>
            <a:off x="5596128" y="1463040"/>
            <a:ext cx="685800" cy="320040"/>
          </a:xfrm>
          <a:prstGeom prst="rect">
            <a:avLst/>
          </a:prstGeom>
          <a:solidFill>
            <a:srgbClr val="F6F7F8"/>
          </a:solidFill>
          <a:ln w="12700">
            <a:solidFill>
              <a:srgbClr val="8C9196"/>
            </a:solidFill>
            <a:prstDash val="solid"/>
          </a:ln>
        </p:spPr>
      </p:sp>
      <p:sp>
        <p:nvSpPr>
          <p:cNvPr id="2054287191" name="Text 26"/>
          <p:cNvSpPr/>
          <p:nvPr/>
        </p:nvSpPr>
        <p:spPr bwMode="auto">
          <a:xfrm>
            <a:off x="5596128" y="1463040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ext4</a:t>
            </a:r>
            <a:endParaRPr lang="en-US" sz="800"/>
          </a:p>
        </p:txBody>
      </p:sp>
      <p:sp>
        <p:nvSpPr>
          <p:cNvPr id="1603599691" name="Shape 27"/>
          <p:cNvSpPr/>
          <p:nvPr/>
        </p:nvSpPr>
        <p:spPr bwMode="auto">
          <a:xfrm>
            <a:off x="6345936" y="1463040"/>
            <a:ext cx="685800" cy="320040"/>
          </a:xfrm>
          <a:prstGeom prst="rect">
            <a:avLst/>
          </a:prstGeom>
          <a:solidFill>
            <a:srgbClr val="F6F7F8"/>
          </a:solidFill>
          <a:ln w="12700">
            <a:solidFill>
              <a:srgbClr val="8C9196"/>
            </a:solidFill>
            <a:prstDash val="solid"/>
          </a:ln>
        </p:spPr>
      </p:sp>
      <p:sp>
        <p:nvSpPr>
          <p:cNvPr id="1579721362" name="Text 28"/>
          <p:cNvSpPr/>
          <p:nvPr/>
        </p:nvSpPr>
        <p:spPr bwMode="auto">
          <a:xfrm>
            <a:off x="6345936" y="1463040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XFS</a:t>
            </a:r>
            <a:endParaRPr lang="en-US" sz="800"/>
          </a:p>
        </p:txBody>
      </p:sp>
      <p:sp>
        <p:nvSpPr>
          <p:cNvPr id="1807734284" name="Shape 29"/>
          <p:cNvSpPr/>
          <p:nvPr/>
        </p:nvSpPr>
        <p:spPr bwMode="auto">
          <a:xfrm>
            <a:off x="7095744" y="1463040"/>
            <a:ext cx="685800" cy="320040"/>
          </a:xfrm>
          <a:prstGeom prst="rect">
            <a:avLst/>
          </a:prstGeom>
          <a:solidFill>
            <a:srgbClr val="F6F7F8"/>
          </a:solidFill>
          <a:ln w="12700">
            <a:solidFill>
              <a:srgbClr val="8C9196"/>
            </a:solidFill>
            <a:prstDash val="solid"/>
          </a:ln>
        </p:spPr>
      </p:sp>
      <p:sp>
        <p:nvSpPr>
          <p:cNvPr id="1651889467" name="Text 30"/>
          <p:cNvSpPr/>
          <p:nvPr/>
        </p:nvSpPr>
        <p:spPr bwMode="auto">
          <a:xfrm>
            <a:off x="7095744" y="1463040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NFS</a:t>
            </a:r>
            <a:endParaRPr lang="en-US" sz="800"/>
          </a:p>
        </p:txBody>
      </p:sp>
      <p:sp>
        <p:nvSpPr>
          <p:cNvPr id="286231184" name="Shape 31"/>
          <p:cNvSpPr/>
          <p:nvPr/>
        </p:nvSpPr>
        <p:spPr bwMode="auto">
          <a:xfrm>
            <a:off x="7845552" y="1463040"/>
            <a:ext cx="685800" cy="320040"/>
          </a:xfrm>
          <a:prstGeom prst="rect">
            <a:avLst/>
          </a:prstGeom>
          <a:solidFill>
            <a:srgbClr val="F6F7F8"/>
          </a:solidFill>
          <a:ln w="12700">
            <a:solidFill>
              <a:srgbClr val="8C9196"/>
            </a:solidFill>
            <a:prstDash val="solid"/>
          </a:ln>
        </p:spPr>
      </p:sp>
      <p:sp>
        <p:nvSpPr>
          <p:cNvPr id="136893291" name="Text 32"/>
          <p:cNvSpPr/>
          <p:nvPr/>
        </p:nvSpPr>
        <p:spPr bwMode="auto">
          <a:xfrm>
            <a:off x="7845552" y="1463040"/>
            <a:ext cx="685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ext2</a:t>
            </a:r>
            <a:endParaRPr lang="en-US" sz="800"/>
          </a:p>
        </p:txBody>
      </p:sp>
      <p:sp>
        <p:nvSpPr>
          <p:cNvPr id="2127517528" name="Text 33"/>
          <p:cNvSpPr/>
          <p:nvPr/>
        </p:nvSpPr>
        <p:spPr bwMode="auto">
          <a:xfrm>
            <a:off x="4800600" y="187452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Cada nodo usa su FS local sin modificaciones. MOSIX no proporciona FS distribuido propio.</a:t>
            </a:r>
            <a:endParaRPr lang="en-US" sz="900"/>
          </a:p>
        </p:txBody>
      </p:sp>
      <p:sp>
        <p:nvSpPr>
          <p:cNvPr id="1084480348" name="Shape 34"/>
          <p:cNvSpPr/>
          <p:nvPr/>
        </p:nvSpPr>
        <p:spPr bwMode="auto">
          <a:xfrm>
            <a:off x="4709160" y="2606040"/>
            <a:ext cx="397764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97707778" name="Shape 35"/>
          <p:cNvSpPr/>
          <p:nvPr/>
        </p:nvSpPr>
        <p:spPr bwMode="auto">
          <a:xfrm>
            <a:off x="4709160" y="2606040"/>
            <a:ext cx="3977640" cy="2743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81102093" name="Text 36"/>
          <p:cNvSpPr/>
          <p:nvPr/>
        </p:nvSpPr>
        <p:spPr bwMode="auto">
          <a:xfrm>
            <a:off x="4709160" y="260604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 spc="100">
                <a:solidFill>
                  <a:srgbClr val="FFFFFF"/>
                </a:solidFill>
                <a:latin typeface="Arial"/>
                <a:ea typeface="Arial"/>
                <a:cs typeface="Arial"/>
              </a:rPr>
              <a:t>LIMITACIONES</a:t>
            </a:r>
            <a:endParaRPr lang="en-US" sz="900"/>
          </a:p>
        </p:txBody>
      </p:sp>
      <p:sp>
        <p:nvSpPr>
          <p:cNvPr id="746738498" name="Text 37"/>
          <p:cNvSpPr/>
          <p:nvPr/>
        </p:nvSpPr>
        <p:spPr bwMode="auto">
          <a:xfrm>
            <a:off x="4800600" y="2944368"/>
            <a:ext cx="3794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✗ No es Parallel FS (no hay striping)</a:t>
            </a:r>
            <a:endParaRPr lang="en-US" sz="900"/>
          </a:p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✗ Cada nodo tiene almacenamiento local</a:t>
            </a:r>
            <a:endParaRPr lang="en-US" sz="900"/>
          </a:p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✗ E/S puede ser bottleneck (latencia de red)</a:t>
            </a:r>
            <a:endParaRPr lang="en-US" sz="900"/>
          </a:p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✗ Sin paralelismo de E/S (vs PVFS/Lustre)</a:t>
            </a:r>
            <a:endParaRPr lang="en-US" sz="900"/>
          </a:p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✗ Sin soporte para shared memory entre procesos</a:t>
            </a:r>
            <a:endParaRPr lang="en-US" sz="900"/>
          </a:p>
        </p:txBody>
      </p:sp>
      <p:sp>
        <p:nvSpPr>
          <p:cNvPr id="636546317" name="Text 38"/>
          <p:cNvSpPr/>
          <p:nvPr/>
        </p:nvSpPr>
        <p:spPr bwMode="auto">
          <a:xfrm>
            <a:off x="457200" y="477316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endParaRPr lang="en-US" sz="900"/>
          </a:p>
        </p:txBody>
      </p:sp>
      <p:grpSp>
        <p:nvGrpSpPr>
          <p:cNvPr id="2108954055" name="Grupo 42"/>
          <p:cNvGrpSpPr/>
          <p:nvPr/>
        </p:nvGrpSpPr>
        <p:grpSpPr bwMode="auto">
          <a:xfrm>
            <a:off x="2610683" y="3096122"/>
            <a:ext cx="1649956" cy="502920"/>
            <a:chOff x="2560319" y="2286000"/>
            <a:chExt cx="1737361" cy="502920"/>
          </a:xfrm>
        </p:grpSpPr>
        <p:sp>
          <p:nvSpPr>
            <p:cNvPr id="44" name="Shape 16"/>
            <p:cNvSpPr/>
            <p:nvPr/>
          </p:nvSpPr>
          <p:spPr bwMode="auto">
            <a:xfrm>
              <a:off x="2560319" y="2286000"/>
              <a:ext cx="1737360" cy="502920"/>
            </a:xfrm>
            <a:prstGeom prst="rect">
              <a:avLst/>
            </a:prstGeom>
            <a:solidFill>
              <a:srgbClr val="F6F7F8"/>
            </a:solidFill>
            <a:ln w="12700">
              <a:solidFill>
                <a:srgbClr val="4C5155"/>
              </a:solidFill>
              <a:prstDash val="solid"/>
            </a:ln>
          </p:spPr>
        </p:sp>
        <p:sp>
          <p:nvSpPr>
            <p:cNvPr id="45" name="Text 17"/>
            <p:cNvSpPr/>
            <p:nvPr/>
          </p:nvSpPr>
          <p:spPr bwMode="auto">
            <a:xfrm>
              <a:off x="2560320" y="2286000"/>
              <a:ext cx="1737360" cy="502920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 algn="ctr">
                <a:buNone/>
                <a:defRPr/>
              </a:pPr>
              <a:r>
                <a:rPr lang="en-US" sz="1050">
                  <a:solidFill>
                    <a:srgbClr val="2D3237"/>
                  </a:solidFill>
                  <a:latin typeface="Calibri"/>
                  <a:ea typeface="Calibri"/>
                  <a:cs typeface="Calibri"/>
                </a:rPr>
                <a:t>Acceso</a:t>
              </a:r>
              <a:endParaRPr lang="en-US" sz="1050">
                <a:latin typeface="Calibri"/>
                <a:ea typeface="Calibri"/>
                <a:cs typeface="Calibri"/>
              </a:endParaRPr>
            </a:p>
            <a:p>
              <a:pPr marL="0" indent="0" algn="ctr">
                <a:buNone/>
                <a:defRPr/>
              </a:pPr>
              <a:r>
                <a:rPr lang="en-US" sz="1050">
                  <a:solidFill>
                    <a:srgbClr val="2D3237"/>
                  </a:solidFill>
                  <a:latin typeface="Calibri"/>
                  <a:ea typeface="Calibri"/>
                  <a:cs typeface="Calibri"/>
                </a:rPr>
                <a:t>ext3/ext4/XFS</a:t>
              </a:r>
              <a:endParaRPr lang="en-US" sz="1050">
                <a:latin typeface="Calibri"/>
                <a:ea typeface="Calibri"/>
                <a:cs typeface="Calibri"/>
              </a:endParaRPr>
            </a:p>
          </p:txBody>
        </p:sp>
      </p:grpSp>
      <p:sp>
        <p:nvSpPr>
          <p:cNvPr id="1004863232" name="Text 15"/>
          <p:cNvSpPr/>
          <p:nvPr/>
        </p:nvSpPr>
        <p:spPr bwMode="auto">
          <a:xfrm rot="5400000">
            <a:off x="3321170" y="2823477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>
                <a:solidFill>
                  <a:srgbClr val="4C5155"/>
                </a:solidFill>
                <a:latin typeface="Arial"/>
                <a:ea typeface="Arial"/>
                <a:cs typeface="Arial"/>
              </a:rPr>
              <a:t>→</a:t>
            </a:r>
            <a:endParaRPr lang="en-US" sz="1600"/>
          </a:p>
        </p:txBody>
      </p:sp>
      <p:sp>
        <p:nvSpPr>
          <p:cNvPr id="1021871722" name="CuadroTexto 46"/>
          <p:cNvSpPr txBox="1"/>
          <p:nvPr/>
        </p:nvSpPr>
        <p:spPr bwMode="auto">
          <a:xfrm>
            <a:off x="1509622" y="2830542"/>
            <a:ext cx="463671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algn="ctr" rtl="0">
              <a:defRPr/>
            </a:pPr>
            <a:r>
              <a:rPr lang="en-US" sz="900">
                <a:solidFill>
                  <a:srgbClr val="2D3237"/>
                </a:solidFill>
                <a:ea typeface="Calibri"/>
                <a:cs typeface="Calibri"/>
              </a:rPr>
              <a:t>SI</a:t>
            </a:r>
            <a:endParaRPr lang="en-US" sz="900">
              <a:solidFill>
                <a:srgbClr val="2D3237"/>
              </a:solidFill>
              <a:ea typeface="Calibri"/>
              <a:cs typeface="Calibri"/>
            </a:endParaRPr>
          </a:p>
        </p:txBody>
      </p:sp>
      <p:sp>
        <p:nvSpPr>
          <p:cNvPr id="1467056067" name="CuadroTexto 47"/>
          <p:cNvSpPr txBox="1"/>
          <p:nvPr/>
        </p:nvSpPr>
        <p:spPr bwMode="auto">
          <a:xfrm>
            <a:off x="2965329" y="2841325"/>
            <a:ext cx="463671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/>
            <a:spAutoFit/>
          </a:bodyPr>
          <a:lstStyle/>
          <a:p>
            <a:pPr algn="ctr" rtl="0">
              <a:defRPr/>
            </a:pPr>
            <a:r>
              <a:rPr lang="en-US" sz="900">
                <a:solidFill>
                  <a:srgbClr val="2D3237"/>
                </a:solidFill>
                <a:ea typeface="Calibri"/>
                <a:cs typeface="Calibri"/>
              </a:rPr>
              <a:t>NO</a:t>
            </a:r>
            <a:endParaRPr lang="en-US" sz="900">
              <a:solidFill>
                <a:srgbClr val="2D3237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0">
    <p:bg>
      <p:bgPr shadeToTitle="0">
        <a:solidFill>
          <a:srgbClr val="F6F7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6591484" name="Shape 4"/>
          <p:cNvSpPr/>
          <p:nvPr/>
        </p:nvSpPr>
        <p:spPr bwMode="auto">
          <a:xfrm>
            <a:off x="457200" y="1051560"/>
            <a:ext cx="411480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9406246" name="Shape 0"/>
          <p:cNvSpPr/>
          <p:nvPr/>
        </p:nvSpPr>
        <p:spPr bwMode="auto">
          <a:xfrm>
            <a:off x="8503920" y="4663440"/>
            <a:ext cx="365760" cy="365760"/>
          </a:xfrm>
          <a:prstGeom prst="ellipse">
            <a:avLst/>
          </a:prstGeom>
          <a:solidFill>
            <a:srgbClr val="0070C5"/>
          </a:solidFill>
          <a:ln/>
        </p:spPr>
      </p:sp>
      <p:sp>
        <p:nvSpPr>
          <p:cNvPr id="592596785" name="Text 1"/>
          <p:cNvSpPr/>
          <p:nvPr/>
        </p:nvSpPr>
        <p:spPr bwMode="auto"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  <a:endParaRPr lang="en-US" sz="1200"/>
          </a:p>
        </p:txBody>
      </p:sp>
      <p:sp>
        <p:nvSpPr>
          <p:cNvPr id="926244812" name="Text 2"/>
          <p:cNvSpPr/>
          <p:nvPr/>
        </p:nvSpPr>
        <p:spPr bwMode="auto">
          <a:xfrm>
            <a:off x="457200" y="274320"/>
            <a:ext cx="9379323" cy="4760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2600" b="1">
                <a:solidFill>
                  <a:srgbClr val="2D3237"/>
                </a:solidFill>
                <a:latin typeface="Arial Black"/>
                <a:ea typeface="Arial Black"/>
                <a:cs typeface="Arial Black"/>
              </a:rPr>
              <a:t>Zephyr OS — Administración de Memoria</a:t>
            </a:r>
            <a:endParaRPr lang="en-US" sz="2600"/>
          </a:p>
        </p:txBody>
      </p:sp>
      <p:sp>
        <p:nvSpPr>
          <p:cNvPr id="246325416" name="Text 3"/>
          <p:cNvSpPr/>
          <p:nvPr/>
        </p:nvSpPr>
        <p:spPr bwMode="auto">
          <a:xfrm>
            <a:off x="457200" y="7498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200" i="1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MPU-based protection — sin MMU en la mayoría de configuraciones</a:t>
            </a:r>
            <a:endParaRPr lang="en-US" sz="1200"/>
          </a:p>
        </p:txBody>
      </p:sp>
      <p:sp>
        <p:nvSpPr>
          <p:cNvPr id="368642334" name="Shape 5"/>
          <p:cNvSpPr/>
          <p:nvPr/>
        </p:nvSpPr>
        <p:spPr bwMode="auto">
          <a:xfrm>
            <a:off x="457200" y="1051560"/>
            <a:ext cx="4114800" cy="274320"/>
          </a:xfrm>
          <a:prstGeom prst="rect">
            <a:avLst/>
          </a:prstGeom>
          <a:solidFill>
            <a:srgbClr val="0070C5"/>
          </a:solidFill>
          <a:ln/>
        </p:spPr>
      </p:sp>
      <p:sp>
        <p:nvSpPr>
          <p:cNvPr id="311029991" name="Text 6"/>
          <p:cNvSpPr/>
          <p:nvPr/>
        </p:nvSpPr>
        <p:spPr bwMode="auto">
          <a:xfrm>
            <a:off x="457200" y="10515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 spc="100">
                <a:solidFill>
                  <a:srgbClr val="FFFFFF"/>
                </a:solidFill>
                <a:latin typeface="Arial"/>
                <a:ea typeface="Arial"/>
                <a:cs typeface="Arial"/>
              </a:rPr>
              <a:t>DIAGRAMA MPU — REGIONES DE MEMORIA</a:t>
            </a:r>
            <a:endParaRPr lang="en-US" sz="900"/>
          </a:p>
        </p:txBody>
      </p:sp>
      <p:sp>
        <p:nvSpPr>
          <p:cNvPr id="1777389917" name="Shape 7"/>
          <p:cNvSpPr/>
          <p:nvPr/>
        </p:nvSpPr>
        <p:spPr bwMode="auto">
          <a:xfrm>
            <a:off x="640080" y="1417320"/>
            <a:ext cx="2194560" cy="640080"/>
          </a:xfrm>
          <a:prstGeom prst="rect">
            <a:avLst/>
          </a:prstGeom>
          <a:solidFill>
            <a:srgbClr val="0070C5"/>
          </a:solidFill>
          <a:ln w="25400">
            <a:solidFill>
              <a:srgbClr val="0070C5"/>
            </a:solidFill>
            <a:prstDash val="solid"/>
          </a:ln>
        </p:spPr>
      </p:sp>
      <p:sp>
        <p:nvSpPr>
          <p:cNvPr id="620148782" name="Text 8"/>
          <p:cNvSpPr/>
          <p:nvPr/>
        </p:nvSpPr>
        <p:spPr bwMode="auto">
          <a:xfrm>
            <a:off x="640080" y="1449669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KERNEL</a:t>
            </a:r>
            <a:endParaRPr lang="en-US" sz="1100"/>
          </a:p>
        </p:txBody>
      </p:sp>
      <p:sp>
        <p:nvSpPr>
          <p:cNvPr id="990304153" name="Text 9"/>
          <p:cNvSpPr/>
          <p:nvPr/>
        </p:nvSpPr>
        <p:spPr bwMode="auto">
          <a:xfrm>
            <a:off x="640080" y="171907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Modo privilegiado</a:t>
            </a:r>
            <a:endParaRPr lang="en-US" sz="800"/>
          </a:p>
        </p:txBody>
      </p:sp>
      <p:sp>
        <p:nvSpPr>
          <p:cNvPr id="1012867429" name="Shape 10"/>
          <p:cNvSpPr/>
          <p:nvPr/>
        </p:nvSpPr>
        <p:spPr bwMode="auto">
          <a:xfrm>
            <a:off x="640080" y="2148840"/>
            <a:ext cx="2194560" cy="6400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rgbClr val="0070C5"/>
            </a:solidFill>
            <a:prstDash val="solid"/>
          </a:ln>
        </p:spPr>
      </p:sp>
      <p:sp>
        <p:nvSpPr>
          <p:cNvPr id="917234899" name="Text 11"/>
          <p:cNvSpPr/>
          <p:nvPr/>
        </p:nvSpPr>
        <p:spPr bwMode="auto">
          <a:xfrm>
            <a:off x="640080" y="2191972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0070C5"/>
                </a:solidFill>
                <a:latin typeface="Arial"/>
                <a:ea typeface="Arial"/>
                <a:cs typeface="Arial"/>
              </a:rPr>
              <a:t>APPLICATION</a:t>
            </a:r>
            <a:endParaRPr lang="en-US" sz="1100"/>
          </a:p>
        </p:txBody>
      </p:sp>
      <p:sp>
        <p:nvSpPr>
          <p:cNvPr id="1188175368" name="Text 12"/>
          <p:cNvSpPr/>
          <p:nvPr/>
        </p:nvSpPr>
        <p:spPr bwMode="auto">
          <a:xfrm>
            <a:off x="640080" y="245059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User mode (aislado)</a:t>
            </a:r>
            <a:endParaRPr lang="en-US" sz="800"/>
          </a:p>
        </p:txBody>
      </p:sp>
      <p:sp>
        <p:nvSpPr>
          <p:cNvPr id="1671092127" name="Shape 13"/>
          <p:cNvSpPr/>
          <p:nvPr/>
        </p:nvSpPr>
        <p:spPr bwMode="auto">
          <a:xfrm>
            <a:off x="640080" y="2880360"/>
            <a:ext cx="2194560" cy="640080"/>
          </a:xfrm>
          <a:prstGeom prst="rect">
            <a:avLst/>
          </a:prstGeom>
          <a:solidFill>
            <a:srgbClr val="F6F7F8"/>
          </a:solidFill>
          <a:ln w="12700">
            <a:solidFill>
              <a:srgbClr val="4C5155"/>
            </a:solidFill>
            <a:prstDash val="solid"/>
          </a:ln>
        </p:spPr>
      </p:sp>
      <p:sp>
        <p:nvSpPr>
          <p:cNvPr id="1991546374" name="Text 14"/>
          <p:cNvSpPr/>
          <p:nvPr/>
        </p:nvSpPr>
        <p:spPr bwMode="auto">
          <a:xfrm>
            <a:off x="640080" y="2912709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4C5155"/>
                </a:solidFill>
                <a:latin typeface="Arial"/>
                <a:ea typeface="Arial"/>
                <a:cs typeface="Arial"/>
              </a:rPr>
              <a:t>DRAM / PERIF</a:t>
            </a:r>
            <a:endParaRPr lang="en-US" sz="1100"/>
          </a:p>
        </p:txBody>
      </p:sp>
      <p:sp>
        <p:nvSpPr>
          <p:cNvPr id="458358400" name="Text 15"/>
          <p:cNvSpPr/>
          <p:nvPr/>
        </p:nvSpPr>
        <p:spPr bwMode="auto">
          <a:xfrm>
            <a:off x="640080" y="318211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Dispositivos E/S</a:t>
            </a:r>
            <a:endParaRPr lang="en-US" sz="800"/>
          </a:p>
        </p:txBody>
      </p:sp>
      <p:sp>
        <p:nvSpPr>
          <p:cNvPr id="197047612" name="Text 16"/>
          <p:cNvSpPr/>
          <p:nvPr/>
        </p:nvSpPr>
        <p:spPr bwMode="auto">
          <a:xfrm>
            <a:off x="2934275" y="1494095"/>
            <a:ext cx="1554480" cy="45202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  <a:defRPr/>
            </a:pPr>
            <a:r>
              <a:rPr lang="en-US" sz="11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← MPU (8-16 regiones </a:t>
            </a:r>
            <a:r>
              <a:rPr lang="en-US" sz="11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configurables</a:t>
            </a:r>
            <a:r>
              <a:rPr lang="en-US" sz="11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)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695499042" name="Shape 17"/>
          <p:cNvSpPr/>
          <p:nvPr/>
        </p:nvSpPr>
        <p:spPr bwMode="auto">
          <a:xfrm>
            <a:off x="4709160" y="1051560"/>
            <a:ext cx="39776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71553020" name="Shape 18"/>
          <p:cNvSpPr/>
          <p:nvPr/>
        </p:nvSpPr>
        <p:spPr bwMode="auto">
          <a:xfrm>
            <a:off x="4709160" y="1051560"/>
            <a:ext cx="3977640" cy="256032"/>
          </a:xfrm>
          <a:prstGeom prst="rect">
            <a:avLst/>
          </a:prstGeom>
          <a:solidFill>
            <a:srgbClr val="0070C5"/>
          </a:solidFill>
          <a:ln/>
        </p:spPr>
      </p:sp>
      <p:sp>
        <p:nvSpPr>
          <p:cNvPr id="1079179341" name="Text 19"/>
          <p:cNvSpPr/>
          <p:nvPr/>
        </p:nvSpPr>
        <p:spPr bwMode="auto">
          <a:xfrm>
            <a:off x="4709160" y="105156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MPU vs MMU</a:t>
            </a:r>
            <a:endParaRPr lang="en-US" sz="900"/>
          </a:p>
        </p:txBody>
      </p:sp>
      <p:sp>
        <p:nvSpPr>
          <p:cNvPr id="482828018" name="Text 20"/>
          <p:cNvSpPr/>
          <p:nvPr/>
        </p:nvSpPr>
        <p:spPr bwMode="auto">
          <a:xfrm>
            <a:off x="4800600" y="1353312"/>
            <a:ext cx="3794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MPU: protección por regiones (sin paginación)</a:t>
            </a:r>
            <a:endParaRPr lang="en-US" sz="900"/>
          </a:p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Sin memoria virtual en la mayoría de configs</a:t>
            </a:r>
            <a:endParaRPr lang="en-US" sz="900"/>
          </a:p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Demand paging solo en arquitecturas con MMU</a:t>
            </a:r>
            <a:endParaRPr lang="en-US" sz="900"/>
          </a:p>
        </p:txBody>
      </p:sp>
      <p:sp>
        <p:nvSpPr>
          <p:cNvPr id="1709538883" name="Shape 21"/>
          <p:cNvSpPr/>
          <p:nvPr/>
        </p:nvSpPr>
        <p:spPr bwMode="auto">
          <a:xfrm>
            <a:off x="4709160" y="2148840"/>
            <a:ext cx="39776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45177255" name="Shape 22"/>
          <p:cNvSpPr/>
          <p:nvPr/>
        </p:nvSpPr>
        <p:spPr bwMode="auto">
          <a:xfrm>
            <a:off x="4709160" y="2148840"/>
            <a:ext cx="3977640" cy="256032"/>
          </a:xfrm>
          <a:prstGeom prst="rect">
            <a:avLst/>
          </a:prstGeom>
          <a:solidFill>
            <a:srgbClr val="0070C5"/>
          </a:solidFill>
          <a:ln/>
        </p:spPr>
      </p:sp>
      <p:sp>
        <p:nvSpPr>
          <p:cNvPr id="1157423823" name="Text 23"/>
          <p:cNvSpPr/>
          <p:nvPr/>
        </p:nvSpPr>
        <p:spPr bwMode="auto">
          <a:xfrm>
            <a:off x="4709160" y="214884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ASIGNACIÓN DE MEMORIA</a:t>
            </a:r>
            <a:endParaRPr lang="en-US" sz="900"/>
          </a:p>
        </p:txBody>
      </p:sp>
      <p:sp>
        <p:nvSpPr>
          <p:cNvPr id="85285829" name="Text 24"/>
          <p:cNvSpPr/>
          <p:nvPr/>
        </p:nvSpPr>
        <p:spPr bwMode="auto">
          <a:xfrm>
            <a:off x="4800600" y="2450592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Heap: asignador dinámico clásico</a:t>
            </a:r>
            <a:endParaRPr lang="en-US" sz="900"/>
          </a:p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Memory Slabs: bloques de tamaño fijo</a:t>
            </a:r>
            <a:endParaRPr lang="en-US" sz="900"/>
          </a:p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Memory Blocks: asignación estructurada</a:t>
            </a:r>
            <a:endParaRPr lang="en-US" sz="900"/>
          </a:p>
        </p:txBody>
      </p:sp>
      <p:sp>
        <p:nvSpPr>
          <p:cNvPr id="194821389" name="Shape 25"/>
          <p:cNvSpPr/>
          <p:nvPr/>
        </p:nvSpPr>
        <p:spPr bwMode="auto">
          <a:xfrm>
            <a:off x="4709160" y="3154680"/>
            <a:ext cx="397764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15627486" name="Shape 26"/>
          <p:cNvSpPr/>
          <p:nvPr/>
        </p:nvSpPr>
        <p:spPr bwMode="auto">
          <a:xfrm>
            <a:off x="4709160" y="3154680"/>
            <a:ext cx="3977640" cy="256032"/>
          </a:xfrm>
          <a:prstGeom prst="rect">
            <a:avLst/>
          </a:prstGeom>
          <a:solidFill>
            <a:srgbClr val="0070C5"/>
          </a:solidFill>
          <a:ln/>
        </p:spPr>
      </p:sp>
      <p:sp>
        <p:nvSpPr>
          <p:cNvPr id="782987652" name="Text 27"/>
          <p:cNvSpPr/>
          <p:nvPr/>
        </p:nvSpPr>
        <p:spPr bwMode="auto">
          <a:xfrm>
            <a:off x="4709160" y="315468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USER MODE + KERNEL MODE</a:t>
            </a:r>
            <a:endParaRPr lang="en-US" sz="900"/>
          </a:p>
        </p:txBody>
      </p:sp>
      <p:sp>
        <p:nvSpPr>
          <p:cNvPr id="1826365730" name="Text 28"/>
          <p:cNvSpPr/>
          <p:nvPr/>
        </p:nvSpPr>
        <p:spPr bwMode="auto">
          <a:xfrm>
            <a:off x="4800600" y="3456432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Privilege levels via hardware — apps aisladas del kernel</a:t>
            </a:r>
            <a:endParaRPr lang="en-US" sz="900"/>
          </a:p>
        </p:txBody>
      </p:sp>
      <p:sp>
        <p:nvSpPr>
          <p:cNvPr id="1763581151" name="Shape 29"/>
          <p:cNvSpPr/>
          <p:nvPr/>
        </p:nvSpPr>
        <p:spPr bwMode="auto">
          <a:xfrm>
            <a:off x="457200" y="4085470"/>
            <a:ext cx="8218817" cy="367917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369352316" name="Text 30"/>
          <p:cNvSpPr/>
          <p:nvPr/>
        </p:nvSpPr>
        <p:spPr bwMode="auto">
          <a:xfrm>
            <a:off x="548640" y="4023360"/>
            <a:ext cx="804672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  <a:defRPr/>
            </a:pPr>
            <a:r>
              <a:rPr lang="en-US" sz="1050">
                <a:solidFill>
                  <a:srgbClr val="0070C5"/>
                </a:solidFill>
                <a:latin typeface="Calibri"/>
                <a:ea typeface="Calibri"/>
                <a:cs typeface="Calibri"/>
              </a:rPr>
              <a:t>💡 Sin thrashing </a:t>
            </a:r>
            <a:r>
              <a:rPr lang="en-US" sz="1050">
                <a:solidFill>
                  <a:srgbClr val="0070C5"/>
                </a:solidFill>
                <a:latin typeface="Calibri"/>
                <a:ea typeface="Calibri"/>
                <a:cs typeface="Calibri"/>
              </a:rPr>
              <a:t>posible</a:t>
            </a:r>
            <a:r>
              <a:rPr lang="en-US" sz="1050">
                <a:solidFill>
                  <a:srgbClr val="0070C5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sz="1050">
                <a:solidFill>
                  <a:srgbClr val="0070C5"/>
                </a:solidFill>
                <a:latin typeface="Calibri"/>
                <a:ea typeface="Calibri"/>
                <a:cs typeface="Calibri"/>
              </a:rPr>
              <a:t>recursos</a:t>
            </a:r>
            <a:r>
              <a:rPr lang="en-US" sz="1050">
                <a:solidFill>
                  <a:srgbClr val="0070C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>
                <a:solidFill>
                  <a:srgbClr val="0070C5"/>
                </a:solidFill>
                <a:latin typeface="Calibri"/>
                <a:ea typeface="Calibri"/>
                <a:cs typeface="Calibri"/>
              </a:rPr>
              <a:t>limitados</a:t>
            </a:r>
            <a:r>
              <a:rPr lang="en-US" sz="1050">
                <a:solidFill>
                  <a:srgbClr val="0070C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>
                <a:solidFill>
                  <a:srgbClr val="0070C5"/>
                </a:solidFill>
                <a:latin typeface="Calibri"/>
                <a:ea typeface="Calibri"/>
                <a:cs typeface="Calibri"/>
              </a:rPr>
              <a:t>definidos</a:t>
            </a:r>
            <a:r>
              <a:rPr lang="en-US" sz="1050">
                <a:solidFill>
                  <a:srgbClr val="0070C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>
                <a:solidFill>
                  <a:srgbClr val="0070C5"/>
                </a:solidFill>
                <a:latin typeface="Calibri"/>
                <a:ea typeface="Calibri"/>
                <a:cs typeface="Calibri"/>
              </a:rPr>
              <a:t>por</a:t>
            </a:r>
            <a:r>
              <a:rPr lang="en-US" sz="1050">
                <a:solidFill>
                  <a:srgbClr val="0070C5"/>
                </a:solidFill>
                <a:latin typeface="Calibri"/>
                <a:ea typeface="Calibri"/>
                <a:cs typeface="Calibri"/>
              </a:rPr>
              <a:t> hardware, no </a:t>
            </a:r>
            <a:r>
              <a:rPr lang="en-US" sz="1050">
                <a:solidFill>
                  <a:srgbClr val="0070C5"/>
                </a:solidFill>
                <a:latin typeface="Calibri"/>
                <a:ea typeface="Calibri"/>
                <a:cs typeface="Calibri"/>
              </a:rPr>
              <a:t>por</a:t>
            </a:r>
            <a:r>
              <a:rPr lang="en-US" sz="1050">
                <a:solidFill>
                  <a:srgbClr val="0070C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>
                <a:solidFill>
                  <a:srgbClr val="0070C5"/>
                </a:solidFill>
                <a:latin typeface="Calibri"/>
                <a:ea typeface="Calibri"/>
                <a:cs typeface="Calibri"/>
              </a:rPr>
              <a:t>competencia</a:t>
            </a:r>
            <a:r>
              <a:rPr lang="en-US" sz="1050">
                <a:solidFill>
                  <a:srgbClr val="0070C5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050">
                <a:solidFill>
                  <a:srgbClr val="0070C5"/>
                </a:solidFill>
                <a:latin typeface="Calibri"/>
                <a:ea typeface="Calibri"/>
                <a:cs typeface="Calibri"/>
              </a:rPr>
              <a:t>procesos</a:t>
            </a:r>
            <a:r>
              <a:rPr lang="en-US" sz="1050">
                <a:solidFill>
                  <a:srgbClr val="0070C5"/>
                </a:solidFill>
                <a:latin typeface="Calibri"/>
                <a:ea typeface="Calibri"/>
                <a:cs typeface="Calibri"/>
              </a:rPr>
              <a:t>. </a:t>
            </a:r>
            <a:r>
              <a:rPr lang="en-US" sz="1050">
                <a:solidFill>
                  <a:srgbClr val="0070C5"/>
                </a:solidFill>
                <a:latin typeface="Calibri"/>
                <a:ea typeface="Calibri"/>
                <a:cs typeface="Calibri"/>
              </a:rPr>
              <a:t>Diseñado</a:t>
            </a:r>
            <a:r>
              <a:rPr lang="en-US" sz="1050">
                <a:solidFill>
                  <a:srgbClr val="0070C5"/>
                </a:solidFill>
                <a:latin typeface="Calibri"/>
                <a:ea typeface="Calibri"/>
                <a:cs typeface="Calibri"/>
              </a:rPr>
              <a:t> para MCUs, no para clusters.</a:t>
            </a:r>
            <a:endParaRPr lang="en-US" sz="1050">
              <a:latin typeface="Calibri"/>
              <a:ea typeface="Calibri"/>
              <a:cs typeface="Calibri"/>
            </a:endParaRPr>
          </a:p>
        </p:txBody>
      </p:sp>
      <p:sp>
        <p:nvSpPr>
          <p:cNvPr id="431338426" name="Text 31"/>
          <p:cNvSpPr/>
          <p:nvPr/>
        </p:nvSpPr>
        <p:spPr bwMode="auto">
          <a:xfrm>
            <a:off x="457200" y="477316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1">
    <p:bg>
      <p:bgPr shadeToTitle="0">
        <a:solidFill>
          <a:srgbClr val="F6F7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7958905" name="Shape 0"/>
          <p:cNvSpPr/>
          <p:nvPr/>
        </p:nvSpPr>
        <p:spPr bwMode="auto">
          <a:xfrm>
            <a:off x="8503920" y="4663440"/>
            <a:ext cx="365760" cy="365760"/>
          </a:xfrm>
          <a:prstGeom prst="ellipse">
            <a:avLst/>
          </a:prstGeom>
          <a:solidFill>
            <a:srgbClr val="4C5155"/>
          </a:solidFill>
          <a:ln/>
        </p:spPr>
      </p:sp>
      <p:sp>
        <p:nvSpPr>
          <p:cNvPr id="1406880148" name="Text 1"/>
          <p:cNvSpPr/>
          <p:nvPr/>
        </p:nvSpPr>
        <p:spPr bwMode="auto"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11</a:t>
            </a:r>
            <a:endParaRPr lang="en-US" sz="1200"/>
          </a:p>
        </p:txBody>
      </p:sp>
      <p:sp>
        <p:nvSpPr>
          <p:cNvPr id="260282070" name="Text 2"/>
          <p:cNvSpPr/>
          <p:nvPr/>
        </p:nvSpPr>
        <p:spPr bwMode="auto">
          <a:xfrm>
            <a:off x="457200" y="2743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2600" b="1">
                <a:solidFill>
                  <a:srgbClr val="2D3237"/>
                </a:solidFill>
                <a:latin typeface="Arial Black"/>
                <a:ea typeface="Arial Black"/>
                <a:cs typeface="Arial Black"/>
              </a:rPr>
              <a:t>MOSIX — Administración de Memoria</a:t>
            </a:r>
            <a:endParaRPr lang="en-US" sz="2600"/>
          </a:p>
        </p:txBody>
      </p:sp>
      <p:sp>
        <p:nvSpPr>
          <p:cNvPr id="1978537647" name="Text 3"/>
          <p:cNvSpPr/>
          <p:nvPr/>
        </p:nvSpPr>
        <p:spPr bwMode="auto">
          <a:xfrm>
            <a:off x="457200" y="7498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200" i="1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Memory Ushering — migración proactiva de páginas entre nodos</a:t>
            </a:r>
            <a:endParaRPr lang="en-US" sz="1200"/>
          </a:p>
        </p:txBody>
      </p:sp>
      <p:sp>
        <p:nvSpPr>
          <p:cNvPr id="1286424294" name="Shape 4"/>
          <p:cNvSpPr/>
          <p:nvPr/>
        </p:nvSpPr>
        <p:spPr bwMode="auto">
          <a:xfrm>
            <a:off x="457200" y="1051560"/>
            <a:ext cx="4114800" cy="265176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19178491" name="Shape 5"/>
          <p:cNvSpPr/>
          <p:nvPr/>
        </p:nvSpPr>
        <p:spPr bwMode="auto">
          <a:xfrm>
            <a:off x="457200" y="1051560"/>
            <a:ext cx="4114800" cy="274320"/>
          </a:xfrm>
          <a:prstGeom prst="rect">
            <a:avLst/>
          </a:prstGeom>
          <a:solidFill>
            <a:srgbClr val="4C5155"/>
          </a:solidFill>
          <a:ln/>
        </p:spPr>
      </p:sp>
      <p:sp>
        <p:nvSpPr>
          <p:cNvPr id="1295178021" name="Text 6"/>
          <p:cNvSpPr/>
          <p:nvPr/>
        </p:nvSpPr>
        <p:spPr bwMode="auto">
          <a:xfrm>
            <a:off x="457200" y="10515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 spc="100">
                <a:solidFill>
                  <a:srgbClr val="FFFFFF"/>
                </a:solidFill>
                <a:latin typeface="Arial"/>
                <a:ea typeface="Arial"/>
                <a:cs typeface="Arial"/>
              </a:rPr>
              <a:t>MEMORY USHERING — FLUJO</a:t>
            </a:r>
            <a:endParaRPr lang="en-US" sz="900"/>
          </a:p>
        </p:txBody>
      </p:sp>
      <p:sp>
        <p:nvSpPr>
          <p:cNvPr id="1537168565" name="Shape 7"/>
          <p:cNvSpPr/>
          <p:nvPr/>
        </p:nvSpPr>
        <p:spPr bwMode="auto">
          <a:xfrm>
            <a:off x="640080" y="1463040"/>
            <a:ext cx="1554480" cy="1188720"/>
          </a:xfrm>
          <a:prstGeom prst="rect">
            <a:avLst/>
          </a:prstGeom>
          <a:solidFill>
            <a:srgbClr val="F6F7F8"/>
          </a:solidFill>
          <a:ln w="25400">
            <a:solidFill>
              <a:srgbClr val="4C5155"/>
            </a:solidFill>
            <a:prstDash val="solid"/>
          </a:ln>
        </p:spPr>
      </p:sp>
      <p:sp>
        <p:nvSpPr>
          <p:cNvPr id="393112127" name="Text 8"/>
          <p:cNvSpPr/>
          <p:nvPr/>
        </p:nvSpPr>
        <p:spPr bwMode="auto">
          <a:xfrm>
            <a:off x="640080" y="14630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4C5155"/>
                </a:solidFill>
                <a:latin typeface="Arial"/>
                <a:ea typeface="Arial"/>
                <a:cs typeface="Arial"/>
              </a:rPr>
              <a:t>NODO A</a:t>
            </a:r>
            <a:endParaRPr lang="en-US" sz="1000"/>
          </a:p>
        </p:txBody>
      </p:sp>
      <p:sp>
        <p:nvSpPr>
          <p:cNvPr id="1897536012" name="Text 9"/>
          <p:cNvSpPr/>
          <p:nvPr/>
        </p:nvSpPr>
        <p:spPr bwMode="auto">
          <a:xfrm>
            <a:off x="640080" y="17373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Memoria</a:t>
            </a:r>
            <a:endParaRPr lang="en-US" sz="900"/>
          </a:p>
          <a:p>
            <a:pPr marL="0" indent="0" algn="ctr">
              <a:buNone/>
              <a:defRPr/>
            </a:pPr>
            <a:r>
              <a:rPr lang="en-US" sz="9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casi llena</a:t>
            </a:r>
            <a:endParaRPr lang="en-US" sz="900"/>
          </a:p>
        </p:txBody>
      </p:sp>
      <p:sp>
        <p:nvSpPr>
          <p:cNvPr id="1544387495" name="Shape 10"/>
          <p:cNvSpPr/>
          <p:nvPr/>
        </p:nvSpPr>
        <p:spPr bwMode="auto">
          <a:xfrm>
            <a:off x="914400" y="2194560"/>
            <a:ext cx="1005840" cy="320040"/>
          </a:xfrm>
          <a:prstGeom prst="rect">
            <a:avLst/>
          </a:prstGeom>
          <a:solidFill>
            <a:srgbClr val="8C9196"/>
          </a:solidFill>
          <a:ln w="12700">
            <a:solidFill>
              <a:srgbClr val="4C5155"/>
            </a:solidFill>
            <a:prstDash val="solid"/>
          </a:ln>
        </p:spPr>
      </p:sp>
      <p:sp>
        <p:nvSpPr>
          <p:cNvPr id="1634522418" name="Text 11"/>
          <p:cNvSpPr/>
          <p:nvPr/>
        </p:nvSpPr>
        <p:spPr bwMode="auto">
          <a:xfrm>
            <a:off x="914400" y="21945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Página X</a:t>
            </a:r>
            <a:endParaRPr lang="en-US" sz="800"/>
          </a:p>
        </p:txBody>
      </p:sp>
      <p:sp>
        <p:nvSpPr>
          <p:cNvPr id="1112770538" name="Shape 12"/>
          <p:cNvSpPr/>
          <p:nvPr/>
        </p:nvSpPr>
        <p:spPr bwMode="auto">
          <a:xfrm>
            <a:off x="2240280" y="2331720"/>
            <a:ext cx="731520" cy="0"/>
          </a:xfrm>
          <a:prstGeom prst="line">
            <a:avLst/>
          </a:prstGeom>
          <a:noFill/>
          <a:ln w="38100">
            <a:solidFill>
              <a:srgbClr val="4C5155"/>
            </a:solidFill>
            <a:prstDash val="solid"/>
          </a:ln>
        </p:spPr>
      </p:sp>
      <p:sp>
        <p:nvSpPr>
          <p:cNvPr id="1172868956" name="Text 13"/>
          <p:cNvSpPr/>
          <p:nvPr/>
        </p:nvSpPr>
        <p:spPr bwMode="auto">
          <a:xfrm>
            <a:off x="2331720" y="205740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migra</a:t>
            </a:r>
            <a:endParaRPr lang="en-US" sz="800"/>
          </a:p>
        </p:txBody>
      </p:sp>
      <p:sp>
        <p:nvSpPr>
          <p:cNvPr id="448667733" name="Shape 14"/>
          <p:cNvSpPr/>
          <p:nvPr/>
        </p:nvSpPr>
        <p:spPr bwMode="auto">
          <a:xfrm>
            <a:off x="3017519" y="1463040"/>
            <a:ext cx="1371600" cy="1188720"/>
          </a:xfrm>
          <a:prstGeom prst="rect">
            <a:avLst/>
          </a:prstGeom>
          <a:solidFill>
            <a:srgbClr val="F6F7F8"/>
          </a:solidFill>
          <a:ln w="25400">
            <a:solidFill>
              <a:srgbClr val="4C5155"/>
            </a:solidFill>
            <a:prstDash val="solid"/>
          </a:ln>
        </p:spPr>
      </p:sp>
      <p:sp>
        <p:nvSpPr>
          <p:cNvPr id="1712951846" name="Text 15"/>
          <p:cNvSpPr/>
          <p:nvPr/>
        </p:nvSpPr>
        <p:spPr bwMode="auto">
          <a:xfrm>
            <a:off x="3017519" y="1463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4C5155"/>
                </a:solidFill>
                <a:latin typeface="Arial"/>
                <a:ea typeface="Arial"/>
                <a:cs typeface="Arial"/>
              </a:rPr>
              <a:t>NODO B</a:t>
            </a:r>
            <a:endParaRPr lang="en-US" sz="1000"/>
          </a:p>
        </p:txBody>
      </p:sp>
      <p:sp>
        <p:nvSpPr>
          <p:cNvPr id="95997926" name="Text 16"/>
          <p:cNvSpPr/>
          <p:nvPr/>
        </p:nvSpPr>
        <p:spPr bwMode="auto">
          <a:xfrm>
            <a:off x="3017519" y="17373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Memoria</a:t>
            </a:r>
            <a:endParaRPr lang="en-US" sz="900"/>
          </a:p>
          <a:p>
            <a:pPr marL="0" indent="0" algn="ctr">
              <a:buNone/>
              <a:defRPr/>
            </a:pPr>
            <a:r>
              <a:rPr lang="en-US" sz="9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disponible</a:t>
            </a:r>
            <a:endParaRPr lang="en-US" sz="900"/>
          </a:p>
        </p:txBody>
      </p:sp>
      <p:sp>
        <p:nvSpPr>
          <p:cNvPr id="1647002239" name="Shape 17"/>
          <p:cNvSpPr/>
          <p:nvPr/>
        </p:nvSpPr>
        <p:spPr bwMode="auto">
          <a:xfrm>
            <a:off x="3154680" y="2194560"/>
            <a:ext cx="1097280" cy="320040"/>
          </a:xfrm>
          <a:prstGeom prst="rect">
            <a:avLst/>
          </a:prstGeom>
          <a:solidFill>
            <a:srgbClr val="D1D3D5">
              <a:alpha val="50000"/>
            </a:srgbClr>
          </a:solidFill>
          <a:ln w="12700">
            <a:solidFill>
              <a:srgbClr val="4C5155"/>
            </a:solidFill>
            <a:prstDash val="dash"/>
          </a:ln>
        </p:spPr>
      </p:sp>
      <p:sp>
        <p:nvSpPr>
          <p:cNvPr id="1367524692" name="Text 18"/>
          <p:cNvSpPr/>
          <p:nvPr/>
        </p:nvSpPr>
        <p:spPr bwMode="auto">
          <a:xfrm>
            <a:off x="3154680" y="21945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libre</a:t>
            </a:r>
            <a:endParaRPr lang="en-US" sz="800"/>
          </a:p>
        </p:txBody>
      </p:sp>
      <p:sp>
        <p:nvSpPr>
          <p:cNvPr id="1939647677" name="Shape 19"/>
          <p:cNvSpPr/>
          <p:nvPr/>
        </p:nvSpPr>
        <p:spPr bwMode="auto">
          <a:xfrm>
            <a:off x="640080" y="2788920"/>
            <a:ext cx="3749040" cy="777240"/>
          </a:xfrm>
          <a:prstGeom prst="rect">
            <a:avLst/>
          </a:prstGeom>
          <a:solidFill>
            <a:srgbClr val="8C9196">
              <a:alpha val="30000"/>
            </a:srgbClr>
          </a:solidFill>
          <a:ln/>
        </p:spPr>
      </p:sp>
      <p:sp>
        <p:nvSpPr>
          <p:cNvPr id="173672803" name="Text 20"/>
          <p:cNvSpPr/>
          <p:nvPr/>
        </p:nvSpPr>
        <p:spPr bwMode="auto">
          <a:xfrm>
            <a:off x="731520" y="283464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Decision: Nodo A tiene poca memoria libre →</a:t>
            </a: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MOSIX migra página X proactivamente antes de OOM</a:t>
            </a:r>
            <a:endParaRPr lang="en-US" sz="900"/>
          </a:p>
        </p:txBody>
      </p:sp>
      <p:sp>
        <p:nvSpPr>
          <p:cNvPr id="56864195" name="Shape 21"/>
          <p:cNvSpPr/>
          <p:nvPr/>
        </p:nvSpPr>
        <p:spPr bwMode="auto">
          <a:xfrm>
            <a:off x="4709160" y="1051560"/>
            <a:ext cx="397764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25794770" name="Shape 22"/>
          <p:cNvSpPr/>
          <p:nvPr/>
        </p:nvSpPr>
        <p:spPr bwMode="auto">
          <a:xfrm>
            <a:off x="4709160" y="1051560"/>
            <a:ext cx="3977640" cy="256032"/>
          </a:xfrm>
          <a:prstGeom prst="rect">
            <a:avLst/>
          </a:prstGeom>
          <a:solidFill>
            <a:srgbClr val="4C5155"/>
          </a:solidFill>
          <a:ln/>
        </p:spPr>
      </p:sp>
      <p:sp>
        <p:nvSpPr>
          <p:cNvPr id="1634570685" name="Text 23"/>
          <p:cNvSpPr/>
          <p:nvPr/>
        </p:nvSpPr>
        <p:spPr bwMode="auto">
          <a:xfrm>
            <a:off x="4709160" y="105156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MEMORIA VIRTUAL DISTRIBUIDA</a:t>
            </a:r>
            <a:endParaRPr lang="en-US" sz="900"/>
          </a:p>
        </p:txBody>
      </p:sp>
      <p:sp>
        <p:nvSpPr>
          <p:cNvPr id="201651455" name="Text 24"/>
          <p:cNvSpPr/>
          <p:nvPr/>
        </p:nvSpPr>
        <p:spPr bwMode="auto">
          <a:xfrm>
            <a:off x="4800600" y="1353312"/>
            <a:ext cx="37947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Tabla de páginas distribuida entre nodos</a:t>
            </a:r>
            <a:endParaRPr lang="en-US" sz="900"/>
          </a:p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Checkpoint/Restart: serializa estado de memoria</a:t>
            </a:r>
            <a:endParaRPr lang="en-US" sz="900"/>
          </a:p>
        </p:txBody>
      </p:sp>
      <p:sp>
        <p:nvSpPr>
          <p:cNvPr id="1072954554" name="Shape 25"/>
          <p:cNvSpPr/>
          <p:nvPr/>
        </p:nvSpPr>
        <p:spPr bwMode="auto">
          <a:xfrm>
            <a:off x="4709160" y="2011680"/>
            <a:ext cx="397764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07887819" name="Shape 26"/>
          <p:cNvSpPr/>
          <p:nvPr/>
        </p:nvSpPr>
        <p:spPr bwMode="auto">
          <a:xfrm>
            <a:off x="4709160" y="2011680"/>
            <a:ext cx="3977640" cy="256032"/>
          </a:xfrm>
          <a:prstGeom prst="rect">
            <a:avLst/>
          </a:prstGeom>
          <a:solidFill>
            <a:srgbClr val="4C5155"/>
          </a:solidFill>
          <a:ln/>
        </p:spPr>
      </p:sp>
      <p:sp>
        <p:nvSpPr>
          <p:cNvPr id="1618646223" name="Text 27"/>
          <p:cNvSpPr/>
          <p:nvPr/>
        </p:nvSpPr>
        <p:spPr bwMode="auto">
          <a:xfrm>
            <a:off x="4709160" y="201168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KEY MECHANISM</a:t>
            </a:r>
            <a:endParaRPr lang="en-US" sz="900"/>
          </a:p>
        </p:txBody>
      </p:sp>
      <p:sp>
        <p:nvSpPr>
          <p:cNvPr id="1872478902" name="Text 28"/>
          <p:cNvSpPr/>
          <p:nvPr/>
        </p:nvSpPr>
        <p:spPr bwMode="auto">
          <a:xfrm>
            <a:off x="4800600" y="2313432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Monitorea memoria de todos los nodos y migra procesos cuando detecta presión de memoria</a:t>
            </a:r>
            <a:endParaRPr lang="en-US" sz="900"/>
          </a:p>
        </p:txBody>
      </p:sp>
      <p:sp>
        <p:nvSpPr>
          <p:cNvPr id="2102417031" name="Shape 29"/>
          <p:cNvSpPr/>
          <p:nvPr/>
        </p:nvSpPr>
        <p:spPr bwMode="auto">
          <a:xfrm>
            <a:off x="4709160" y="2788920"/>
            <a:ext cx="39776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40116810" name="Shape 30"/>
          <p:cNvSpPr/>
          <p:nvPr/>
        </p:nvSpPr>
        <p:spPr bwMode="auto">
          <a:xfrm>
            <a:off x="4709160" y="2788920"/>
            <a:ext cx="3977640" cy="25603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57686047" name="Text 31"/>
          <p:cNvSpPr/>
          <p:nvPr/>
        </p:nvSpPr>
        <p:spPr bwMode="auto">
          <a:xfrm>
            <a:off x="4709160" y="278892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LIMITACIONES</a:t>
            </a:r>
            <a:endParaRPr lang="en-US" sz="900"/>
          </a:p>
        </p:txBody>
      </p:sp>
      <p:sp>
        <p:nvSpPr>
          <p:cNvPr id="1924321962" name="Text 32"/>
          <p:cNvSpPr/>
          <p:nvPr/>
        </p:nvSpPr>
        <p:spPr bwMode="auto">
          <a:xfrm>
            <a:off x="4800600" y="3090672"/>
            <a:ext cx="37947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✗ Sin shared memory entre procesos</a:t>
            </a:r>
            <a:endParaRPr lang="en-US" sz="900"/>
          </a:p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✗ Modelo 'shared-nothing' por nodo</a:t>
            </a:r>
            <a:endParaRPr lang="en-US" sz="900"/>
          </a:p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✗ Migración de procesos con mucha memoria = overhead de red</a:t>
            </a:r>
            <a:endParaRPr lang="en-US" sz="900"/>
          </a:p>
        </p:txBody>
      </p:sp>
      <p:sp>
        <p:nvSpPr>
          <p:cNvPr id="1375779319" name="Text 33"/>
          <p:cNvSpPr/>
          <p:nvPr/>
        </p:nvSpPr>
        <p:spPr bwMode="auto">
          <a:xfrm>
            <a:off x="457200" y="477316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2">
    <p:bg>
      <p:bgPr shadeToTitle="0">
        <a:solidFill>
          <a:srgbClr val="F6F7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6058515" name="Shape 0"/>
          <p:cNvSpPr/>
          <p:nvPr/>
        </p:nvSpPr>
        <p:spPr bwMode="auto">
          <a:xfrm>
            <a:off x="8503920" y="4663440"/>
            <a:ext cx="365760" cy="365760"/>
          </a:xfrm>
          <a:prstGeom prst="ellipse">
            <a:avLst/>
          </a:prstGeom>
          <a:solidFill>
            <a:srgbClr val="0070C5"/>
          </a:solidFill>
          <a:ln/>
        </p:spPr>
      </p:sp>
      <p:sp>
        <p:nvSpPr>
          <p:cNvPr id="1836749343" name="Text 1"/>
          <p:cNvSpPr/>
          <p:nvPr/>
        </p:nvSpPr>
        <p:spPr bwMode="auto"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12</a:t>
            </a:r>
            <a:endParaRPr lang="en-US" sz="1200"/>
          </a:p>
        </p:txBody>
      </p:sp>
      <p:sp>
        <p:nvSpPr>
          <p:cNvPr id="651042577" name="Text 2"/>
          <p:cNvSpPr/>
          <p:nvPr/>
        </p:nvSpPr>
        <p:spPr bwMode="auto">
          <a:xfrm>
            <a:off x="457200" y="274320"/>
            <a:ext cx="8693523" cy="4760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2400" b="1">
                <a:solidFill>
                  <a:srgbClr val="2D3237"/>
                </a:solidFill>
                <a:latin typeface="Arial Black"/>
                <a:ea typeface="Arial Black"/>
                <a:cs typeface="Arial Black"/>
              </a:rPr>
              <a:t>Zephyr OS — Administración del Procesador</a:t>
            </a:r>
            <a:endParaRPr lang="en-US" sz="2400"/>
          </a:p>
        </p:txBody>
      </p:sp>
      <p:sp>
        <p:nvSpPr>
          <p:cNvPr id="667001530" name="Text 3"/>
          <p:cNvSpPr/>
          <p:nvPr/>
        </p:nvSpPr>
        <p:spPr bwMode="auto">
          <a:xfrm>
            <a:off x="391960" y="750345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200" i="1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Thread scheduling — priority-based, sin quantum clásico</a:t>
            </a:r>
            <a:endParaRPr lang="en-US" sz="1200"/>
          </a:p>
        </p:txBody>
      </p:sp>
      <p:sp>
        <p:nvSpPr>
          <p:cNvPr id="308264711" name="Shape 4"/>
          <p:cNvSpPr/>
          <p:nvPr/>
        </p:nvSpPr>
        <p:spPr bwMode="auto">
          <a:xfrm>
            <a:off x="448235" y="1177656"/>
            <a:ext cx="4114799" cy="3144653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47366453" name="Shape 5"/>
          <p:cNvSpPr/>
          <p:nvPr/>
        </p:nvSpPr>
        <p:spPr bwMode="auto">
          <a:xfrm>
            <a:off x="457200" y="1051560"/>
            <a:ext cx="4114800" cy="256032"/>
          </a:xfrm>
          <a:prstGeom prst="rect">
            <a:avLst/>
          </a:prstGeom>
          <a:solidFill>
            <a:srgbClr val="0070C5"/>
          </a:solidFill>
          <a:ln/>
        </p:spPr>
      </p:sp>
      <p:sp>
        <p:nvSpPr>
          <p:cNvPr id="1415817113" name="Text 6"/>
          <p:cNvSpPr/>
          <p:nvPr/>
        </p:nvSpPr>
        <p:spPr bwMode="auto">
          <a:xfrm>
            <a:off x="457200" y="10515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 spc="100">
                <a:solidFill>
                  <a:srgbClr val="FFFFFF"/>
                </a:solidFill>
                <a:latin typeface="Arial"/>
                <a:ea typeface="Arial"/>
                <a:cs typeface="Arial"/>
              </a:rPr>
              <a:t>ESTADOS DE THREAD </a:t>
            </a:r>
            <a:endParaRPr lang="en-US" sz="900"/>
          </a:p>
        </p:txBody>
      </p:sp>
      <p:sp>
        <p:nvSpPr>
          <p:cNvPr id="1737398488" name="Shape 29"/>
          <p:cNvSpPr/>
          <p:nvPr/>
        </p:nvSpPr>
        <p:spPr bwMode="auto">
          <a:xfrm>
            <a:off x="4709160" y="1051560"/>
            <a:ext cx="397764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9347732" name="Shape 30"/>
          <p:cNvSpPr/>
          <p:nvPr/>
        </p:nvSpPr>
        <p:spPr bwMode="auto">
          <a:xfrm>
            <a:off x="4709160" y="1051560"/>
            <a:ext cx="3977640" cy="256032"/>
          </a:xfrm>
          <a:prstGeom prst="rect">
            <a:avLst/>
          </a:prstGeom>
          <a:solidFill>
            <a:srgbClr val="0070C5"/>
          </a:solidFill>
          <a:ln/>
        </p:spPr>
      </p:sp>
      <p:sp>
        <p:nvSpPr>
          <p:cNvPr id="1757117712" name="Text 31"/>
          <p:cNvSpPr/>
          <p:nvPr/>
        </p:nvSpPr>
        <p:spPr bwMode="auto">
          <a:xfrm>
            <a:off x="4709160" y="105156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POLÍTICAS DE SCHEDULING</a:t>
            </a:r>
            <a:endParaRPr lang="en-US" sz="900"/>
          </a:p>
        </p:txBody>
      </p:sp>
      <p:sp>
        <p:nvSpPr>
          <p:cNvPr id="983974616" name="Text 32"/>
          <p:cNvSpPr/>
          <p:nvPr/>
        </p:nvSpPr>
        <p:spPr bwMode="auto">
          <a:xfrm>
            <a:off x="4800600" y="1353312"/>
            <a:ext cx="37947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Cooperativo: hilo cede CPU voluntariamente</a:t>
            </a:r>
            <a:endParaRPr lang="en-US" sz="900"/>
          </a:p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Preemptive: hilo de mayor prioridad desaloja</a:t>
            </a:r>
            <a:endParaRPr lang="en-US" sz="900"/>
          </a:p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Híbrido: combinación de ambos (usuario elige)</a:t>
            </a:r>
            <a:endParaRPr lang="en-US" sz="900"/>
          </a:p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Priority-based: sin Round Robin (primer cola = primero)</a:t>
            </a:r>
            <a:endParaRPr lang="en-US" sz="900"/>
          </a:p>
        </p:txBody>
      </p:sp>
      <p:sp>
        <p:nvSpPr>
          <p:cNvPr id="1905693717" name="Shape 33"/>
          <p:cNvSpPr/>
          <p:nvPr/>
        </p:nvSpPr>
        <p:spPr bwMode="auto">
          <a:xfrm>
            <a:off x="4709160" y="2286000"/>
            <a:ext cx="397764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55096772" name="Shape 34"/>
          <p:cNvSpPr/>
          <p:nvPr/>
        </p:nvSpPr>
        <p:spPr bwMode="auto">
          <a:xfrm>
            <a:off x="4709160" y="2286000"/>
            <a:ext cx="3977640" cy="256032"/>
          </a:xfrm>
          <a:prstGeom prst="rect">
            <a:avLst/>
          </a:prstGeom>
          <a:solidFill>
            <a:srgbClr val="0070C5"/>
          </a:solidFill>
          <a:ln/>
        </p:spPr>
      </p:sp>
      <p:sp>
        <p:nvSpPr>
          <p:cNvPr id="334698505" name="Text 35"/>
          <p:cNvSpPr/>
          <p:nvPr/>
        </p:nvSpPr>
        <p:spPr bwMode="auto">
          <a:xfrm>
            <a:off x="4709160" y="228600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PRIORITY INHERITANCE</a:t>
            </a:r>
            <a:endParaRPr lang="en-US" sz="900"/>
          </a:p>
        </p:txBody>
      </p:sp>
      <p:sp>
        <p:nvSpPr>
          <p:cNvPr id="799453716" name="Text 36"/>
          <p:cNvSpPr/>
          <p:nvPr/>
        </p:nvSpPr>
        <p:spPr bwMode="auto">
          <a:xfrm>
            <a:off x="4800600" y="2587752"/>
            <a:ext cx="3794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Evita inversión de prioridad — hilo bajo hereda prioridad de hilo alto que espera un recurso</a:t>
            </a:r>
            <a:endParaRPr lang="en-US" sz="900"/>
          </a:p>
        </p:txBody>
      </p:sp>
      <p:sp>
        <p:nvSpPr>
          <p:cNvPr id="1389235610" name="Shape 37"/>
          <p:cNvSpPr/>
          <p:nvPr/>
        </p:nvSpPr>
        <p:spPr bwMode="auto">
          <a:xfrm>
            <a:off x="4709160" y="3017519"/>
            <a:ext cx="397764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47026637" name="Shape 38"/>
          <p:cNvSpPr/>
          <p:nvPr/>
        </p:nvSpPr>
        <p:spPr bwMode="auto">
          <a:xfrm>
            <a:off x="4709160" y="3017519"/>
            <a:ext cx="3977640" cy="256032"/>
          </a:xfrm>
          <a:prstGeom prst="rect">
            <a:avLst/>
          </a:prstGeom>
          <a:solidFill>
            <a:srgbClr val="0070C5"/>
          </a:solidFill>
          <a:ln/>
        </p:spPr>
      </p:sp>
      <p:sp>
        <p:nvSpPr>
          <p:cNvPr id="1442905816" name="Text 39"/>
          <p:cNvSpPr/>
          <p:nvPr/>
        </p:nvSpPr>
        <p:spPr bwMode="auto">
          <a:xfrm>
            <a:off x="4709160" y="3017519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SIN QUANTUM CLÁSICO </a:t>
            </a:r>
            <a:endParaRPr lang="en-US" sz="900"/>
          </a:p>
        </p:txBody>
      </p:sp>
      <p:sp>
        <p:nvSpPr>
          <p:cNvPr id="1642301039" name="Text 40"/>
          <p:cNvSpPr/>
          <p:nvPr/>
        </p:nvSpPr>
        <p:spPr bwMode="auto">
          <a:xfrm>
            <a:off x="4800600" y="3310127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No hay time-slicing entre threads de igual prioridad</a:t>
            </a:r>
            <a:endParaRPr lang="en-US" sz="900"/>
          </a:p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Syscalls cómo function calls — sin context switch kernel/user</a:t>
            </a:r>
            <a:endParaRPr lang="en-US" sz="900"/>
          </a:p>
        </p:txBody>
      </p:sp>
      <p:sp>
        <p:nvSpPr>
          <p:cNvPr id="268554016" name="Text 41"/>
          <p:cNvSpPr/>
          <p:nvPr/>
        </p:nvSpPr>
        <p:spPr bwMode="auto">
          <a:xfrm>
            <a:off x="457200" y="477316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endParaRPr lang="en-US" sz="900"/>
          </a:p>
        </p:txBody>
      </p:sp>
      <p:pic>
        <p:nvPicPr>
          <p:cNvPr id="1683981409" name="Gráfico 43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>
            <a:off x="487279" y="1472060"/>
            <a:ext cx="4050632" cy="2597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3">
    <p:bg>
      <p:bgPr shadeToTitle="0">
        <a:solidFill>
          <a:srgbClr val="F6F7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9697328" name="Shape 0"/>
          <p:cNvSpPr/>
          <p:nvPr/>
        </p:nvSpPr>
        <p:spPr bwMode="auto">
          <a:xfrm>
            <a:off x="8503920" y="4663440"/>
            <a:ext cx="365760" cy="365760"/>
          </a:xfrm>
          <a:prstGeom prst="ellipse">
            <a:avLst/>
          </a:prstGeom>
          <a:solidFill>
            <a:srgbClr val="4C5155"/>
          </a:solidFill>
          <a:ln/>
        </p:spPr>
      </p:sp>
      <p:sp>
        <p:nvSpPr>
          <p:cNvPr id="1443695517" name="Text 1"/>
          <p:cNvSpPr/>
          <p:nvPr/>
        </p:nvSpPr>
        <p:spPr bwMode="auto"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13</a:t>
            </a:r>
            <a:endParaRPr lang="en-US" sz="1200"/>
          </a:p>
        </p:txBody>
      </p:sp>
      <p:sp>
        <p:nvSpPr>
          <p:cNvPr id="341846031" name="Text 2"/>
          <p:cNvSpPr/>
          <p:nvPr/>
        </p:nvSpPr>
        <p:spPr bwMode="auto">
          <a:xfrm>
            <a:off x="457200" y="2743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2400" b="1">
                <a:solidFill>
                  <a:srgbClr val="2D3237"/>
                </a:solidFill>
                <a:latin typeface="Arial Black"/>
                <a:ea typeface="Arial Black"/>
                <a:cs typeface="Arial Black"/>
              </a:rPr>
              <a:t>MOSIX — Administración del Procesador</a:t>
            </a:r>
            <a:endParaRPr lang="en-US" sz="2400"/>
          </a:p>
        </p:txBody>
      </p:sp>
      <p:sp>
        <p:nvSpPr>
          <p:cNvPr id="1623364426" name="Text 3"/>
          <p:cNvSpPr/>
          <p:nvPr/>
        </p:nvSpPr>
        <p:spPr bwMode="auto">
          <a:xfrm>
            <a:off x="457200" y="7498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200" i="1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Migration como scheduling distribuido — PCB transferido entre nodos</a:t>
            </a:r>
            <a:endParaRPr lang="en-US" sz="1200"/>
          </a:p>
        </p:txBody>
      </p:sp>
      <p:sp>
        <p:nvSpPr>
          <p:cNvPr id="150899336" name="Shape 4"/>
          <p:cNvSpPr/>
          <p:nvPr/>
        </p:nvSpPr>
        <p:spPr bwMode="auto">
          <a:xfrm>
            <a:off x="457200" y="1051560"/>
            <a:ext cx="4114800" cy="297180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14810391" name="Shape 5"/>
          <p:cNvSpPr/>
          <p:nvPr/>
        </p:nvSpPr>
        <p:spPr bwMode="auto">
          <a:xfrm>
            <a:off x="457200" y="1051560"/>
            <a:ext cx="4114800" cy="256032"/>
          </a:xfrm>
          <a:prstGeom prst="rect">
            <a:avLst/>
          </a:prstGeom>
          <a:solidFill>
            <a:srgbClr val="4C5155"/>
          </a:solidFill>
          <a:ln/>
        </p:spPr>
      </p:sp>
      <p:sp>
        <p:nvSpPr>
          <p:cNvPr id="2018274944" name="Text 6"/>
          <p:cNvSpPr/>
          <p:nvPr/>
        </p:nvSpPr>
        <p:spPr bwMode="auto">
          <a:xfrm>
            <a:off x="457200" y="10515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 spc="100">
                <a:solidFill>
                  <a:srgbClr val="FFFFFF"/>
                </a:solidFill>
                <a:latin typeface="Arial"/>
                <a:ea typeface="Arial"/>
                <a:cs typeface="Arial"/>
              </a:rPr>
              <a:t>MIGRACIÓN DE PROCESO </a:t>
            </a:r>
            <a:endParaRPr lang="en-US" sz="900"/>
          </a:p>
        </p:txBody>
      </p:sp>
      <p:sp>
        <p:nvSpPr>
          <p:cNvPr id="1662681234" name="Shape 7"/>
          <p:cNvSpPr/>
          <p:nvPr/>
        </p:nvSpPr>
        <p:spPr bwMode="auto">
          <a:xfrm>
            <a:off x="640080" y="1463040"/>
            <a:ext cx="1489934" cy="1904103"/>
          </a:xfrm>
          <a:prstGeom prst="rect">
            <a:avLst/>
          </a:prstGeom>
          <a:solidFill>
            <a:srgbClr val="F6F7F8"/>
          </a:solidFill>
          <a:ln w="25400">
            <a:solidFill>
              <a:srgbClr val="4C5155"/>
            </a:solidFill>
            <a:prstDash val="solid"/>
          </a:ln>
        </p:spPr>
      </p:sp>
      <p:sp>
        <p:nvSpPr>
          <p:cNvPr id="1091404089" name="Text 8"/>
          <p:cNvSpPr/>
          <p:nvPr/>
        </p:nvSpPr>
        <p:spPr bwMode="auto">
          <a:xfrm>
            <a:off x="640080" y="14630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4C5155"/>
                </a:solidFill>
                <a:latin typeface="Arial"/>
                <a:ea typeface="Arial"/>
                <a:cs typeface="Arial"/>
              </a:rPr>
              <a:t>NODO A</a:t>
            </a:r>
            <a:endParaRPr lang="en-US" sz="900"/>
          </a:p>
          <a:p>
            <a:pPr marL="0" indent="0" algn="ctr">
              <a:buNone/>
              <a:defRPr/>
            </a:pPr>
            <a:r>
              <a:rPr lang="en-US" sz="900" b="1">
                <a:solidFill>
                  <a:srgbClr val="4C5155"/>
                </a:solidFill>
                <a:latin typeface="Arial"/>
                <a:ea typeface="Arial"/>
                <a:cs typeface="Arial"/>
              </a:rPr>
              <a:t>(origen)</a:t>
            </a:r>
            <a:endParaRPr lang="en-US" sz="900"/>
          </a:p>
        </p:txBody>
      </p:sp>
      <p:sp>
        <p:nvSpPr>
          <p:cNvPr id="1733848481" name="Shape 9"/>
          <p:cNvSpPr/>
          <p:nvPr/>
        </p:nvSpPr>
        <p:spPr bwMode="auto">
          <a:xfrm>
            <a:off x="777240" y="1874520"/>
            <a:ext cx="1188720" cy="411480"/>
          </a:xfrm>
          <a:prstGeom prst="rect">
            <a:avLst/>
          </a:prstGeom>
          <a:solidFill>
            <a:srgbClr val="8C9196"/>
          </a:solidFill>
          <a:ln/>
        </p:spPr>
      </p:sp>
      <p:sp>
        <p:nvSpPr>
          <p:cNvPr id="1769408475" name="Text 10"/>
          <p:cNvSpPr/>
          <p:nvPr/>
        </p:nvSpPr>
        <p:spPr bwMode="auto">
          <a:xfrm>
            <a:off x="790687" y="1834179"/>
            <a:ext cx="118872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PCB + mem</a:t>
            </a:r>
            <a:endParaRPr lang="en-US" sz="10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934932305" name="Text 11"/>
          <p:cNvSpPr/>
          <p:nvPr/>
        </p:nvSpPr>
        <p:spPr bwMode="auto">
          <a:xfrm>
            <a:off x="797411" y="2065469"/>
            <a:ext cx="118872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en</a:t>
            </a:r>
            <a:r>
              <a:rPr lang="en-US" sz="8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8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ejecución</a:t>
            </a:r>
            <a:endParaRPr lang="en-US" sz="8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25391063" name="Text 12"/>
          <p:cNvSpPr/>
          <p:nvPr/>
        </p:nvSpPr>
        <p:spPr bwMode="auto">
          <a:xfrm>
            <a:off x="956086" y="2505187"/>
            <a:ext cx="822960" cy="1645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serializa</a:t>
            </a:r>
            <a:endParaRPr lang="en-US" sz="700">
              <a:latin typeface="Calibri"/>
              <a:ea typeface="Calibri"/>
              <a:cs typeface="Calibri"/>
            </a:endParaRPr>
          </a:p>
        </p:txBody>
      </p:sp>
      <p:sp>
        <p:nvSpPr>
          <p:cNvPr id="531817514" name="Text 13"/>
          <p:cNvSpPr/>
          <p:nvPr/>
        </p:nvSpPr>
        <p:spPr bwMode="auto">
          <a:xfrm>
            <a:off x="1253265" y="2358614"/>
            <a:ext cx="228600" cy="1828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>
              <a:defRPr/>
            </a:pPr>
            <a:r>
              <a:rPr lang="en-US" sz="1000">
                <a:solidFill>
                  <a:srgbClr val="4C5155"/>
                </a:solidFill>
                <a:latin typeface="Arial"/>
                <a:ea typeface="Arial"/>
                <a:cs typeface="Arial"/>
              </a:rPr>
              <a:t>▼</a:t>
            </a:r>
            <a:endParaRPr lang="en-US" sz="1000">
              <a:latin typeface="Arial"/>
              <a:ea typeface="Calibri"/>
              <a:cs typeface="Calibri"/>
            </a:endParaRPr>
          </a:p>
        </p:txBody>
      </p:sp>
      <p:sp>
        <p:nvSpPr>
          <p:cNvPr id="1250896325" name="Shape 17"/>
          <p:cNvSpPr/>
          <p:nvPr/>
        </p:nvSpPr>
        <p:spPr bwMode="auto">
          <a:xfrm>
            <a:off x="2952973" y="1463040"/>
            <a:ext cx="1409252" cy="1904103"/>
          </a:xfrm>
          <a:prstGeom prst="rect">
            <a:avLst/>
          </a:prstGeom>
          <a:solidFill>
            <a:srgbClr val="F6F7F8"/>
          </a:solidFill>
          <a:ln w="25400">
            <a:solidFill>
              <a:srgbClr val="4C5155"/>
            </a:solidFill>
            <a:prstDash val="solid"/>
          </a:ln>
        </p:spPr>
      </p:sp>
      <p:sp>
        <p:nvSpPr>
          <p:cNvPr id="1789065931" name="Text 18"/>
          <p:cNvSpPr/>
          <p:nvPr/>
        </p:nvSpPr>
        <p:spPr bwMode="auto">
          <a:xfrm>
            <a:off x="2926080" y="14630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4C5155"/>
                </a:solidFill>
                <a:latin typeface="Arial"/>
                <a:ea typeface="Arial"/>
                <a:cs typeface="Arial"/>
              </a:rPr>
              <a:t>NODO B</a:t>
            </a:r>
            <a:endParaRPr lang="en-US" sz="900"/>
          </a:p>
          <a:p>
            <a:pPr marL="0" indent="0" algn="ctr">
              <a:buNone/>
              <a:defRPr/>
            </a:pPr>
            <a:r>
              <a:rPr lang="en-US" sz="900" b="1">
                <a:solidFill>
                  <a:srgbClr val="4C5155"/>
                </a:solidFill>
                <a:latin typeface="Arial"/>
                <a:ea typeface="Arial"/>
                <a:cs typeface="Arial"/>
              </a:rPr>
              <a:t>(destino)</a:t>
            </a:r>
            <a:endParaRPr lang="en-US" sz="900"/>
          </a:p>
        </p:txBody>
      </p:sp>
      <p:sp>
        <p:nvSpPr>
          <p:cNvPr id="456176264" name="Shape 19"/>
          <p:cNvSpPr/>
          <p:nvPr/>
        </p:nvSpPr>
        <p:spPr bwMode="auto">
          <a:xfrm>
            <a:off x="3063240" y="1874520"/>
            <a:ext cx="1188720" cy="411480"/>
          </a:xfrm>
          <a:prstGeom prst="rect">
            <a:avLst/>
          </a:prstGeom>
          <a:solidFill>
            <a:srgbClr val="D1D3D5">
              <a:alpha val="40000"/>
            </a:srgbClr>
          </a:solidFill>
          <a:ln w="12700">
            <a:solidFill>
              <a:srgbClr val="4C5155"/>
            </a:solidFill>
            <a:prstDash val="dash"/>
          </a:ln>
        </p:spPr>
      </p:sp>
      <p:sp>
        <p:nvSpPr>
          <p:cNvPr id="1393685859" name="Text 20"/>
          <p:cNvSpPr/>
          <p:nvPr/>
        </p:nvSpPr>
        <p:spPr bwMode="auto">
          <a:xfrm>
            <a:off x="3063240" y="1874520"/>
            <a:ext cx="118872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  <a:defRPr/>
            </a:pPr>
            <a:r>
              <a:rPr lang="en-US" sz="105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espacio</a:t>
            </a:r>
            <a:endParaRPr lang="en-US" sz="9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037695611" name="Text 21"/>
          <p:cNvSpPr/>
          <p:nvPr/>
        </p:nvSpPr>
        <p:spPr bwMode="auto">
          <a:xfrm>
            <a:off x="3201745" y="2518634"/>
            <a:ext cx="914400" cy="1645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  <a:defRPr/>
            </a:pPr>
            <a:r>
              <a:rPr lang="en-US" sz="9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reconstruye</a:t>
            </a:r>
            <a:endParaRPr lang="en-US" sz="900">
              <a:latin typeface="Calibri"/>
              <a:ea typeface="Calibri"/>
              <a:cs typeface="Calibri"/>
            </a:endParaRPr>
          </a:p>
        </p:txBody>
      </p:sp>
      <p:sp>
        <p:nvSpPr>
          <p:cNvPr id="1939979009" name="Text 22"/>
          <p:cNvSpPr/>
          <p:nvPr/>
        </p:nvSpPr>
        <p:spPr bwMode="auto">
          <a:xfrm>
            <a:off x="3541955" y="2358614"/>
            <a:ext cx="228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4C5155"/>
                </a:solidFill>
                <a:latin typeface="Arial"/>
                <a:ea typeface="Arial"/>
                <a:cs typeface="Arial"/>
              </a:rPr>
              <a:t>▼</a:t>
            </a:r>
            <a:endParaRPr lang="en-US" sz="1000"/>
          </a:p>
        </p:txBody>
      </p:sp>
      <p:sp>
        <p:nvSpPr>
          <p:cNvPr id="251044048" name="Shape 23"/>
          <p:cNvSpPr/>
          <p:nvPr/>
        </p:nvSpPr>
        <p:spPr bwMode="auto">
          <a:xfrm>
            <a:off x="3069964" y="2909944"/>
            <a:ext cx="1188720" cy="365760"/>
          </a:xfrm>
          <a:prstGeom prst="rect">
            <a:avLst/>
          </a:prstGeom>
          <a:solidFill>
            <a:srgbClr val="4C5155"/>
          </a:solidFill>
          <a:ln w="12700">
            <a:solidFill>
              <a:srgbClr val="4C5155"/>
            </a:solidFill>
            <a:prstDash val="solid"/>
          </a:ln>
        </p:spPr>
      </p:sp>
      <p:sp>
        <p:nvSpPr>
          <p:cNvPr id="517989297" name="Text 24"/>
          <p:cNvSpPr/>
          <p:nvPr/>
        </p:nvSpPr>
        <p:spPr bwMode="auto">
          <a:xfrm>
            <a:off x="3069964" y="2909944"/>
            <a:ext cx="118872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  <a:defRPr/>
            </a:pPr>
            <a:r>
              <a:rPr lang="en-US" sz="105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continúa</a:t>
            </a:r>
            <a:endParaRPr lang="en-US" sz="1050">
              <a:latin typeface="Arial"/>
              <a:cs typeface="Arial"/>
            </a:endParaRPr>
          </a:p>
        </p:txBody>
      </p:sp>
      <p:sp>
        <p:nvSpPr>
          <p:cNvPr id="1089476290" name="Shape 25"/>
          <p:cNvSpPr/>
          <p:nvPr/>
        </p:nvSpPr>
        <p:spPr bwMode="auto">
          <a:xfrm>
            <a:off x="640080" y="3601122"/>
            <a:ext cx="3749040" cy="32004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730879148" name="Text 26"/>
          <p:cNvSpPr/>
          <p:nvPr/>
        </p:nvSpPr>
        <p:spPr bwMode="auto">
          <a:xfrm>
            <a:off x="640080" y="3601122"/>
            <a:ext cx="374904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Checkpoint/Restart: </a:t>
            </a:r>
            <a:r>
              <a:rPr lang="en-US" sz="10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serialización</a:t>
            </a:r>
            <a:r>
              <a:rPr lang="en-US" sz="10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0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estado</a:t>
            </a:r>
            <a:r>
              <a:rPr lang="en-US" sz="10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completo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1455366557" name="Shape 27"/>
          <p:cNvSpPr/>
          <p:nvPr/>
        </p:nvSpPr>
        <p:spPr bwMode="auto">
          <a:xfrm>
            <a:off x="4709160" y="1051560"/>
            <a:ext cx="397764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38778343" name="Shape 28"/>
          <p:cNvSpPr/>
          <p:nvPr/>
        </p:nvSpPr>
        <p:spPr bwMode="auto">
          <a:xfrm>
            <a:off x="4709160" y="1051560"/>
            <a:ext cx="3977640" cy="256032"/>
          </a:xfrm>
          <a:prstGeom prst="rect">
            <a:avLst/>
          </a:prstGeom>
          <a:solidFill>
            <a:srgbClr val="4C5155"/>
          </a:solidFill>
          <a:ln/>
        </p:spPr>
      </p:sp>
      <p:sp>
        <p:nvSpPr>
          <p:cNvPr id="815065965" name="Text 29"/>
          <p:cNvSpPr/>
          <p:nvPr/>
        </p:nvSpPr>
        <p:spPr bwMode="auto">
          <a:xfrm>
            <a:off x="4709160" y="105156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LOAD BALANCING </a:t>
            </a:r>
            <a:endParaRPr lang="en-US" sz="900"/>
          </a:p>
        </p:txBody>
      </p:sp>
      <p:sp>
        <p:nvSpPr>
          <p:cNvPr id="155606053" name="Text 30"/>
          <p:cNvSpPr/>
          <p:nvPr/>
        </p:nvSpPr>
        <p:spPr bwMode="auto">
          <a:xfrm>
            <a:off x="4800600" y="1353312"/>
            <a:ext cx="37947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Multi-parámetro: CPU + memoria + latencia de red</a:t>
            </a:r>
            <a:endParaRPr lang="en-US" sz="900"/>
          </a:p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Monitoreo continuo de todos los nodos</a:t>
            </a:r>
            <a:endParaRPr lang="en-US" sz="900"/>
          </a:p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Migración preemptiva automática</a:t>
            </a:r>
            <a:endParaRPr lang="en-US" sz="900"/>
          </a:p>
        </p:txBody>
      </p:sp>
      <p:sp>
        <p:nvSpPr>
          <p:cNvPr id="1940169758" name="Shape 31"/>
          <p:cNvSpPr/>
          <p:nvPr/>
        </p:nvSpPr>
        <p:spPr bwMode="auto">
          <a:xfrm>
            <a:off x="4709160" y="2286000"/>
            <a:ext cx="397764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486114" name="Shape 32"/>
          <p:cNvSpPr/>
          <p:nvPr/>
        </p:nvSpPr>
        <p:spPr bwMode="auto">
          <a:xfrm>
            <a:off x="4709160" y="2286000"/>
            <a:ext cx="3977640" cy="256032"/>
          </a:xfrm>
          <a:prstGeom prst="rect">
            <a:avLst/>
          </a:prstGeom>
          <a:solidFill>
            <a:srgbClr val="4C5155"/>
          </a:solidFill>
          <a:ln/>
        </p:spPr>
      </p:sp>
      <p:sp>
        <p:nvSpPr>
          <p:cNvPr id="153863575" name="Text 33"/>
          <p:cNvSpPr/>
          <p:nvPr/>
        </p:nvSpPr>
        <p:spPr bwMode="auto">
          <a:xfrm>
            <a:off x="4709160" y="228600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MULTI-PROGRAMACIÓN A NIVEL CLUSTER</a:t>
            </a:r>
            <a:endParaRPr lang="en-US" sz="900"/>
          </a:p>
        </p:txBody>
      </p:sp>
      <p:sp>
        <p:nvSpPr>
          <p:cNvPr id="1912216326" name="Text 34"/>
          <p:cNvSpPr/>
          <p:nvPr/>
        </p:nvSpPr>
        <p:spPr bwMode="auto">
          <a:xfrm>
            <a:off x="4800600" y="2587752"/>
            <a:ext cx="379476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Cluster visto como una única máquina con N CPUs — scheduling transparente al usuario</a:t>
            </a:r>
            <a:endParaRPr lang="en-US" sz="900"/>
          </a:p>
        </p:txBody>
      </p:sp>
      <p:sp>
        <p:nvSpPr>
          <p:cNvPr id="1063995471" name="Shape 35"/>
          <p:cNvSpPr/>
          <p:nvPr/>
        </p:nvSpPr>
        <p:spPr bwMode="auto">
          <a:xfrm>
            <a:off x="4709160" y="3108960"/>
            <a:ext cx="397764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23455222" name="Shape 36"/>
          <p:cNvSpPr/>
          <p:nvPr/>
        </p:nvSpPr>
        <p:spPr bwMode="auto">
          <a:xfrm>
            <a:off x="4709160" y="3108960"/>
            <a:ext cx="3977640" cy="256032"/>
          </a:xfrm>
          <a:prstGeom prst="rect">
            <a:avLst/>
          </a:prstGeom>
          <a:solidFill>
            <a:srgbClr val="4C5155"/>
          </a:solidFill>
          <a:ln/>
        </p:spPr>
      </p:sp>
      <p:sp>
        <p:nvSpPr>
          <p:cNvPr id="1829103018" name="Text 37"/>
          <p:cNvSpPr/>
          <p:nvPr/>
        </p:nvSpPr>
        <p:spPr bwMode="auto">
          <a:xfrm>
            <a:off x="4709160" y="310896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EFECTO CONVOY EVITADO </a:t>
            </a:r>
            <a:endParaRPr lang="en-US" sz="900"/>
          </a:p>
        </p:txBody>
      </p:sp>
      <p:sp>
        <p:nvSpPr>
          <p:cNvPr id="1372005312" name="Text 38"/>
          <p:cNvSpPr/>
          <p:nvPr/>
        </p:nvSpPr>
        <p:spPr bwMode="auto">
          <a:xfrm>
            <a:off x="4800600" y="3410712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Procesos CPU-bound migran a nodos menos cargados — evitan monopolizar un solo nodo</a:t>
            </a:r>
            <a:endParaRPr lang="en-US" sz="900"/>
          </a:p>
        </p:txBody>
      </p:sp>
      <p:sp>
        <p:nvSpPr>
          <p:cNvPr id="1374560701" name="Text 39"/>
          <p:cNvSpPr/>
          <p:nvPr/>
        </p:nvSpPr>
        <p:spPr bwMode="auto">
          <a:xfrm>
            <a:off x="457200" y="477316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endParaRPr lang="en-US" sz="900"/>
          </a:p>
        </p:txBody>
      </p:sp>
      <p:sp>
        <p:nvSpPr>
          <p:cNvPr id="1850664775" name="Text 13"/>
          <p:cNvSpPr/>
          <p:nvPr/>
        </p:nvSpPr>
        <p:spPr bwMode="auto">
          <a:xfrm>
            <a:off x="3539265" y="2728408"/>
            <a:ext cx="228600" cy="1828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>
              <a:defRPr/>
            </a:pPr>
            <a:r>
              <a:rPr lang="en-US" sz="1000">
                <a:solidFill>
                  <a:srgbClr val="4C5155"/>
                </a:solidFill>
                <a:latin typeface="Arial"/>
                <a:ea typeface="Arial"/>
                <a:cs typeface="Arial"/>
              </a:rPr>
              <a:t>▼</a:t>
            </a:r>
            <a:endParaRPr lang="en-US" sz="1000">
              <a:latin typeface="Arial"/>
              <a:ea typeface="Calibri"/>
              <a:cs typeface="Calibri"/>
            </a:endParaRPr>
          </a:p>
        </p:txBody>
      </p:sp>
      <p:sp>
        <p:nvSpPr>
          <p:cNvPr id="151477927" name="Text 15"/>
          <p:cNvSpPr/>
          <p:nvPr/>
        </p:nvSpPr>
        <p:spPr bwMode="auto">
          <a:xfrm>
            <a:off x="1953857" y="1990971"/>
            <a:ext cx="1188720" cy="1828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  <a:defRPr/>
            </a:pPr>
            <a:r>
              <a:rPr lang="en-US" sz="7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───</a:t>
            </a:r>
            <a:r>
              <a:rPr lang="en-US" sz="9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transfer</a:t>
            </a:r>
            <a:r>
              <a:rPr lang="en-US" sz="7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───▶</a:t>
            </a:r>
            <a:endParaRPr lang="en-US" sz="7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4">
    <p:bg>
      <p:bgPr shadeToTitle="0">
        <a:solidFill>
          <a:srgbClr val="F6F7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398075" name="Shape 0"/>
          <p:cNvSpPr/>
          <p:nvPr/>
        </p:nvSpPr>
        <p:spPr bwMode="auto">
          <a:xfrm>
            <a:off x="8503920" y="4663440"/>
            <a:ext cx="365760" cy="365760"/>
          </a:xfrm>
          <a:prstGeom prst="ellipse">
            <a:avLst/>
          </a:prstGeom>
          <a:solidFill>
            <a:srgbClr val="0070C5"/>
          </a:solidFill>
          <a:ln/>
        </p:spPr>
      </p:sp>
      <p:sp>
        <p:nvSpPr>
          <p:cNvPr id="1894933128" name="Text 1"/>
          <p:cNvSpPr/>
          <p:nvPr/>
        </p:nvSpPr>
        <p:spPr bwMode="auto"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14</a:t>
            </a:r>
            <a:endParaRPr lang="en-US" sz="1200"/>
          </a:p>
        </p:txBody>
      </p:sp>
      <p:sp>
        <p:nvSpPr>
          <p:cNvPr id="1123797028" name="Text 2"/>
          <p:cNvSpPr/>
          <p:nvPr/>
        </p:nvSpPr>
        <p:spPr bwMode="auto">
          <a:xfrm>
            <a:off x="457200" y="2743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2600" b="1">
                <a:solidFill>
                  <a:srgbClr val="2D3237"/>
                </a:solidFill>
                <a:latin typeface="Arial Black"/>
                <a:ea typeface="Arial Black"/>
                <a:cs typeface="Arial Black"/>
              </a:rPr>
              <a:t>Zephyr OS — Seguridad</a:t>
            </a:r>
            <a:endParaRPr lang="en-US" sz="2600"/>
          </a:p>
        </p:txBody>
      </p:sp>
      <p:sp>
        <p:nvSpPr>
          <p:cNvPr id="1137833668" name="Text 3"/>
          <p:cNvSpPr/>
          <p:nvPr/>
        </p:nvSpPr>
        <p:spPr bwMode="auto">
          <a:xfrm>
            <a:off x="457200" y="7498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100" i="1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Arquitectura de seguridad para sistemas embebidos IoT restringidos</a:t>
            </a:r>
            <a:endParaRPr lang="en-US" sz="1100"/>
          </a:p>
        </p:txBody>
      </p:sp>
      <p:sp>
        <p:nvSpPr>
          <p:cNvPr id="925101522" name="Shape 4"/>
          <p:cNvSpPr/>
          <p:nvPr/>
        </p:nvSpPr>
        <p:spPr bwMode="auto">
          <a:xfrm>
            <a:off x="457200" y="1097280"/>
            <a:ext cx="41148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56708908" name="Shape 5"/>
          <p:cNvSpPr/>
          <p:nvPr/>
        </p:nvSpPr>
        <p:spPr bwMode="auto">
          <a:xfrm>
            <a:off x="457200" y="1097280"/>
            <a:ext cx="4114800" cy="256032"/>
          </a:xfrm>
          <a:prstGeom prst="rect">
            <a:avLst/>
          </a:prstGeom>
          <a:solidFill>
            <a:srgbClr val="0070C5"/>
          </a:solidFill>
          <a:ln/>
        </p:spPr>
      </p:sp>
      <p:sp>
        <p:nvSpPr>
          <p:cNvPr id="299857306" name="Text 6"/>
          <p:cNvSpPr/>
          <p:nvPr/>
        </p:nvSpPr>
        <p:spPr bwMode="auto">
          <a:xfrm>
            <a:off x="457200" y="109728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 spc="100">
                <a:solidFill>
                  <a:srgbClr val="FFFFFF"/>
                </a:solidFill>
                <a:latin typeface="Arial"/>
                <a:ea typeface="Arial"/>
                <a:cs typeface="Arial"/>
              </a:rPr>
              <a:t>MPU + MODO DUAL </a:t>
            </a:r>
            <a:endParaRPr lang="en-US" sz="900"/>
          </a:p>
        </p:txBody>
      </p:sp>
      <p:sp>
        <p:nvSpPr>
          <p:cNvPr id="799836602" name="Text 7"/>
          <p:cNvSpPr/>
          <p:nvPr/>
        </p:nvSpPr>
        <p:spPr bwMode="auto">
          <a:xfrm>
            <a:off x="548640" y="1389888"/>
            <a:ext cx="393192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MPU (Memory Protection Unit) — regiones de memoria con atributos</a:t>
            </a:r>
            <a:endParaRPr lang="en-US" sz="900"/>
          </a:p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User mode + Kernel mode — niveles de privilegio por hardware</a:t>
            </a:r>
            <a:endParaRPr lang="en-US" sz="900"/>
          </a:p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CONFIG_USERSPACE: threads no privilegiados con MPU restrictions</a:t>
            </a:r>
            <a:endParaRPr lang="en-US" sz="900"/>
          </a:p>
        </p:txBody>
      </p:sp>
      <p:sp>
        <p:nvSpPr>
          <p:cNvPr id="2134315233" name="Shape 8"/>
          <p:cNvSpPr/>
          <p:nvPr/>
        </p:nvSpPr>
        <p:spPr bwMode="auto">
          <a:xfrm>
            <a:off x="457200" y="2423160"/>
            <a:ext cx="411480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75938553" name="Shape 9"/>
          <p:cNvSpPr/>
          <p:nvPr/>
        </p:nvSpPr>
        <p:spPr bwMode="auto">
          <a:xfrm>
            <a:off x="457200" y="2423160"/>
            <a:ext cx="4114800" cy="256032"/>
          </a:xfrm>
          <a:prstGeom prst="rect">
            <a:avLst/>
          </a:prstGeom>
          <a:solidFill>
            <a:srgbClr val="0070C5"/>
          </a:solidFill>
          <a:ln/>
        </p:spPr>
      </p:sp>
      <p:sp>
        <p:nvSpPr>
          <p:cNvPr id="1660663515" name="Text 10"/>
          <p:cNvSpPr/>
          <p:nvPr/>
        </p:nvSpPr>
        <p:spPr bwMode="auto">
          <a:xfrm>
            <a:off x="457200" y="24231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 spc="100">
                <a:solidFill>
                  <a:srgbClr val="FFFFFF"/>
                </a:solidFill>
                <a:latin typeface="Arial"/>
                <a:ea typeface="Arial"/>
                <a:cs typeface="Arial"/>
              </a:rPr>
              <a:t>SINGLE ADDRESS SPACE + SYSCALLS </a:t>
            </a:r>
            <a:endParaRPr lang="en-US" sz="900"/>
          </a:p>
        </p:txBody>
      </p:sp>
      <p:sp>
        <p:nvSpPr>
          <p:cNvPr id="476713728" name="Text 11"/>
          <p:cNvSpPr/>
          <p:nvPr/>
        </p:nvSpPr>
        <p:spPr bwMode="auto">
          <a:xfrm>
            <a:off x="548640" y="2715768"/>
            <a:ext cx="393192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Kernel + aplicaciones compilados en binario estático único</a:t>
            </a:r>
            <a:endParaRPr lang="en-US" sz="900"/>
          </a:p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System calls como function calls directos — sin mode switch</a:t>
            </a:r>
            <a:endParaRPr lang="en-US" sz="900"/>
          </a:p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Sin dynamic loaders — elimina superficie de ataque</a:t>
            </a:r>
            <a:endParaRPr lang="en-US" sz="900"/>
          </a:p>
        </p:txBody>
      </p:sp>
      <p:sp>
        <p:nvSpPr>
          <p:cNvPr id="347762201" name="Shape 12"/>
          <p:cNvSpPr/>
          <p:nvPr/>
        </p:nvSpPr>
        <p:spPr bwMode="auto">
          <a:xfrm>
            <a:off x="4709160" y="1097280"/>
            <a:ext cx="39776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6680304" name="Shape 13"/>
          <p:cNvSpPr/>
          <p:nvPr/>
        </p:nvSpPr>
        <p:spPr bwMode="auto">
          <a:xfrm>
            <a:off x="4709160" y="1097280"/>
            <a:ext cx="3977640" cy="256032"/>
          </a:xfrm>
          <a:prstGeom prst="rect">
            <a:avLst/>
          </a:prstGeom>
          <a:solidFill>
            <a:srgbClr val="0070C5"/>
          </a:solidFill>
          <a:ln/>
        </p:spPr>
      </p:sp>
      <p:sp>
        <p:nvSpPr>
          <p:cNvPr id="580538594" name="Text 14"/>
          <p:cNvSpPr/>
          <p:nvPr/>
        </p:nvSpPr>
        <p:spPr bwMode="auto">
          <a:xfrm>
            <a:off x="4709160" y="109728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 spc="100">
                <a:solidFill>
                  <a:srgbClr val="FFFFFF"/>
                </a:solidFill>
                <a:latin typeface="Arial"/>
                <a:ea typeface="Arial"/>
                <a:cs typeface="Arial"/>
              </a:rPr>
              <a:t>SECURE BOOT + PSA CRYPTO API</a:t>
            </a:r>
            <a:endParaRPr lang="en-US" sz="900"/>
          </a:p>
        </p:txBody>
      </p:sp>
      <p:sp>
        <p:nvSpPr>
          <p:cNvPr id="979681113" name="Text 15"/>
          <p:cNvSpPr/>
          <p:nvPr/>
        </p:nvSpPr>
        <p:spPr bwMode="auto">
          <a:xfrm>
            <a:off x="4800600" y="1389888"/>
            <a:ext cx="3794760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MCUboot: chain de secure boot con firmas asimétricas (RSA/ECDSA)</a:t>
            </a:r>
            <a:endParaRPr lang="en-US" sz="900"/>
          </a:p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PSA Crypto API + mbedTLS: cifrado, TLS/DTLS, secure storage</a:t>
            </a:r>
            <a:endParaRPr lang="en-US" sz="900"/>
          </a:p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A/B partitioning para updates atómicos con rollback protection</a:t>
            </a:r>
            <a:endParaRPr lang="en-US" sz="900"/>
          </a:p>
        </p:txBody>
      </p:sp>
      <p:sp>
        <p:nvSpPr>
          <p:cNvPr id="1697148577" name="Shape 16"/>
          <p:cNvSpPr/>
          <p:nvPr/>
        </p:nvSpPr>
        <p:spPr bwMode="auto">
          <a:xfrm>
            <a:off x="4709160" y="2423160"/>
            <a:ext cx="397764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8469861" name="Shape 17"/>
          <p:cNvSpPr/>
          <p:nvPr/>
        </p:nvSpPr>
        <p:spPr bwMode="auto">
          <a:xfrm>
            <a:off x="4709160" y="2423160"/>
            <a:ext cx="3977640" cy="256032"/>
          </a:xfrm>
          <a:prstGeom prst="rect">
            <a:avLst/>
          </a:prstGeom>
          <a:solidFill>
            <a:srgbClr val="0070C5"/>
          </a:solidFill>
          <a:ln/>
        </p:spPr>
      </p:sp>
      <p:sp>
        <p:nvSpPr>
          <p:cNvPr id="936319275" name="Text 18"/>
          <p:cNvSpPr/>
          <p:nvPr/>
        </p:nvSpPr>
        <p:spPr bwMode="auto">
          <a:xfrm>
            <a:off x="4709160" y="242316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 spc="10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STACK PROTECTION + OpenSSF GOLD BADGE</a:t>
            </a:r>
            <a:endParaRPr lang="en-US" sz="900"/>
          </a:p>
        </p:txBody>
      </p:sp>
      <p:sp>
        <p:nvSpPr>
          <p:cNvPr id="80658113" name="Text 19"/>
          <p:cNvSpPr/>
          <p:nvPr/>
        </p:nvSpPr>
        <p:spPr bwMode="auto">
          <a:xfrm>
            <a:off x="4800600" y="2715768"/>
            <a:ext cx="3794760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Stack guards detectan overflows en context switches</a:t>
            </a:r>
            <a:endParaRPr lang="en-US" sz="900"/>
          </a:p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OpenSSF Gold Badge (2019) — 90% statement coverage, 80% branch</a:t>
            </a:r>
            <a:endParaRPr lang="en-US" sz="900"/>
          </a:p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Security Subcommittee + vulnerability management process</a:t>
            </a:r>
            <a:endParaRPr lang="en-US" sz="900"/>
          </a:p>
        </p:txBody>
      </p:sp>
      <p:sp>
        <p:nvSpPr>
          <p:cNvPr id="603787471" name="Shape 20"/>
          <p:cNvSpPr/>
          <p:nvPr/>
        </p:nvSpPr>
        <p:spPr bwMode="auto">
          <a:xfrm>
            <a:off x="457200" y="3520440"/>
            <a:ext cx="8229600" cy="292608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750244698" name="Text 21"/>
          <p:cNvSpPr/>
          <p:nvPr/>
        </p:nvSpPr>
        <p:spPr bwMode="auto">
          <a:xfrm>
            <a:off x="457200" y="3520440"/>
            <a:ext cx="8229600" cy="2926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0070C5"/>
                </a:solidFill>
                <a:latin typeface="Calibri"/>
                <a:ea typeface="Calibri"/>
                <a:cs typeface="Calibri"/>
              </a:rPr>
              <a:t>Memory domains: threads solo </a:t>
            </a:r>
            <a:r>
              <a:rPr lang="en-US" sz="1000">
                <a:solidFill>
                  <a:srgbClr val="0070C5"/>
                </a:solidFill>
                <a:latin typeface="Calibri"/>
                <a:ea typeface="Calibri"/>
                <a:cs typeface="Calibri"/>
              </a:rPr>
              <a:t>acceden</a:t>
            </a:r>
            <a:r>
              <a:rPr lang="en-US" sz="1000">
                <a:solidFill>
                  <a:srgbClr val="0070C5"/>
                </a:solidFill>
                <a:latin typeface="Calibri"/>
                <a:ea typeface="Calibri"/>
                <a:cs typeface="Calibri"/>
              </a:rPr>
              <a:t> a sus </a:t>
            </a:r>
            <a:r>
              <a:rPr lang="en-US" sz="1000">
                <a:solidFill>
                  <a:srgbClr val="0070C5"/>
                </a:solidFill>
                <a:latin typeface="Calibri"/>
                <a:ea typeface="Calibri"/>
                <a:cs typeface="Calibri"/>
              </a:rPr>
              <a:t>propias</a:t>
            </a:r>
            <a:r>
              <a:rPr lang="en-US" sz="1000">
                <a:solidFill>
                  <a:srgbClr val="0070C5"/>
                </a:solidFill>
                <a:latin typeface="Calibri"/>
                <a:ea typeface="Calibri"/>
                <a:cs typeface="Calibri"/>
              </a:rPr>
              <a:t> regiones — </a:t>
            </a:r>
            <a:r>
              <a:rPr lang="en-US" sz="1000">
                <a:solidFill>
                  <a:srgbClr val="0070C5"/>
                </a:solidFill>
                <a:latin typeface="Calibri"/>
                <a:ea typeface="Calibri"/>
                <a:cs typeface="Calibri"/>
              </a:rPr>
              <a:t>aislamiento</a:t>
            </a:r>
            <a:r>
              <a:rPr lang="en-US" sz="1000">
                <a:solidFill>
                  <a:srgbClr val="0070C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00">
                <a:solidFill>
                  <a:srgbClr val="0070C5"/>
                </a:solidFill>
                <a:latin typeface="Calibri"/>
                <a:ea typeface="Calibri"/>
                <a:cs typeface="Calibri"/>
              </a:rPr>
              <a:t>verificado</a:t>
            </a:r>
            <a:r>
              <a:rPr lang="en-US" sz="1000">
                <a:solidFill>
                  <a:srgbClr val="0070C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00">
                <a:solidFill>
                  <a:srgbClr val="0070C5"/>
                </a:solidFill>
                <a:latin typeface="Calibri"/>
                <a:ea typeface="Calibri"/>
                <a:cs typeface="Calibri"/>
              </a:rPr>
              <a:t>en</a:t>
            </a:r>
            <a:r>
              <a:rPr lang="en-US" sz="1000">
                <a:solidFill>
                  <a:srgbClr val="0070C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00">
                <a:solidFill>
                  <a:srgbClr val="0070C5"/>
                </a:solidFill>
                <a:latin typeface="Calibri"/>
                <a:ea typeface="Calibri"/>
                <a:cs typeface="Calibri"/>
              </a:rPr>
              <a:t>cada</a:t>
            </a:r>
            <a:r>
              <a:rPr lang="en-US" sz="1000">
                <a:solidFill>
                  <a:srgbClr val="0070C5"/>
                </a:solidFill>
                <a:latin typeface="Calibri"/>
                <a:ea typeface="Calibri"/>
                <a:cs typeface="Calibri"/>
              </a:rPr>
              <a:t> context switch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249907640" name="Text 22"/>
          <p:cNvSpPr/>
          <p:nvPr/>
        </p:nvSpPr>
        <p:spPr bwMode="auto">
          <a:xfrm>
            <a:off x="457200" y="477316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5">
    <p:bg>
      <p:bgPr shadeToTitle="0">
        <a:solidFill>
          <a:srgbClr val="F6F7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7882145" name="Shape 0"/>
          <p:cNvSpPr/>
          <p:nvPr/>
        </p:nvSpPr>
        <p:spPr bwMode="auto">
          <a:xfrm>
            <a:off x="8503920" y="4663440"/>
            <a:ext cx="365760" cy="365760"/>
          </a:xfrm>
          <a:prstGeom prst="ellipse">
            <a:avLst/>
          </a:prstGeom>
          <a:solidFill>
            <a:srgbClr val="4C5155"/>
          </a:solidFill>
          <a:ln/>
        </p:spPr>
      </p:sp>
      <p:sp>
        <p:nvSpPr>
          <p:cNvPr id="2124070709" name="Text 1"/>
          <p:cNvSpPr/>
          <p:nvPr/>
        </p:nvSpPr>
        <p:spPr bwMode="auto"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15</a:t>
            </a:r>
            <a:endParaRPr lang="en-US" sz="1200"/>
          </a:p>
        </p:txBody>
      </p:sp>
      <p:sp>
        <p:nvSpPr>
          <p:cNvPr id="707394913" name="Text 2"/>
          <p:cNvSpPr/>
          <p:nvPr/>
        </p:nvSpPr>
        <p:spPr bwMode="auto">
          <a:xfrm>
            <a:off x="457200" y="2743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2600" b="1">
                <a:solidFill>
                  <a:srgbClr val="2D3237"/>
                </a:solidFill>
                <a:latin typeface="Arial Black"/>
                <a:ea typeface="Arial Black"/>
                <a:cs typeface="Arial Black"/>
              </a:rPr>
              <a:t>MOSIX — Seguridad</a:t>
            </a:r>
            <a:endParaRPr lang="en-US" sz="2600"/>
          </a:p>
        </p:txBody>
      </p:sp>
      <p:sp>
        <p:nvSpPr>
          <p:cNvPr id="535247938" name="Text 3"/>
          <p:cNvSpPr/>
          <p:nvPr/>
        </p:nvSpPr>
        <p:spPr bwMode="auto">
          <a:xfrm>
            <a:off x="457200" y="7498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100" i="1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Sandbox + confianza mutua entre nodos del cluster</a:t>
            </a:r>
            <a:endParaRPr lang="en-US" sz="1100"/>
          </a:p>
        </p:txBody>
      </p:sp>
      <p:sp>
        <p:nvSpPr>
          <p:cNvPr id="839739420" name="Shape 4"/>
          <p:cNvSpPr/>
          <p:nvPr/>
        </p:nvSpPr>
        <p:spPr bwMode="auto">
          <a:xfrm>
            <a:off x="457200" y="109728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76177455" name="Shape 5"/>
          <p:cNvSpPr/>
          <p:nvPr/>
        </p:nvSpPr>
        <p:spPr bwMode="auto">
          <a:xfrm>
            <a:off x="457200" y="1097280"/>
            <a:ext cx="4114800" cy="256032"/>
          </a:xfrm>
          <a:prstGeom prst="rect">
            <a:avLst/>
          </a:prstGeom>
          <a:solidFill>
            <a:srgbClr val="4C5155"/>
          </a:solidFill>
          <a:ln/>
        </p:spPr>
      </p:sp>
      <p:sp>
        <p:nvSpPr>
          <p:cNvPr id="2017131815" name="Text 6"/>
          <p:cNvSpPr/>
          <p:nvPr/>
        </p:nvSpPr>
        <p:spPr bwMode="auto">
          <a:xfrm>
            <a:off x="457200" y="109728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 spc="100">
                <a:solidFill>
                  <a:srgbClr val="FFFFFF"/>
                </a:solidFill>
                <a:latin typeface="Arial"/>
                <a:ea typeface="Arial"/>
                <a:cs typeface="Arial"/>
              </a:rPr>
              <a:t>KERNEL MODULE EN MODO PRIVILEGIADO </a:t>
            </a:r>
            <a:endParaRPr lang="en-US" sz="900"/>
          </a:p>
        </p:txBody>
      </p:sp>
      <p:sp>
        <p:nvSpPr>
          <p:cNvPr id="330603039" name="Text 7"/>
          <p:cNvSpPr/>
          <p:nvPr/>
        </p:nvSpPr>
        <p:spPr bwMode="auto">
          <a:xfrm>
            <a:off x="548640" y="1389888"/>
            <a:ext cx="393192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Módulo de kernel corre en kernel mode (privileged)</a:t>
            </a:r>
            <a:endParaRPr lang="en-US" sz="900"/>
          </a:p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Intercepta y filtra syscalls de procesos guest</a:t>
            </a:r>
            <a:endParaRPr lang="en-US" sz="900"/>
          </a:p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Implementa sandbox a nivel del kernel de Linux</a:t>
            </a:r>
            <a:endParaRPr lang="en-US" sz="900"/>
          </a:p>
        </p:txBody>
      </p:sp>
      <p:sp>
        <p:nvSpPr>
          <p:cNvPr id="1887874247" name="Shape 8"/>
          <p:cNvSpPr/>
          <p:nvPr/>
        </p:nvSpPr>
        <p:spPr bwMode="auto">
          <a:xfrm>
            <a:off x="457200" y="2331720"/>
            <a:ext cx="411480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63998941" name="Shape 9"/>
          <p:cNvSpPr/>
          <p:nvPr/>
        </p:nvSpPr>
        <p:spPr bwMode="auto">
          <a:xfrm>
            <a:off x="457200" y="2331720"/>
            <a:ext cx="4114800" cy="256032"/>
          </a:xfrm>
          <a:prstGeom prst="rect">
            <a:avLst/>
          </a:prstGeom>
          <a:solidFill>
            <a:srgbClr val="4C5155"/>
          </a:solidFill>
          <a:ln/>
        </p:spPr>
      </p:sp>
      <p:sp>
        <p:nvSpPr>
          <p:cNvPr id="1319212369" name="Text 10"/>
          <p:cNvSpPr/>
          <p:nvPr/>
        </p:nvSpPr>
        <p:spPr bwMode="auto">
          <a:xfrm>
            <a:off x="457200" y="233172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 spc="100">
                <a:solidFill>
                  <a:srgbClr val="FFFFFF"/>
                </a:solidFill>
                <a:latin typeface="Arial"/>
                <a:ea typeface="Arial"/>
                <a:cs typeface="Arial"/>
              </a:rPr>
              <a:t>SSI UNIFIED UID + PERMISOS LOCALES</a:t>
            </a:r>
            <a:endParaRPr lang="en-US" sz="900"/>
          </a:p>
        </p:txBody>
      </p:sp>
      <p:sp>
        <p:nvSpPr>
          <p:cNvPr id="203629235" name="Text 11"/>
          <p:cNvSpPr/>
          <p:nvPr/>
        </p:nvSpPr>
        <p:spPr bwMode="auto">
          <a:xfrm>
            <a:off x="548640" y="2624328"/>
            <a:ext cx="393192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SSI: Single System Image — UID unificado en todo el cluster</a:t>
            </a:r>
            <a:endParaRPr lang="en-US" sz="900"/>
          </a:p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Cada nodo retiene sus permisos Linux locales (heredados)</a:t>
            </a:r>
            <a:endParaRPr lang="en-US" sz="900"/>
          </a:p>
        </p:txBody>
      </p:sp>
      <p:sp>
        <p:nvSpPr>
          <p:cNvPr id="125933438" name="Shape 12"/>
          <p:cNvSpPr/>
          <p:nvPr/>
        </p:nvSpPr>
        <p:spPr bwMode="auto">
          <a:xfrm>
            <a:off x="4709160" y="1097280"/>
            <a:ext cx="397764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547560" name="Shape 13"/>
          <p:cNvSpPr/>
          <p:nvPr/>
        </p:nvSpPr>
        <p:spPr bwMode="auto">
          <a:xfrm>
            <a:off x="4709160" y="1097280"/>
            <a:ext cx="3977640" cy="256032"/>
          </a:xfrm>
          <a:prstGeom prst="rect">
            <a:avLst/>
          </a:prstGeom>
          <a:solidFill>
            <a:srgbClr val="4C5155"/>
          </a:solidFill>
          <a:ln/>
        </p:spPr>
      </p:sp>
      <p:sp>
        <p:nvSpPr>
          <p:cNvPr id="1691710741" name="Text 14"/>
          <p:cNvSpPr/>
          <p:nvPr/>
        </p:nvSpPr>
        <p:spPr bwMode="auto">
          <a:xfrm>
            <a:off x="4709160" y="109728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 spc="100">
                <a:solidFill>
                  <a:srgbClr val="FFFFFF"/>
                </a:solidFill>
                <a:latin typeface="Arial"/>
                <a:ea typeface="Arial"/>
                <a:cs typeface="Arial"/>
              </a:rPr>
              <a:t>SANDBOX ISOLATION PARA PROCESOS GUEST</a:t>
            </a:r>
            <a:endParaRPr lang="en-US" sz="900"/>
          </a:p>
        </p:txBody>
      </p:sp>
      <p:sp>
        <p:nvSpPr>
          <p:cNvPr id="966816099" name="Text 15"/>
          <p:cNvSpPr/>
          <p:nvPr/>
        </p:nvSpPr>
        <p:spPr bwMode="auto">
          <a:xfrm>
            <a:off x="4800600" y="1389888"/>
            <a:ext cx="379476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Proceso guest no puede acceder archivos ni recursos del host</a:t>
            </a:r>
            <a:endParaRPr lang="en-US" sz="900"/>
          </a:p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Comunicación de red filtrada/restringida</a:t>
            </a:r>
            <a:endParaRPr lang="en-US" sz="900"/>
          </a:p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Syscalls potencialmente peligrosas interceptadas</a:t>
            </a:r>
            <a:endParaRPr lang="en-US" sz="900"/>
          </a:p>
        </p:txBody>
      </p:sp>
      <p:sp>
        <p:nvSpPr>
          <p:cNvPr id="67502723" name="Shape 16"/>
          <p:cNvSpPr/>
          <p:nvPr/>
        </p:nvSpPr>
        <p:spPr bwMode="auto">
          <a:xfrm>
            <a:off x="4709160" y="2331720"/>
            <a:ext cx="397764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660368" name="Shape 17"/>
          <p:cNvSpPr/>
          <p:nvPr/>
        </p:nvSpPr>
        <p:spPr bwMode="auto">
          <a:xfrm>
            <a:off x="4709160" y="2331720"/>
            <a:ext cx="3977640" cy="256032"/>
          </a:xfrm>
          <a:prstGeom prst="rect">
            <a:avLst/>
          </a:prstGeom>
          <a:solidFill>
            <a:srgbClr val="4C5155"/>
          </a:solidFill>
          <a:ln/>
        </p:spPr>
      </p:sp>
      <p:sp>
        <p:nvSpPr>
          <p:cNvPr id="1503026792" name="Text 18"/>
          <p:cNvSpPr/>
          <p:nvPr/>
        </p:nvSpPr>
        <p:spPr bwMode="auto">
          <a:xfrm>
            <a:off x="4709160" y="233172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 spc="10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CONTEXTO DE SEGURIDAD EN MIGRACIÓN</a:t>
            </a:r>
            <a:endParaRPr lang="en-US" sz="900"/>
          </a:p>
        </p:txBody>
      </p:sp>
      <p:sp>
        <p:nvSpPr>
          <p:cNvPr id="1211787320" name="Text 19"/>
          <p:cNvSpPr/>
          <p:nvPr/>
        </p:nvSpPr>
        <p:spPr bwMode="auto">
          <a:xfrm>
            <a:off x="4800600" y="2624328"/>
            <a:ext cx="3794760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Migración transfiere contexto de seguridad del proceso</a:t>
            </a:r>
            <a:endParaRPr lang="en-US" sz="900"/>
          </a:p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Checkpoint/Restart: serialización de estado completo</a:t>
            </a:r>
            <a:endParaRPr lang="en-US" sz="900"/>
          </a:p>
        </p:txBody>
      </p:sp>
      <p:sp>
        <p:nvSpPr>
          <p:cNvPr id="997845190" name="Shape 20"/>
          <p:cNvSpPr/>
          <p:nvPr/>
        </p:nvSpPr>
        <p:spPr bwMode="auto">
          <a:xfrm>
            <a:off x="457200" y="3383280"/>
            <a:ext cx="8229600" cy="502920"/>
          </a:xfrm>
          <a:prstGeom prst="rect">
            <a:avLst/>
          </a:prstGeom>
          <a:solidFill>
            <a:schemeClr val="bg2"/>
          </a:solidFill>
          <a:ln w="19050">
            <a:solidFill>
              <a:srgbClr val="4C5155"/>
            </a:solidFill>
            <a:prstDash val="solid"/>
          </a:ln>
        </p:spPr>
      </p:sp>
      <p:sp>
        <p:nvSpPr>
          <p:cNvPr id="2089592918" name="Text 21"/>
          <p:cNvSpPr/>
          <p:nvPr/>
        </p:nvSpPr>
        <p:spPr bwMode="auto">
          <a:xfrm>
            <a:off x="548640" y="3383280"/>
            <a:ext cx="804672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  <a:defRPr/>
            </a:pPr>
            <a:r>
              <a:rPr lang="en-US" sz="1050" b="1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⚠ REQUISITO CRÍTICO: Todos </a:t>
            </a:r>
            <a:r>
              <a:rPr lang="en-US" sz="1050" b="1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los</a:t>
            </a:r>
            <a:r>
              <a:rPr lang="en-US" sz="1050" b="1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b="1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nodos</a:t>
            </a:r>
            <a:r>
              <a:rPr lang="en-US" sz="1050" b="1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b="1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deben</a:t>
            </a:r>
            <a:r>
              <a:rPr lang="en-US" sz="1050" b="1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 ser </a:t>
            </a:r>
            <a:r>
              <a:rPr lang="en-US" sz="1050" b="1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mutuamente</a:t>
            </a:r>
            <a:r>
              <a:rPr lang="en-US" sz="1050" b="1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50" b="1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confiables</a:t>
            </a:r>
            <a:r>
              <a:rPr lang="en-US" sz="1050" b="1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 — no </a:t>
            </a:r>
            <a:r>
              <a:rPr lang="en-US" sz="1050" b="1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apta</a:t>
            </a:r>
            <a:r>
              <a:rPr lang="en-US" sz="1050" b="1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 para clouds </a:t>
            </a:r>
            <a:r>
              <a:rPr lang="en-US" sz="1050" b="1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públicos</a:t>
            </a:r>
            <a:r>
              <a:rPr lang="en-US" sz="1050" b="1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 o </a:t>
            </a:r>
            <a:r>
              <a:rPr lang="en-US" sz="1050" b="1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nodos</a:t>
            </a:r>
            <a:r>
              <a:rPr lang="en-US" sz="1050" b="1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 no-</a:t>
            </a:r>
            <a:r>
              <a:rPr lang="en-US" sz="1050" b="1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confiables</a:t>
            </a:r>
            <a:endParaRPr lang="en-US" sz="1050">
              <a:latin typeface="Calibri"/>
              <a:ea typeface="Calibri"/>
              <a:cs typeface="Calibri"/>
            </a:endParaRPr>
          </a:p>
        </p:txBody>
      </p:sp>
      <p:sp>
        <p:nvSpPr>
          <p:cNvPr id="1999112407" name="Text 22"/>
          <p:cNvSpPr/>
          <p:nvPr/>
        </p:nvSpPr>
        <p:spPr bwMode="auto">
          <a:xfrm>
            <a:off x="457200" y="477316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6">
    <p:bg>
      <p:bgPr shadeToTitle="0">
        <a:solidFill>
          <a:srgbClr val="F6F7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4868218" name="Shape 0"/>
          <p:cNvSpPr/>
          <p:nvPr/>
        </p:nvSpPr>
        <p:spPr bwMode="auto">
          <a:xfrm>
            <a:off x="8503920" y="4663440"/>
            <a:ext cx="365760" cy="365760"/>
          </a:xfrm>
          <a:prstGeom prst="ellipse">
            <a:avLst/>
          </a:prstGeom>
          <a:solidFill>
            <a:srgbClr val="0070C5"/>
          </a:solidFill>
          <a:ln/>
        </p:spPr>
      </p:sp>
      <p:sp>
        <p:nvSpPr>
          <p:cNvPr id="547407064" name="Text 1"/>
          <p:cNvSpPr/>
          <p:nvPr/>
        </p:nvSpPr>
        <p:spPr bwMode="auto"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16</a:t>
            </a:r>
            <a:endParaRPr lang="en-US" sz="1200"/>
          </a:p>
        </p:txBody>
      </p:sp>
      <p:sp>
        <p:nvSpPr>
          <p:cNvPr id="693087580" name="Text 2"/>
          <p:cNvSpPr/>
          <p:nvPr/>
        </p:nvSpPr>
        <p:spPr bwMode="auto">
          <a:xfrm>
            <a:off x="457200" y="274320"/>
            <a:ext cx="9191064" cy="4760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2400" b="1">
                <a:solidFill>
                  <a:srgbClr val="2D3237"/>
                </a:solidFill>
                <a:latin typeface="Arial Black"/>
                <a:ea typeface="Arial Black"/>
                <a:cs typeface="Arial Black"/>
              </a:rPr>
              <a:t>Zephyr OS — Facilidades para Desarrolladores</a:t>
            </a:r>
            <a:endParaRPr lang="en-US" sz="2400"/>
          </a:p>
        </p:txBody>
      </p:sp>
      <p:sp>
        <p:nvSpPr>
          <p:cNvPr id="1647667884" name="Text 3"/>
          <p:cNvSpPr/>
          <p:nvPr/>
        </p:nvSpPr>
        <p:spPr bwMode="auto">
          <a:xfrm>
            <a:off x="457200" y="7498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200" i="1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Toolchain completo: build, flash, debug — API POSIX-like</a:t>
            </a:r>
            <a:endParaRPr lang="en-US" sz="1200"/>
          </a:p>
        </p:txBody>
      </p:sp>
      <p:sp>
        <p:nvSpPr>
          <p:cNvPr id="1052912964" name="Shape 4"/>
          <p:cNvSpPr/>
          <p:nvPr/>
        </p:nvSpPr>
        <p:spPr bwMode="auto">
          <a:xfrm>
            <a:off x="457200" y="109728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78816901" name="Shape 5"/>
          <p:cNvSpPr/>
          <p:nvPr/>
        </p:nvSpPr>
        <p:spPr bwMode="auto">
          <a:xfrm>
            <a:off x="457200" y="1097280"/>
            <a:ext cx="4023360" cy="256032"/>
          </a:xfrm>
          <a:prstGeom prst="rect">
            <a:avLst/>
          </a:prstGeom>
          <a:solidFill>
            <a:srgbClr val="0070C5"/>
          </a:solidFill>
          <a:ln/>
        </p:spPr>
      </p:sp>
      <p:sp>
        <p:nvSpPr>
          <p:cNvPr id="362426337" name="Text 6"/>
          <p:cNvSpPr/>
          <p:nvPr/>
        </p:nvSpPr>
        <p:spPr bwMode="auto">
          <a:xfrm>
            <a:off x="457200" y="109728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BUILD SYSTEM</a:t>
            </a:r>
            <a:endParaRPr lang="en-US" sz="900"/>
          </a:p>
        </p:txBody>
      </p:sp>
      <p:sp>
        <p:nvSpPr>
          <p:cNvPr id="28878924" name="Text 7"/>
          <p:cNvSpPr/>
          <p:nvPr/>
        </p:nvSpPr>
        <p:spPr bwMode="auto">
          <a:xfrm>
            <a:off x="548640" y="138988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Meta-tool multi-propósito en Python</a:t>
            </a:r>
            <a:endParaRPr lang="en-US" sz="900"/>
          </a:p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Gestión de repositorios (west update)</a:t>
            </a:r>
            <a:endParaRPr lang="en-US" sz="900"/>
          </a:p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Flash, debug, serial console</a:t>
            </a:r>
            <a:endParaRPr lang="en-US" sz="900"/>
          </a:p>
        </p:txBody>
      </p:sp>
      <p:sp>
        <p:nvSpPr>
          <p:cNvPr id="1346881465" name="Shape 8"/>
          <p:cNvSpPr/>
          <p:nvPr/>
        </p:nvSpPr>
        <p:spPr bwMode="auto">
          <a:xfrm>
            <a:off x="457200" y="210312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720322" name="Shape 9"/>
          <p:cNvSpPr/>
          <p:nvPr/>
        </p:nvSpPr>
        <p:spPr bwMode="auto">
          <a:xfrm>
            <a:off x="457200" y="2103120"/>
            <a:ext cx="4023360" cy="256032"/>
          </a:xfrm>
          <a:prstGeom prst="rect">
            <a:avLst/>
          </a:prstGeom>
          <a:solidFill>
            <a:srgbClr val="0070C5"/>
          </a:solidFill>
          <a:ln/>
        </p:spPr>
      </p:sp>
      <p:sp>
        <p:nvSpPr>
          <p:cNvPr id="1665420639" name="Text 10"/>
          <p:cNvSpPr/>
          <p:nvPr/>
        </p:nvSpPr>
        <p:spPr bwMode="auto">
          <a:xfrm>
            <a:off x="457200" y="210312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CMAKE + KCONFIG</a:t>
            </a:r>
            <a:endParaRPr lang="en-US" sz="900"/>
          </a:p>
        </p:txBody>
      </p:sp>
      <p:sp>
        <p:nvSpPr>
          <p:cNvPr id="1805301161" name="Text 11"/>
          <p:cNvSpPr/>
          <p:nvPr/>
        </p:nvSpPr>
        <p:spPr bwMode="auto">
          <a:xfrm>
            <a:off x="548640" y="239572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CMake: sistema de build portable</a:t>
            </a:r>
            <a:endParaRPr lang="en-US" sz="900"/>
          </a:p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KConfig: configuración granular de features</a:t>
            </a:r>
            <a:endParaRPr lang="en-US" sz="900"/>
          </a:p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Out-of-tree builds, cross-compilation</a:t>
            </a:r>
            <a:endParaRPr lang="en-US" sz="900"/>
          </a:p>
        </p:txBody>
      </p:sp>
      <p:sp>
        <p:nvSpPr>
          <p:cNvPr id="1944606931" name="Shape 12"/>
          <p:cNvSpPr/>
          <p:nvPr/>
        </p:nvSpPr>
        <p:spPr bwMode="auto">
          <a:xfrm>
            <a:off x="457200" y="3108960"/>
            <a:ext cx="40233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74355520" name="Shape 13"/>
          <p:cNvSpPr/>
          <p:nvPr/>
        </p:nvSpPr>
        <p:spPr bwMode="auto">
          <a:xfrm>
            <a:off x="457200" y="3108960"/>
            <a:ext cx="4023360" cy="256032"/>
          </a:xfrm>
          <a:prstGeom prst="rect">
            <a:avLst/>
          </a:prstGeom>
          <a:solidFill>
            <a:srgbClr val="0070C5"/>
          </a:solidFill>
          <a:ln/>
        </p:spPr>
      </p:sp>
      <p:sp>
        <p:nvSpPr>
          <p:cNvPr id="449331067" name="Text 14"/>
          <p:cNvSpPr/>
          <p:nvPr/>
        </p:nvSpPr>
        <p:spPr bwMode="auto">
          <a:xfrm>
            <a:off x="457200" y="310896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DEVICETREE</a:t>
            </a:r>
            <a:endParaRPr lang="en-US" sz="900"/>
          </a:p>
        </p:txBody>
      </p:sp>
      <p:sp>
        <p:nvSpPr>
          <p:cNvPr id="1505151281" name="Text 15"/>
          <p:cNvSpPr/>
          <p:nvPr/>
        </p:nvSpPr>
        <p:spPr bwMode="auto">
          <a:xfrm>
            <a:off x="548640" y="340156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Descripción de hardware en tiempo de compilación</a:t>
            </a:r>
            <a:endParaRPr lang="en-US" sz="900"/>
          </a:p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Separación software/hardware — mismo código en boards distintas</a:t>
            </a:r>
            <a:endParaRPr lang="en-US" sz="900"/>
          </a:p>
        </p:txBody>
      </p:sp>
      <p:sp>
        <p:nvSpPr>
          <p:cNvPr id="132520477" name="Shape 16"/>
          <p:cNvSpPr/>
          <p:nvPr/>
        </p:nvSpPr>
        <p:spPr bwMode="auto">
          <a:xfrm>
            <a:off x="4663440" y="109728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6416754" name="Shape 17"/>
          <p:cNvSpPr/>
          <p:nvPr/>
        </p:nvSpPr>
        <p:spPr bwMode="auto">
          <a:xfrm>
            <a:off x="4663440" y="1097280"/>
            <a:ext cx="4023360" cy="256032"/>
          </a:xfrm>
          <a:prstGeom prst="rect">
            <a:avLst/>
          </a:prstGeom>
          <a:solidFill>
            <a:srgbClr val="0070C5"/>
          </a:solidFill>
          <a:ln/>
        </p:spPr>
      </p:sp>
      <p:sp>
        <p:nvSpPr>
          <p:cNvPr id="366358884" name="Text 18"/>
          <p:cNvSpPr/>
          <p:nvPr/>
        </p:nvSpPr>
        <p:spPr bwMode="auto">
          <a:xfrm>
            <a:off x="4663440" y="109728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ZEPHYR SDK</a:t>
            </a:r>
            <a:endParaRPr lang="en-US" sz="900"/>
          </a:p>
        </p:txBody>
      </p:sp>
      <p:sp>
        <p:nvSpPr>
          <p:cNvPr id="1599665404" name="Text 19"/>
          <p:cNvSpPr/>
          <p:nvPr/>
        </p:nvSpPr>
        <p:spPr bwMode="auto">
          <a:xfrm>
            <a:off x="4754880" y="138988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Toolchains para todas las arquitecturas</a:t>
            </a:r>
            <a:endParaRPr lang="en-US" sz="900"/>
          </a:p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QEMU: emulación sin hardware real</a:t>
            </a:r>
            <a:endParaRPr lang="en-US" sz="900"/>
          </a:p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OpenOCD: debugging via JTAG/SWD</a:t>
            </a:r>
            <a:endParaRPr lang="en-US" sz="900"/>
          </a:p>
        </p:txBody>
      </p:sp>
      <p:sp>
        <p:nvSpPr>
          <p:cNvPr id="2021900399" name="Shape 20"/>
          <p:cNvSpPr/>
          <p:nvPr/>
        </p:nvSpPr>
        <p:spPr bwMode="auto">
          <a:xfrm>
            <a:off x="4663440" y="210312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74183200" name="Shape 21"/>
          <p:cNvSpPr/>
          <p:nvPr/>
        </p:nvSpPr>
        <p:spPr bwMode="auto">
          <a:xfrm>
            <a:off x="4663440" y="2103120"/>
            <a:ext cx="4023360" cy="256032"/>
          </a:xfrm>
          <a:prstGeom prst="rect">
            <a:avLst/>
          </a:prstGeom>
          <a:solidFill>
            <a:srgbClr val="0070C5"/>
          </a:solidFill>
          <a:ln/>
        </p:spPr>
      </p:sp>
      <p:sp>
        <p:nvSpPr>
          <p:cNvPr id="2006780125" name="Text 22"/>
          <p:cNvSpPr/>
          <p:nvPr/>
        </p:nvSpPr>
        <p:spPr bwMode="auto">
          <a:xfrm>
            <a:off x="4663440" y="210312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API POSIX-LIKE + NETWORKING</a:t>
            </a:r>
            <a:endParaRPr lang="en-US" sz="900"/>
          </a:p>
        </p:txBody>
      </p:sp>
      <p:sp>
        <p:nvSpPr>
          <p:cNvPr id="1945944444" name="Text 23"/>
          <p:cNvSpPr/>
          <p:nvPr/>
        </p:nvSpPr>
        <p:spPr bwMode="auto">
          <a:xfrm>
            <a:off x="4754880" y="239572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open, close, read, write, socket</a:t>
            </a:r>
            <a:endParaRPr lang="en-US" sz="900"/>
          </a:p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Stack de red nativo: BLE, Wi-Fi, Thread, Ethernet</a:t>
            </a:r>
            <a:endParaRPr lang="en-US" sz="900"/>
          </a:p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Portabilidad de aplicaciones existentes</a:t>
            </a:r>
            <a:endParaRPr lang="en-US" sz="900"/>
          </a:p>
        </p:txBody>
      </p:sp>
      <p:sp>
        <p:nvSpPr>
          <p:cNvPr id="2136848040" name="Shape 24"/>
          <p:cNvSpPr/>
          <p:nvPr/>
        </p:nvSpPr>
        <p:spPr bwMode="auto">
          <a:xfrm>
            <a:off x="4663440" y="3108960"/>
            <a:ext cx="40233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76376226" name="Shape 25"/>
          <p:cNvSpPr/>
          <p:nvPr/>
        </p:nvSpPr>
        <p:spPr bwMode="auto">
          <a:xfrm>
            <a:off x="4663440" y="3108960"/>
            <a:ext cx="4023360" cy="256032"/>
          </a:xfrm>
          <a:prstGeom prst="rect">
            <a:avLst/>
          </a:prstGeom>
          <a:solidFill>
            <a:srgbClr val="0070C5"/>
          </a:solidFill>
          <a:ln/>
        </p:spPr>
      </p:sp>
      <p:sp>
        <p:nvSpPr>
          <p:cNvPr id="1548757147" name="Text 26"/>
          <p:cNvSpPr/>
          <p:nvPr/>
        </p:nvSpPr>
        <p:spPr bwMode="auto">
          <a:xfrm>
            <a:off x="4663440" y="310896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DOCUMENTACIÓN + COMUNIDAD</a:t>
            </a:r>
            <a:endParaRPr lang="en-US" sz="900"/>
          </a:p>
        </p:txBody>
      </p:sp>
      <p:sp>
        <p:nvSpPr>
          <p:cNvPr id="2101404966" name="Text 27"/>
          <p:cNvSpPr/>
          <p:nvPr/>
        </p:nvSpPr>
        <p:spPr bwMode="auto">
          <a:xfrm>
            <a:off x="4754880" y="340156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docs.zephyrproject.org — referencia completa</a:t>
            </a:r>
            <a:endParaRPr lang="en-US" sz="900"/>
          </a:p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GitHub, Discord, Stack Overflow activos</a:t>
            </a:r>
            <a:endParaRPr lang="en-US" sz="900"/>
          </a:p>
        </p:txBody>
      </p:sp>
      <p:sp>
        <p:nvSpPr>
          <p:cNvPr id="1073414060" name="Text 28"/>
          <p:cNvSpPr/>
          <p:nvPr/>
        </p:nvSpPr>
        <p:spPr bwMode="auto">
          <a:xfrm>
            <a:off x="457200" y="477316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7">
    <p:bg>
      <p:bgPr shadeToTitle="0">
        <a:solidFill>
          <a:srgbClr val="F6F7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19751" name="Shape 0"/>
          <p:cNvSpPr/>
          <p:nvPr/>
        </p:nvSpPr>
        <p:spPr bwMode="auto">
          <a:xfrm>
            <a:off x="8503920" y="4663440"/>
            <a:ext cx="365760" cy="365760"/>
          </a:xfrm>
          <a:prstGeom prst="ellipse">
            <a:avLst/>
          </a:prstGeom>
          <a:solidFill>
            <a:srgbClr val="4C5155"/>
          </a:solidFill>
          <a:ln/>
        </p:spPr>
      </p:sp>
      <p:sp>
        <p:nvSpPr>
          <p:cNvPr id="1001061233" name="Text 1"/>
          <p:cNvSpPr/>
          <p:nvPr/>
        </p:nvSpPr>
        <p:spPr bwMode="auto"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17</a:t>
            </a:r>
            <a:endParaRPr lang="en-US" sz="1200"/>
          </a:p>
        </p:txBody>
      </p:sp>
      <p:sp>
        <p:nvSpPr>
          <p:cNvPr id="1729568613" name="Text 2"/>
          <p:cNvSpPr/>
          <p:nvPr/>
        </p:nvSpPr>
        <p:spPr bwMode="auto">
          <a:xfrm>
            <a:off x="457200" y="2743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2400" b="1">
                <a:solidFill>
                  <a:srgbClr val="2D3237"/>
                </a:solidFill>
                <a:latin typeface="Arial Black"/>
                <a:ea typeface="Arial Black"/>
                <a:cs typeface="Arial Black"/>
              </a:rPr>
              <a:t>MOSIX — Facilidades para Desarrolladores</a:t>
            </a:r>
            <a:endParaRPr lang="en-US" sz="2400"/>
          </a:p>
        </p:txBody>
      </p:sp>
      <p:sp>
        <p:nvSpPr>
          <p:cNvPr id="909435413" name="Text 3"/>
          <p:cNvSpPr/>
          <p:nvPr/>
        </p:nvSpPr>
        <p:spPr bwMode="auto">
          <a:xfrm>
            <a:off x="457200" y="7498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200" i="1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Transparencia total — aplicaciones Linux estándar sin modificaciones</a:t>
            </a:r>
            <a:endParaRPr lang="en-US" sz="1200"/>
          </a:p>
        </p:txBody>
      </p:sp>
      <p:sp>
        <p:nvSpPr>
          <p:cNvPr id="1146495824" name="Shape 4"/>
          <p:cNvSpPr/>
          <p:nvPr/>
        </p:nvSpPr>
        <p:spPr bwMode="auto">
          <a:xfrm>
            <a:off x="457200" y="109728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7270360" name="Shape 5"/>
          <p:cNvSpPr/>
          <p:nvPr/>
        </p:nvSpPr>
        <p:spPr bwMode="auto">
          <a:xfrm>
            <a:off x="457200" y="1097280"/>
            <a:ext cx="4023360" cy="256032"/>
          </a:xfrm>
          <a:prstGeom prst="rect">
            <a:avLst/>
          </a:prstGeom>
          <a:solidFill>
            <a:srgbClr val="4C5155"/>
          </a:solidFill>
          <a:ln/>
        </p:spPr>
      </p:sp>
      <p:sp>
        <p:nvSpPr>
          <p:cNvPr id="829457282" name="Text 6"/>
          <p:cNvSpPr/>
          <p:nvPr/>
        </p:nvSpPr>
        <p:spPr bwMode="auto">
          <a:xfrm>
            <a:off x="457200" y="109728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API POSIX ESTÁNDAR</a:t>
            </a:r>
            <a:endParaRPr lang="en-US" sz="900"/>
          </a:p>
        </p:txBody>
      </p:sp>
      <p:sp>
        <p:nvSpPr>
          <p:cNvPr id="1212374845" name="Text 7"/>
          <p:cNvSpPr/>
          <p:nvPr/>
        </p:nvSpPr>
        <p:spPr bwMode="auto">
          <a:xfrm>
            <a:off x="548640" y="138988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Compatible con aplicaciones Linux existentes</a:t>
            </a:r>
            <a:endParaRPr lang="en-US" sz="900"/>
          </a:p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Syscalls estándar: fork, exec, read, write</a:t>
            </a:r>
            <a:endParaRPr lang="en-US" sz="900"/>
          </a:p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Sin librerías especiales de linkedición</a:t>
            </a:r>
            <a:endParaRPr lang="en-US" sz="900"/>
          </a:p>
        </p:txBody>
      </p:sp>
      <p:sp>
        <p:nvSpPr>
          <p:cNvPr id="1132071391" name="Shape 8"/>
          <p:cNvSpPr/>
          <p:nvPr/>
        </p:nvSpPr>
        <p:spPr bwMode="auto">
          <a:xfrm>
            <a:off x="457200" y="210312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93924473" name="Shape 9"/>
          <p:cNvSpPr/>
          <p:nvPr/>
        </p:nvSpPr>
        <p:spPr bwMode="auto">
          <a:xfrm>
            <a:off x="457200" y="2103120"/>
            <a:ext cx="4023360" cy="256032"/>
          </a:xfrm>
          <a:prstGeom prst="rect">
            <a:avLst/>
          </a:prstGeom>
          <a:solidFill>
            <a:srgbClr val="4C5155"/>
          </a:solidFill>
          <a:ln/>
        </p:spPr>
      </p:sp>
      <p:sp>
        <p:nvSpPr>
          <p:cNvPr id="1933106063" name="Text 10"/>
          <p:cNvSpPr/>
          <p:nvPr/>
        </p:nvSpPr>
        <p:spPr bwMode="auto">
          <a:xfrm>
            <a:off x="457200" y="210312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SIN RECOMPILACIÓN</a:t>
            </a:r>
            <a:endParaRPr lang="en-US" sz="900"/>
          </a:p>
        </p:txBody>
      </p:sp>
      <p:sp>
        <p:nvSpPr>
          <p:cNvPr id="1872090919" name="Text 11"/>
          <p:cNvSpPr/>
          <p:nvPr/>
        </p:nvSpPr>
        <p:spPr bwMode="auto">
          <a:xfrm>
            <a:off x="548640" y="239572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Ejecutables ELF estándar funcionan directamente</a:t>
            </a:r>
            <a:endParaRPr lang="en-US" sz="900"/>
          </a:p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No requiere código específico de MOSIX</a:t>
            </a:r>
            <a:endParaRPr lang="en-US" sz="900"/>
          </a:p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Migración transparente entre nodos</a:t>
            </a:r>
            <a:endParaRPr lang="en-US" sz="900"/>
          </a:p>
        </p:txBody>
      </p:sp>
      <p:sp>
        <p:nvSpPr>
          <p:cNvPr id="570021546" name="Shape 12"/>
          <p:cNvSpPr/>
          <p:nvPr/>
        </p:nvSpPr>
        <p:spPr bwMode="auto">
          <a:xfrm>
            <a:off x="457200" y="3108960"/>
            <a:ext cx="40233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86309395" name="Shape 13"/>
          <p:cNvSpPr/>
          <p:nvPr/>
        </p:nvSpPr>
        <p:spPr bwMode="auto">
          <a:xfrm>
            <a:off x="457200" y="3108960"/>
            <a:ext cx="4023360" cy="256032"/>
          </a:xfrm>
          <a:prstGeom prst="rect">
            <a:avLst/>
          </a:prstGeom>
          <a:solidFill>
            <a:srgbClr val="4C5155"/>
          </a:solidFill>
          <a:ln/>
        </p:spPr>
      </p:sp>
      <p:sp>
        <p:nvSpPr>
          <p:cNvPr id="846388577" name="Text 14"/>
          <p:cNvSpPr/>
          <p:nvPr/>
        </p:nvSpPr>
        <p:spPr bwMode="auto">
          <a:xfrm>
            <a:off x="457200" y="310896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MIGRACIÓN TRANSPARENTE</a:t>
            </a:r>
            <a:endParaRPr lang="en-US" sz="900"/>
          </a:p>
        </p:txBody>
      </p:sp>
      <p:sp>
        <p:nvSpPr>
          <p:cNvPr id="1238469194" name="Text 15"/>
          <p:cNvSpPr/>
          <p:nvPr/>
        </p:nvSpPr>
        <p:spPr bwMode="auto">
          <a:xfrm>
            <a:off x="548640" y="340156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Aplicaciones migran sin modificaciones</a:t>
            </a:r>
            <a:endParaRPr lang="en-US" sz="900"/>
          </a:p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mosrun: herramienta para iniciar procesos migrables</a:t>
            </a:r>
            <a:endParaRPr lang="en-US" sz="900"/>
          </a:p>
        </p:txBody>
      </p:sp>
      <p:sp>
        <p:nvSpPr>
          <p:cNvPr id="1770333129" name="Shape 16"/>
          <p:cNvSpPr/>
          <p:nvPr/>
        </p:nvSpPr>
        <p:spPr bwMode="auto">
          <a:xfrm>
            <a:off x="4663440" y="109728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91308783" name="Shape 17"/>
          <p:cNvSpPr/>
          <p:nvPr/>
        </p:nvSpPr>
        <p:spPr bwMode="auto">
          <a:xfrm>
            <a:off x="4663440" y="1097280"/>
            <a:ext cx="4023360" cy="256032"/>
          </a:xfrm>
          <a:prstGeom prst="rect">
            <a:avLst/>
          </a:prstGeom>
          <a:solidFill>
            <a:srgbClr val="4C5155"/>
          </a:solidFill>
          <a:ln/>
        </p:spPr>
      </p:sp>
      <p:sp>
        <p:nvSpPr>
          <p:cNvPr id="32674230" name="Text 18"/>
          <p:cNvSpPr/>
          <p:nvPr/>
        </p:nvSpPr>
        <p:spPr bwMode="auto">
          <a:xfrm>
            <a:off x="4663440" y="109728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HERRAMIENTAS MOSIX (HPC)</a:t>
            </a:r>
            <a:endParaRPr lang="en-US" sz="900"/>
          </a:p>
        </p:txBody>
      </p:sp>
      <p:sp>
        <p:nvSpPr>
          <p:cNvPr id="444593167" name="Text 19"/>
          <p:cNvSpPr/>
          <p:nvPr/>
        </p:nvSpPr>
        <p:spPr bwMode="auto">
          <a:xfrm>
            <a:off x="4754880" y="138988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mosmon: monitoreo en tiempo real</a:t>
            </a:r>
            <a:endParaRPr lang="en-US" sz="900"/>
          </a:p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mosps: lista de procesos activos</a:t>
            </a:r>
            <a:endParaRPr lang="en-US" sz="900"/>
          </a:p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mostat: estadísticas del cluster</a:t>
            </a:r>
            <a:endParaRPr lang="en-US" sz="900"/>
          </a:p>
        </p:txBody>
      </p:sp>
      <p:sp>
        <p:nvSpPr>
          <p:cNvPr id="189323481" name="Shape 20"/>
          <p:cNvSpPr/>
          <p:nvPr/>
        </p:nvSpPr>
        <p:spPr bwMode="auto">
          <a:xfrm>
            <a:off x="4663440" y="2103120"/>
            <a:ext cx="402336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344943" name="Shape 21"/>
          <p:cNvSpPr/>
          <p:nvPr/>
        </p:nvSpPr>
        <p:spPr bwMode="auto">
          <a:xfrm>
            <a:off x="4663440" y="2103120"/>
            <a:ext cx="4023360" cy="256032"/>
          </a:xfrm>
          <a:prstGeom prst="rect">
            <a:avLst/>
          </a:prstGeom>
          <a:solidFill>
            <a:srgbClr val="4C5155"/>
          </a:solidFill>
          <a:ln/>
        </p:spPr>
      </p:sp>
      <p:sp>
        <p:nvSpPr>
          <p:cNvPr id="1818817287" name="Text 22"/>
          <p:cNvSpPr/>
          <p:nvPr/>
        </p:nvSpPr>
        <p:spPr bwMode="auto">
          <a:xfrm>
            <a:off x="4663440" y="210312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COMPATIBILIDAD SLURM</a:t>
            </a:r>
            <a:endParaRPr lang="en-US" sz="900"/>
          </a:p>
        </p:txBody>
      </p:sp>
      <p:sp>
        <p:nvSpPr>
          <p:cNvPr id="905162128" name="Text 23"/>
          <p:cNvSpPr/>
          <p:nvPr/>
        </p:nvSpPr>
        <p:spPr bwMode="auto">
          <a:xfrm>
            <a:off x="4754880" y="239572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SLURM: workload manager estándar HPC</a:t>
            </a:r>
            <a:endParaRPr lang="en-US" sz="900"/>
          </a:p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Integración posible a nivel de cluster</a:t>
            </a:r>
            <a:endParaRPr lang="en-US" sz="900"/>
          </a:p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Uso conjunto: SLURM + migración MOSIX</a:t>
            </a:r>
            <a:endParaRPr lang="en-US" sz="900"/>
          </a:p>
        </p:txBody>
      </p:sp>
      <p:sp>
        <p:nvSpPr>
          <p:cNvPr id="1568254210" name="Shape 24"/>
          <p:cNvSpPr/>
          <p:nvPr/>
        </p:nvSpPr>
        <p:spPr bwMode="auto">
          <a:xfrm>
            <a:off x="4663440" y="3108960"/>
            <a:ext cx="402336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01872846" name="Shape 25"/>
          <p:cNvSpPr/>
          <p:nvPr/>
        </p:nvSpPr>
        <p:spPr bwMode="auto">
          <a:xfrm>
            <a:off x="4663440" y="3108960"/>
            <a:ext cx="4023360" cy="256032"/>
          </a:xfrm>
          <a:prstGeom prst="rect">
            <a:avLst/>
          </a:prstGeom>
          <a:solidFill>
            <a:srgbClr val="4C5155"/>
          </a:solidFill>
          <a:ln/>
        </p:spPr>
      </p:sp>
      <p:sp>
        <p:nvSpPr>
          <p:cNvPr id="955183825" name="Text 26"/>
          <p:cNvSpPr/>
          <p:nvPr/>
        </p:nvSpPr>
        <p:spPr bwMode="auto">
          <a:xfrm>
            <a:off x="4663440" y="310896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DOCUMENTACIÓN LIMITADA</a:t>
            </a:r>
            <a:endParaRPr lang="en-US" sz="900"/>
          </a:p>
        </p:txBody>
      </p:sp>
      <p:sp>
        <p:nvSpPr>
          <p:cNvPr id="503448674" name="Text 27"/>
          <p:cNvSpPr/>
          <p:nvPr/>
        </p:nvSpPr>
        <p:spPr bwMode="auto">
          <a:xfrm>
            <a:off x="4754880" y="340156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Documentación menos extensa que Zephyr</a:t>
            </a:r>
            <a:endParaRPr lang="en-US" sz="900"/>
          </a:p>
          <a:p>
            <a:pPr marL="342900" indent="-342900" algn="l">
              <a:buSzPct val="100000"/>
              <a:buChar char="•"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Recursos: FAQ, tutorial, guía del administrador</a:t>
            </a:r>
            <a:endParaRPr lang="en-US" sz="900"/>
          </a:p>
        </p:txBody>
      </p:sp>
      <p:sp>
        <p:nvSpPr>
          <p:cNvPr id="853824153" name="Text 28"/>
          <p:cNvSpPr/>
          <p:nvPr/>
        </p:nvSpPr>
        <p:spPr bwMode="auto">
          <a:xfrm>
            <a:off x="457200" y="477316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8">
    <p:bg>
      <p:bgPr shadeToTitle="0">
        <a:solidFill>
          <a:srgbClr val="F6F7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7111043" name="Shape 0"/>
          <p:cNvSpPr/>
          <p:nvPr/>
        </p:nvSpPr>
        <p:spPr bwMode="auto">
          <a:xfrm>
            <a:off x="8503920" y="4663440"/>
            <a:ext cx="365760" cy="365760"/>
          </a:xfrm>
          <a:prstGeom prst="ellipse">
            <a:avLst/>
          </a:prstGeom>
          <a:solidFill>
            <a:srgbClr val="0070C5"/>
          </a:solidFill>
          <a:ln/>
        </p:spPr>
      </p:sp>
      <p:sp>
        <p:nvSpPr>
          <p:cNvPr id="1499778353" name="Text 1"/>
          <p:cNvSpPr/>
          <p:nvPr/>
        </p:nvSpPr>
        <p:spPr bwMode="auto"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18</a:t>
            </a:r>
            <a:endParaRPr lang="en-US" sz="1200"/>
          </a:p>
        </p:txBody>
      </p:sp>
      <p:sp>
        <p:nvSpPr>
          <p:cNvPr id="820882045" name="Text 2"/>
          <p:cNvSpPr/>
          <p:nvPr/>
        </p:nvSpPr>
        <p:spPr bwMode="auto">
          <a:xfrm>
            <a:off x="457200" y="2743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2400" b="1">
                <a:solidFill>
                  <a:srgbClr val="2D3237"/>
                </a:solidFill>
                <a:latin typeface="Arial Black"/>
                <a:ea typeface="Arial Black"/>
                <a:cs typeface="Arial Black"/>
              </a:rPr>
              <a:t>Zephyr OS — Fortalezas y Debilidades</a:t>
            </a:r>
            <a:endParaRPr lang="en-US" sz="2400"/>
          </a:p>
        </p:txBody>
      </p:sp>
      <p:sp>
        <p:nvSpPr>
          <p:cNvPr id="446864511" name="Text 3"/>
          <p:cNvSpPr/>
          <p:nvPr/>
        </p:nvSpPr>
        <p:spPr bwMode="auto">
          <a:xfrm>
            <a:off x="457200" y="7498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200" i="1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Comparativa con FreeRTOS, Contiki, TinyOS y Linux embebido</a:t>
            </a:r>
            <a:endParaRPr lang="en-US" sz="1200"/>
          </a:p>
        </p:txBody>
      </p:sp>
      <p:sp>
        <p:nvSpPr>
          <p:cNvPr id="834718724" name="Shape 4"/>
          <p:cNvSpPr/>
          <p:nvPr/>
        </p:nvSpPr>
        <p:spPr bwMode="auto">
          <a:xfrm>
            <a:off x="457200" y="1051560"/>
            <a:ext cx="397764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98630687" name="Shape 5"/>
          <p:cNvSpPr/>
          <p:nvPr/>
        </p:nvSpPr>
        <p:spPr bwMode="auto">
          <a:xfrm>
            <a:off x="457200" y="1051560"/>
            <a:ext cx="3977640" cy="2926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423304981" name="Text 6"/>
          <p:cNvSpPr/>
          <p:nvPr/>
        </p:nvSpPr>
        <p:spPr bwMode="auto">
          <a:xfrm>
            <a:off x="457200" y="1051560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 spc="200">
                <a:solidFill>
                  <a:srgbClr val="FFFFFF"/>
                </a:solidFill>
                <a:latin typeface="Arial"/>
                <a:ea typeface="Arial"/>
                <a:cs typeface="Arial"/>
              </a:rPr>
              <a:t>FORTALEZAS</a:t>
            </a:r>
            <a:endParaRPr lang="en-US" sz="1100"/>
          </a:p>
        </p:txBody>
      </p:sp>
      <p:sp>
        <p:nvSpPr>
          <p:cNvPr id="1277249016" name="Text 7"/>
          <p:cNvSpPr/>
          <p:nvPr/>
        </p:nvSpPr>
        <p:spPr bwMode="auto">
          <a:xfrm>
            <a:off x="548640" y="1389888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2E7D32"/>
                </a:solidFill>
                <a:latin typeface="Calibri"/>
                <a:ea typeface="Calibri"/>
                <a:cs typeface="Calibri"/>
              </a:rPr>
              <a:t>▸ Tamaño mínimo ~4KB</a:t>
            </a:r>
            <a:endParaRPr lang="en-US" sz="1000"/>
          </a:p>
        </p:txBody>
      </p:sp>
      <p:sp>
        <p:nvSpPr>
          <p:cNvPr id="1552312961" name="Text 8"/>
          <p:cNvSpPr/>
          <p:nvPr/>
        </p:nvSpPr>
        <p:spPr bwMode="auto">
          <a:xfrm>
            <a:off x="685800" y="159105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8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Ultra-compacto para microcontroladores</a:t>
            </a:r>
            <a:endParaRPr lang="en-US" sz="800"/>
          </a:p>
        </p:txBody>
      </p:sp>
      <p:sp>
        <p:nvSpPr>
          <p:cNvPr id="207442293" name="Text 9"/>
          <p:cNvSpPr/>
          <p:nvPr/>
        </p:nvSpPr>
        <p:spPr bwMode="auto">
          <a:xfrm>
            <a:off x="548640" y="1810512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2E7D32"/>
                </a:solidFill>
                <a:latin typeface="Calibri"/>
                <a:ea typeface="Calibri"/>
                <a:cs typeface="Calibri"/>
              </a:rPr>
              <a:t>▸ Real-time guaranteed</a:t>
            </a:r>
            <a:endParaRPr lang="en-US" sz="1000"/>
          </a:p>
        </p:txBody>
      </p:sp>
      <p:sp>
        <p:nvSpPr>
          <p:cNvPr id="1256088432" name="Text 10"/>
          <p:cNvSpPr/>
          <p:nvPr/>
        </p:nvSpPr>
        <p:spPr bwMode="auto">
          <a:xfrm>
            <a:off x="685800" y="20116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8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Scheduling predictible, deterministic timing</a:t>
            </a:r>
            <a:endParaRPr lang="en-US" sz="800"/>
          </a:p>
        </p:txBody>
      </p:sp>
      <p:sp>
        <p:nvSpPr>
          <p:cNvPr id="1208580849" name="Text 11"/>
          <p:cNvSpPr/>
          <p:nvPr/>
        </p:nvSpPr>
        <p:spPr bwMode="auto">
          <a:xfrm>
            <a:off x="548640" y="2231136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2E7D32"/>
                </a:solidFill>
                <a:latin typeface="Calibri"/>
                <a:ea typeface="Calibri"/>
                <a:cs typeface="Calibri"/>
              </a:rPr>
              <a:t>▸ Multi-architecture</a:t>
            </a:r>
            <a:endParaRPr lang="en-US" sz="1000"/>
          </a:p>
        </p:txBody>
      </p:sp>
      <p:sp>
        <p:nvSpPr>
          <p:cNvPr id="1920538063" name="Text 12"/>
          <p:cNvSpPr/>
          <p:nvPr/>
        </p:nvSpPr>
        <p:spPr bwMode="auto">
          <a:xfrm>
            <a:off x="685800" y="2432303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8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15+ arquitecturas: ARM, RISC-V, x86, MIPS...</a:t>
            </a:r>
            <a:endParaRPr lang="en-US" sz="800"/>
          </a:p>
        </p:txBody>
      </p:sp>
      <p:sp>
        <p:nvSpPr>
          <p:cNvPr id="670981896" name="Text 13"/>
          <p:cNvSpPr/>
          <p:nvPr/>
        </p:nvSpPr>
        <p:spPr bwMode="auto">
          <a:xfrm>
            <a:off x="548640" y="2651760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2E7D32"/>
                </a:solidFill>
                <a:latin typeface="Calibri"/>
                <a:ea typeface="Calibri"/>
                <a:cs typeface="Calibri"/>
              </a:rPr>
              <a:t>▸ Active community</a:t>
            </a:r>
            <a:endParaRPr lang="en-US" sz="1000"/>
          </a:p>
        </p:txBody>
      </p:sp>
      <p:sp>
        <p:nvSpPr>
          <p:cNvPr id="1271367849" name="Text 14"/>
          <p:cNvSpPr/>
          <p:nvPr/>
        </p:nvSpPr>
        <p:spPr bwMode="auto">
          <a:xfrm>
            <a:off x="685800" y="285292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8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3000+ contribuidores, 10+ años en producción</a:t>
            </a:r>
            <a:endParaRPr lang="en-US" sz="800"/>
          </a:p>
        </p:txBody>
      </p:sp>
      <p:sp>
        <p:nvSpPr>
          <p:cNvPr id="740006247" name="Text 15"/>
          <p:cNvSpPr/>
          <p:nvPr/>
        </p:nvSpPr>
        <p:spPr bwMode="auto">
          <a:xfrm>
            <a:off x="548640" y="3072384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2E7D32"/>
                </a:solidFill>
                <a:latin typeface="Calibri"/>
                <a:ea typeface="Calibri"/>
                <a:cs typeface="Calibri"/>
              </a:rPr>
              <a:t>▸ 1000+ boards soportadas</a:t>
            </a:r>
            <a:endParaRPr lang="en-US" sz="1000"/>
          </a:p>
        </p:txBody>
      </p:sp>
      <p:sp>
        <p:nvSpPr>
          <p:cNvPr id="1183264889" name="Text 16"/>
          <p:cNvSpPr/>
          <p:nvPr/>
        </p:nvSpPr>
        <p:spPr bwMode="auto">
          <a:xfrm>
            <a:off x="685800" y="327355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8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Soporte nativo de vendors majors</a:t>
            </a:r>
            <a:endParaRPr lang="en-US" sz="800"/>
          </a:p>
        </p:txBody>
      </p:sp>
      <p:sp>
        <p:nvSpPr>
          <p:cNvPr id="2000459575" name="Text 17"/>
          <p:cNvSpPr/>
          <p:nvPr/>
        </p:nvSpPr>
        <p:spPr bwMode="auto">
          <a:xfrm>
            <a:off x="548640" y="3493008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2E7D32"/>
                </a:solidFill>
                <a:latin typeface="Calibri"/>
                <a:ea typeface="Calibri"/>
                <a:cs typeface="Calibri"/>
              </a:rPr>
              <a:t>▸ LTS versions</a:t>
            </a:r>
            <a:endParaRPr lang="en-US" sz="1000"/>
          </a:p>
        </p:txBody>
      </p:sp>
      <p:sp>
        <p:nvSpPr>
          <p:cNvPr id="825392094" name="Text 18"/>
          <p:cNvSpPr/>
          <p:nvPr/>
        </p:nvSpPr>
        <p:spPr bwMode="auto">
          <a:xfrm>
            <a:off x="685800" y="369417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8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LTS3 con soporte extendido 10-20 años</a:t>
            </a:r>
            <a:endParaRPr lang="en-US" sz="800"/>
          </a:p>
        </p:txBody>
      </p:sp>
      <p:sp>
        <p:nvSpPr>
          <p:cNvPr id="1462497638" name="Text 19"/>
          <p:cNvSpPr/>
          <p:nvPr/>
        </p:nvSpPr>
        <p:spPr bwMode="auto">
          <a:xfrm>
            <a:off x="548640" y="3913632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2E7D32"/>
                </a:solidFill>
                <a:latin typeface="Calibri"/>
                <a:ea typeface="Calibri"/>
                <a:cs typeface="Calibri"/>
              </a:rPr>
              <a:t>▸ Neutral governance</a:t>
            </a:r>
            <a:endParaRPr lang="en-US" sz="1000"/>
          </a:p>
        </p:txBody>
      </p:sp>
      <p:sp>
        <p:nvSpPr>
          <p:cNvPr id="1469017829" name="Text 20"/>
          <p:cNvSpPr/>
          <p:nvPr/>
        </p:nvSpPr>
        <p:spPr bwMode="auto">
          <a:xfrm>
            <a:off x="685800" y="41148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8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Linux Foundation — sin vendor lock-in</a:t>
            </a:r>
            <a:endParaRPr lang="en-US" sz="800"/>
          </a:p>
        </p:txBody>
      </p:sp>
      <p:sp>
        <p:nvSpPr>
          <p:cNvPr id="2080717016" name="Shape 21"/>
          <p:cNvSpPr/>
          <p:nvPr/>
        </p:nvSpPr>
        <p:spPr bwMode="auto">
          <a:xfrm>
            <a:off x="4617720" y="1051560"/>
            <a:ext cx="397764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39906027" name="Shape 22"/>
          <p:cNvSpPr/>
          <p:nvPr/>
        </p:nvSpPr>
        <p:spPr bwMode="auto">
          <a:xfrm>
            <a:off x="4617720" y="1051560"/>
            <a:ext cx="3977640" cy="29260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698501892" name="Text 23"/>
          <p:cNvSpPr/>
          <p:nvPr/>
        </p:nvSpPr>
        <p:spPr bwMode="auto">
          <a:xfrm>
            <a:off x="4617720" y="1051560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 spc="200">
                <a:solidFill>
                  <a:srgbClr val="FFFFFF"/>
                </a:solidFill>
                <a:latin typeface="Arial"/>
                <a:ea typeface="Arial"/>
                <a:cs typeface="Arial"/>
              </a:rPr>
              <a:t>DEBILIDADES</a:t>
            </a:r>
            <a:endParaRPr lang="en-US" sz="1100"/>
          </a:p>
        </p:txBody>
      </p:sp>
      <p:sp>
        <p:nvSpPr>
          <p:cNvPr id="1458363294" name="Text 24"/>
          <p:cNvSpPr/>
          <p:nvPr/>
        </p:nvSpPr>
        <p:spPr bwMode="auto">
          <a:xfrm>
            <a:off x="4709160" y="1389888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▸ Ecosistema vs Linux embebido</a:t>
            </a:r>
            <a:endParaRPr lang="en-US" sz="1000"/>
          </a:p>
        </p:txBody>
      </p:sp>
      <p:sp>
        <p:nvSpPr>
          <p:cNvPr id="1549451391" name="Text 25"/>
          <p:cNvSpPr/>
          <p:nvPr/>
        </p:nvSpPr>
        <p:spPr bwMode="auto">
          <a:xfrm>
            <a:off x="4846320" y="159105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8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Menos maduro que Linux embebido tradicional</a:t>
            </a:r>
            <a:endParaRPr lang="en-US" sz="800"/>
          </a:p>
        </p:txBody>
      </p:sp>
      <p:sp>
        <p:nvSpPr>
          <p:cNvPr id="426356829" name="Text 26"/>
          <p:cNvSpPr/>
          <p:nvPr/>
        </p:nvSpPr>
        <p:spPr bwMode="auto">
          <a:xfrm>
            <a:off x="4709160" y="1810512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▸ Sin MMU / no memory virtualization</a:t>
            </a:r>
            <a:endParaRPr lang="en-US" sz="1000"/>
          </a:p>
        </p:txBody>
      </p:sp>
      <p:sp>
        <p:nvSpPr>
          <p:cNvPr id="1152748171" name="Text 27"/>
          <p:cNvSpPr/>
          <p:nvPr/>
        </p:nvSpPr>
        <p:spPr bwMode="auto">
          <a:xfrm>
            <a:off x="4846320" y="20116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8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Limitado en configs sin MMU (microcontroladores)</a:t>
            </a:r>
            <a:endParaRPr lang="en-US" sz="800"/>
          </a:p>
        </p:txBody>
      </p:sp>
      <p:sp>
        <p:nvSpPr>
          <p:cNvPr id="86266754" name="Text 28"/>
          <p:cNvSpPr/>
          <p:nvPr/>
        </p:nvSpPr>
        <p:spPr bwMode="auto">
          <a:xfrm>
            <a:off x="4709160" y="2231136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▸ Steep learning curve</a:t>
            </a:r>
            <a:endParaRPr lang="en-US" sz="1000"/>
          </a:p>
        </p:txBody>
      </p:sp>
      <p:sp>
        <p:nvSpPr>
          <p:cNvPr id="1861059266" name="Text 29"/>
          <p:cNvSpPr/>
          <p:nvPr/>
        </p:nvSpPr>
        <p:spPr bwMode="auto">
          <a:xfrm>
            <a:off x="4846320" y="2432303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8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vs FreeRTOS: 80% config, 20% código</a:t>
            </a:r>
            <a:endParaRPr lang="en-US" sz="800"/>
          </a:p>
        </p:txBody>
      </p:sp>
      <p:sp>
        <p:nvSpPr>
          <p:cNvPr id="244323037" name="Text 30"/>
          <p:cNvSpPr/>
          <p:nvPr/>
        </p:nvSpPr>
        <p:spPr bwMode="auto">
          <a:xfrm>
            <a:off x="4709160" y="2651760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▸ Context-switch slower</a:t>
            </a:r>
            <a:endParaRPr lang="en-US" sz="1000"/>
          </a:p>
        </p:txBody>
      </p:sp>
      <p:sp>
        <p:nvSpPr>
          <p:cNvPr id="1232254824" name="Text 31"/>
          <p:cNvSpPr/>
          <p:nvPr/>
        </p:nvSpPr>
        <p:spPr bwMode="auto">
          <a:xfrm>
            <a:off x="4846320" y="285292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8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~143 ciclos vs ~101 de FreeRTOS (~40% más lento)</a:t>
            </a:r>
            <a:endParaRPr lang="en-US" sz="800"/>
          </a:p>
        </p:txBody>
      </p:sp>
      <p:sp>
        <p:nvSpPr>
          <p:cNvPr id="728230404" name="Text 32"/>
          <p:cNvSpPr/>
          <p:nvPr/>
        </p:nvSpPr>
        <p:spPr bwMode="auto">
          <a:xfrm>
            <a:off x="4709160" y="3072384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▸ Sin certificaciones pre-existentes</a:t>
            </a:r>
            <a:endParaRPr lang="en-US" sz="1000"/>
          </a:p>
        </p:txBody>
      </p:sp>
      <p:sp>
        <p:nvSpPr>
          <p:cNvPr id="941846478" name="Text 33"/>
          <p:cNvSpPr/>
          <p:nvPr/>
        </p:nvSpPr>
        <p:spPr bwMode="auto">
          <a:xfrm>
            <a:off x="4846320" y="327355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8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No tiene SIL 4, ASIL D como ThreadX</a:t>
            </a:r>
            <a:endParaRPr lang="en-US" sz="800"/>
          </a:p>
        </p:txBody>
      </p:sp>
      <p:sp>
        <p:nvSpPr>
          <p:cNvPr id="2123735593" name="Text 34"/>
          <p:cNvSpPr/>
          <p:nvPr/>
        </p:nvSpPr>
        <p:spPr bwMode="auto">
          <a:xfrm>
            <a:off x="457200" y="477316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9">
    <p:bg>
      <p:bgPr shadeToTitle="0">
        <a:solidFill>
          <a:srgbClr val="F6F7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8765910" name="Shape 0"/>
          <p:cNvSpPr/>
          <p:nvPr/>
        </p:nvSpPr>
        <p:spPr bwMode="auto">
          <a:xfrm>
            <a:off x="8503920" y="4663440"/>
            <a:ext cx="365760" cy="365760"/>
          </a:xfrm>
          <a:prstGeom prst="ellipse">
            <a:avLst/>
          </a:prstGeom>
          <a:solidFill>
            <a:srgbClr val="4C5155"/>
          </a:solidFill>
          <a:ln/>
        </p:spPr>
      </p:sp>
      <p:sp>
        <p:nvSpPr>
          <p:cNvPr id="1871021817" name="Text 1"/>
          <p:cNvSpPr/>
          <p:nvPr/>
        </p:nvSpPr>
        <p:spPr bwMode="auto"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19</a:t>
            </a:r>
            <a:endParaRPr lang="en-US" sz="1200"/>
          </a:p>
        </p:txBody>
      </p:sp>
      <p:sp>
        <p:nvSpPr>
          <p:cNvPr id="1760476608" name="Text 2"/>
          <p:cNvSpPr/>
          <p:nvPr/>
        </p:nvSpPr>
        <p:spPr bwMode="auto">
          <a:xfrm>
            <a:off x="457200" y="2743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2400" b="1">
                <a:solidFill>
                  <a:srgbClr val="2D3237"/>
                </a:solidFill>
                <a:latin typeface="Arial Black"/>
                <a:ea typeface="Arial Black"/>
                <a:cs typeface="Arial Black"/>
              </a:rPr>
              <a:t>MOSIX — Fortalezas y Debilidades</a:t>
            </a:r>
            <a:endParaRPr lang="en-US" sz="2400"/>
          </a:p>
        </p:txBody>
      </p:sp>
      <p:sp>
        <p:nvSpPr>
          <p:cNvPr id="51454915" name="Text 3"/>
          <p:cNvSpPr/>
          <p:nvPr/>
        </p:nvSpPr>
        <p:spPr bwMode="auto">
          <a:xfrm>
            <a:off x="457200" y="7498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200" i="1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Comparativa con OpenMPI, TORQUE, Kubernetes y SLURM</a:t>
            </a:r>
            <a:endParaRPr lang="en-US" sz="1200"/>
          </a:p>
        </p:txBody>
      </p:sp>
      <p:sp>
        <p:nvSpPr>
          <p:cNvPr id="1120493692" name="Shape 4"/>
          <p:cNvSpPr/>
          <p:nvPr/>
        </p:nvSpPr>
        <p:spPr bwMode="auto">
          <a:xfrm>
            <a:off x="457200" y="1024128"/>
            <a:ext cx="8229600" cy="384048"/>
          </a:xfrm>
          <a:prstGeom prst="rect">
            <a:avLst/>
          </a:prstGeom>
          <a:solidFill>
            <a:srgbClr val="FFF3E0"/>
          </a:solidFill>
          <a:ln w="25400">
            <a:solidFill>
              <a:srgbClr val="E65100"/>
            </a:solidFill>
            <a:prstDash val="solid"/>
          </a:ln>
        </p:spPr>
      </p:sp>
      <p:sp>
        <p:nvSpPr>
          <p:cNvPr id="894599313" name="Text 5"/>
          <p:cNvSpPr/>
          <p:nvPr/>
        </p:nvSpPr>
        <p:spPr bwMode="auto">
          <a:xfrm>
            <a:off x="457200" y="102412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E65100"/>
                </a:solidFill>
                <a:latin typeface="Calibri"/>
                <a:ea typeface="Calibri"/>
                <a:cs typeface="Calibri"/>
              </a:rPr>
              <a:t>⚠ PROYECTO INACTIVO DESDE 2017 — Sin actualizaciones, parches de seguridad ni soporte</a:t>
            </a:r>
            <a:endParaRPr lang="en-US" sz="1100"/>
          </a:p>
        </p:txBody>
      </p:sp>
      <p:sp>
        <p:nvSpPr>
          <p:cNvPr id="550817258" name="Shape 6"/>
          <p:cNvSpPr/>
          <p:nvPr/>
        </p:nvSpPr>
        <p:spPr bwMode="auto">
          <a:xfrm>
            <a:off x="457200" y="1481328"/>
            <a:ext cx="397764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80720534" name="Shape 7"/>
          <p:cNvSpPr/>
          <p:nvPr/>
        </p:nvSpPr>
        <p:spPr bwMode="auto">
          <a:xfrm>
            <a:off x="457200" y="1481328"/>
            <a:ext cx="3977640" cy="292608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689951545" name="Text 8"/>
          <p:cNvSpPr/>
          <p:nvPr/>
        </p:nvSpPr>
        <p:spPr bwMode="auto">
          <a:xfrm>
            <a:off x="457200" y="148132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 spc="200">
                <a:solidFill>
                  <a:srgbClr val="FFFFFF"/>
                </a:solidFill>
                <a:latin typeface="Arial"/>
                <a:ea typeface="Arial"/>
                <a:cs typeface="Arial"/>
              </a:rPr>
              <a:t>FORTALEZAS</a:t>
            </a:r>
            <a:endParaRPr lang="en-US" sz="1100"/>
          </a:p>
        </p:txBody>
      </p:sp>
      <p:sp>
        <p:nvSpPr>
          <p:cNvPr id="1012993830" name="Text 9"/>
          <p:cNvSpPr/>
          <p:nvPr/>
        </p:nvSpPr>
        <p:spPr bwMode="auto">
          <a:xfrm>
            <a:off x="548640" y="1810512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2E7D32"/>
                </a:solidFill>
                <a:latin typeface="Calibri"/>
                <a:ea typeface="Calibri"/>
                <a:cs typeface="Calibri"/>
              </a:rPr>
              <a:t>▸ Cluster se presenta</a:t>
            </a:r>
            <a:endParaRPr lang="en-US" sz="1000"/>
          </a:p>
        </p:txBody>
      </p:sp>
      <p:sp>
        <p:nvSpPr>
          <p:cNvPr id="1905326519" name="Text 10"/>
          <p:cNvSpPr/>
          <p:nvPr/>
        </p:nvSpPr>
        <p:spPr bwMode="auto">
          <a:xfrm>
            <a:off x="685800" y="20116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8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Procesos migran en ejecución sin código modificado</a:t>
            </a:r>
            <a:endParaRPr lang="en-US" sz="800"/>
          </a:p>
        </p:txBody>
      </p:sp>
      <p:sp>
        <p:nvSpPr>
          <p:cNvPr id="1451771209" name="Text 11"/>
          <p:cNvSpPr/>
          <p:nvPr/>
        </p:nvSpPr>
        <p:spPr bwMode="auto">
          <a:xfrm>
            <a:off x="548640" y="2322576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2E7D32"/>
                </a:solidFill>
                <a:latin typeface="Calibri"/>
                <a:ea typeface="Calibri"/>
                <a:cs typeface="Calibri"/>
              </a:rPr>
              <a:t>▸ Single System Image (SSI)</a:t>
            </a:r>
            <a:endParaRPr lang="en-US" sz="1000"/>
          </a:p>
        </p:txBody>
      </p:sp>
      <p:sp>
        <p:nvSpPr>
          <p:cNvPr id="855524339" name="Text 12"/>
          <p:cNvSpPr/>
          <p:nvPr/>
        </p:nvSpPr>
        <p:spPr bwMode="auto">
          <a:xfrm>
            <a:off x="685800" y="2523744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8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Cluster présenté como un único sistema lógico</a:t>
            </a:r>
            <a:endParaRPr lang="en-US" sz="800"/>
          </a:p>
        </p:txBody>
      </p:sp>
      <p:sp>
        <p:nvSpPr>
          <p:cNvPr id="821497789" name="Text 13"/>
          <p:cNvSpPr/>
          <p:nvPr/>
        </p:nvSpPr>
        <p:spPr bwMode="auto">
          <a:xfrm>
            <a:off x="548640" y="2834640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2E7D32"/>
                </a:solidFill>
                <a:latin typeface="Calibri"/>
                <a:ea typeface="Calibri"/>
                <a:cs typeface="Calibri"/>
              </a:rPr>
              <a:t>▸ Zero-code-change porting</a:t>
            </a:r>
            <a:endParaRPr lang="en-US" sz="1000"/>
          </a:p>
        </p:txBody>
      </p:sp>
      <p:sp>
        <p:nvSpPr>
          <p:cNvPr id="716674554" name="Text 14"/>
          <p:cNvSpPr/>
          <p:nvPr/>
        </p:nvSpPr>
        <p:spPr bwMode="auto">
          <a:xfrm>
            <a:off x="685800" y="303580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8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Binarios Linux estándar funcionan sin recompilación</a:t>
            </a:r>
            <a:endParaRPr lang="en-US" sz="800"/>
          </a:p>
        </p:txBody>
      </p:sp>
      <p:sp>
        <p:nvSpPr>
          <p:cNvPr id="1211310613" name="Text 15"/>
          <p:cNvSpPr/>
          <p:nvPr/>
        </p:nvSpPr>
        <p:spPr bwMode="auto">
          <a:xfrm>
            <a:off x="548640" y="3346704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2E7D32"/>
                </a:solidFill>
                <a:latin typeface="Calibri"/>
                <a:ea typeface="Calibri"/>
                <a:cs typeface="Calibri"/>
              </a:rPr>
              <a:t>▸ Pioneering technology</a:t>
            </a:r>
            <a:endParaRPr lang="en-US" sz="1000"/>
          </a:p>
        </p:txBody>
      </p:sp>
      <p:sp>
        <p:nvSpPr>
          <p:cNvPr id="1055654778" name="Text 16"/>
          <p:cNvSpPr/>
          <p:nvPr/>
        </p:nvSpPr>
        <p:spPr bwMode="auto">
          <a:xfrm>
            <a:off x="685800" y="354787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8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Primer sistema con migración preemptiva funcional (1999)</a:t>
            </a:r>
            <a:endParaRPr lang="en-US" sz="800"/>
          </a:p>
        </p:txBody>
      </p:sp>
      <p:sp>
        <p:nvSpPr>
          <p:cNvPr id="558390124" name="Shape 17"/>
          <p:cNvSpPr/>
          <p:nvPr/>
        </p:nvSpPr>
        <p:spPr bwMode="auto">
          <a:xfrm>
            <a:off x="4617720" y="1481328"/>
            <a:ext cx="397764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41590348" name="Shape 18"/>
          <p:cNvSpPr/>
          <p:nvPr/>
        </p:nvSpPr>
        <p:spPr bwMode="auto">
          <a:xfrm>
            <a:off x="4617720" y="1481328"/>
            <a:ext cx="3977640" cy="29260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497824498" name="Text 19"/>
          <p:cNvSpPr/>
          <p:nvPr/>
        </p:nvSpPr>
        <p:spPr bwMode="auto">
          <a:xfrm>
            <a:off x="4617720" y="148132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 spc="200">
                <a:solidFill>
                  <a:srgbClr val="FFFFFF"/>
                </a:solidFill>
                <a:latin typeface="Arial"/>
                <a:ea typeface="Arial"/>
                <a:cs typeface="Arial"/>
              </a:rPr>
              <a:t>DEBILIDADES</a:t>
            </a:r>
            <a:endParaRPr lang="en-US" sz="1100"/>
          </a:p>
        </p:txBody>
      </p:sp>
      <p:sp>
        <p:nvSpPr>
          <p:cNvPr id="950484026" name="Text 20"/>
          <p:cNvSpPr/>
          <p:nvPr/>
        </p:nvSpPr>
        <p:spPr bwMode="auto">
          <a:xfrm>
            <a:off x="4709160" y="1810512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▸ INACTIVE since 2017</a:t>
            </a:r>
            <a:endParaRPr lang="en-US" sz="1000"/>
          </a:p>
        </p:txBody>
      </p:sp>
      <p:sp>
        <p:nvSpPr>
          <p:cNvPr id="1916091127" name="Text 21"/>
          <p:cNvSpPr/>
          <p:nvPr/>
        </p:nvSpPr>
        <p:spPr bwMode="auto">
          <a:xfrm>
            <a:off x="4846320" y="20116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8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Sin parches, updates ni soporte disponible</a:t>
            </a:r>
            <a:endParaRPr lang="en-US" sz="800"/>
          </a:p>
        </p:txBody>
      </p:sp>
      <p:sp>
        <p:nvSpPr>
          <p:cNvPr id="52765642" name="Text 22"/>
          <p:cNvSpPr/>
          <p:nvPr/>
        </p:nvSpPr>
        <p:spPr bwMode="auto">
          <a:xfrm>
            <a:off x="4709160" y="2194560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▸ Proprietary</a:t>
            </a:r>
            <a:endParaRPr lang="en-US" sz="1000"/>
          </a:p>
        </p:txBody>
      </p:sp>
      <p:sp>
        <p:nvSpPr>
          <p:cNvPr id="755444043" name="Text 23"/>
          <p:cNvSpPr/>
          <p:nvPr/>
        </p:nvSpPr>
        <p:spPr bwMode="auto">
          <a:xfrm>
            <a:off x="4846320" y="239572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8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Licencia restrictiva — no open source</a:t>
            </a:r>
            <a:endParaRPr lang="en-US" sz="800"/>
          </a:p>
        </p:txBody>
      </p:sp>
      <p:sp>
        <p:nvSpPr>
          <p:cNvPr id="710210884" name="Text 24"/>
          <p:cNvSpPr/>
          <p:nvPr/>
        </p:nvSpPr>
        <p:spPr bwMode="auto">
          <a:xfrm>
            <a:off x="4709160" y="2578608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▸ Only x86_64</a:t>
            </a:r>
            <a:endParaRPr lang="en-US" sz="1000"/>
          </a:p>
        </p:txBody>
      </p:sp>
      <p:sp>
        <p:nvSpPr>
          <p:cNvPr id="1414651420" name="Text 25"/>
          <p:cNvSpPr/>
          <p:nvPr/>
        </p:nvSpPr>
        <p:spPr bwMode="auto">
          <a:xfrm>
            <a:off x="4846320" y="277977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8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Sin soporte para arquitecturas modernas</a:t>
            </a:r>
            <a:endParaRPr lang="en-US" sz="800"/>
          </a:p>
        </p:txBody>
      </p:sp>
      <p:sp>
        <p:nvSpPr>
          <p:cNvPr id="564799652" name="Text 26"/>
          <p:cNvSpPr/>
          <p:nvPr/>
        </p:nvSpPr>
        <p:spPr bwMode="auto">
          <a:xfrm>
            <a:off x="4709160" y="2962656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▸ Modern competitors</a:t>
            </a:r>
            <a:endParaRPr lang="en-US" sz="1000"/>
          </a:p>
        </p:txBody>
      </p:sp>
      <p:sp>
        <p:nvSpPr>
          <p:cNvPr id="2033152621" name="Text 27"/>
          <p:cNvSpPr/>
          <p:nvPr/>
        </p:nvSpPr>
        <p:spPr bwMode="auto">
          <a:xfrm>
            <a:off x="4846320" y="3163824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8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SLURM, Kubernetes dominan el mercado</a:t>
            </a:r>
            <a:endParaRPr lang="en-US" sz="800"/>
          </a:p>
        </p:txBody>
      </p:sp>
      <p:sp>
        <p:nvSpPr>
          <p:cNvPr id="841804519" name="Text 28"/>
          <p:cNvSpPr/>
          <p:nvPr/>
        </p:nvSpPr>
        <p:spPr bwMode="auto">
          <a:xfrm>
            <a:off x="4709160" y="3346704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▸ No threads support</a:t>
            </a:r>
            <a:endParaRPr lang="en-US" sz="1000"/>
          </a:p>
        </p:txBody>
      </p:sp>
      <p:sp>
        <p:nvSpPr>
          <p:cNvPr id="38734479" name="Text 29"/>
          <p:cNvSpPr/>
          <p:nvPr/>
        </p:nvSpPr>
        <p:spPr bwMode="auto">
          <a:xfrm>
            <a:off x="4846320" y="354787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8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Aplicaciones multithread no son compatibles</a:t>
            </a:r>
            <a:endParaRPr lang="en-US" sz="800"/>
          </a:p>
        </p:txBody>
      </p:sp>
      <p:sp>
        <p:nvSpPr>
          <p:cNvPr id="167082236" name="Text 30"/>
          <p:cNvSpPr/>
          <p:nvPr/>
        </p:nvSpPr>
        <p:spPr bwMode="auto">
          <a:xfrm>
            <a:off x="457200" y="477316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0">
    <p:bg>
      <p:bgPr shadeToTitle="0">
        <a:solidFill>
          <a:srgbClr val="F6F7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6184851" name="Shape 0"/>
          <p:cNvSpPr/>
          <p:nvPr/>
        </p:nvSpPr>
        <p:spPr bwMode="auto">
          <a:xfrm>
            <a:off x="8503920" y="4663440"/>
            <a:ext cx="365760" cy="365760"/>
          </a:xfrm>
          <a:prstGeom prst="ellipse">
            <a:avLst/>
          </a:prstGeom>
          <a:solidFill>
            <a:srgbClr val="0070C5"/>
          </a:solidFill>
          <a:ln/>
        </p:spPr>
      </p:sp>
      <p:sp>
        <p:nvSpPr>
          <p:cNvPr id="1007901253" name="Text 1"/>
          <p:cNvSpPr/>
          <p:nvPr/>
        </p:nvSpPr>
        <p:spPr bwMode="auto"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</a:t>
            </a:r>
            <a:endParaRPr lang="en-US" sz="1200"/>
          </a:p>
        </p:txBody>
      </p:sp>
      <p:sp>
        <p:nvSpPr>
          <p:cNvPr id="634095189" name="Text 2"/>
          <p:cNvSpPr/>
          <p:nvPr/>
        </p:nvSpPr>
        <p:spPr bwMode="auto">
          <a:xfrm>
            <a:off x="457200" y="2743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2400" b="1">
                <a:solidFill>
                  <a:srgbClr val="2D3237"/>
                </a:solidFill>
                <a:latin typeface="Arial Black"/>
                <a:ea typeface="Arial Black"/>
                <a:cs typeface="Arial Black"/>
              </a:rPr>
              <a:t>Zephyr OS — Difusión y Presencia</a:t>
            </a:r>
            <a:endParaRPr lang="en-US" sz="2400"/>
          </a:p>
        </p:txBody>
      </p:sp>
      <p:sp>
        <p:nvSpPr>
          <p:cNvPr id="76890370" name="Text 3"/>
          <p:cNvSpPr/>
          <p:nvPr/>
        </p:nvSpPr>
        <p:spPr bwMode="auto">
          <a:xfrm>
            <a:off x="457200" y="7498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200" i="1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Adopción global creciente — ecosistema maduro</a:t>
            </a:r>
            <a:endParaRPr lang="en-US" sz="1200"/>
          </a:p>
        </p:txBody>
      </p:sp>
      <p:sp>
        <p:nvSpPr>
          <p:cNvPr id="1231453197" name="Shape 4"/>
          <p:cNvSpPr/>
          <p:nvPr/>
        </p:nvSpPr>
        <p:spPr bwMode="auto">
          <a:xfrm>
            <a:off x="457200" y="1051560"/>
            <a:ext cx="19659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98319815" name="Shape 5"/>
          <p:cNvSpPr/>
          <p:nvPr/>
        </p:nvSpPr>
        <p:spPr bwMode="auto">
          <a:xfrm>
            <a:off x="457200" y="1051560"/>
            <a:ext cx="1965960" cy="256032"/>
          </a:xfrm>
          <a:prstGeom prst="rect">
            <a:avLst/>
          </a:prstGeom>
          <a:solidFill>
            <a:srgbClr val="0070C5"/>
          </a:solidFill>
          <a:ln/>
        </p:spPr>
      </p:sp>
      <p:sp>
        <p:nvSpPr>
          <p:cNvPr id="920411951" name="Text 6"/>
          <p:cNvSpPr/>
          <p:nvPr/>
        </p:nvSpPr>
        <p:spPr bwMode="auto">
          <a:xfrm>
            <a:off x="457200" y="105156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CONTRIBUIDORES</a:t>
            </a:r>
            <a:endParaRPr lang="en-US" sz="800"/>
          </a:p>
        </p:txBody>
      </p:sp>
      <p:sp>
        <p:nvSpPr>
          <p:cNvPr id="1819181011" name="Text 7"/>
          <p:cNvSpPr/>
          <p:nvPr/>
        </p:nvSpPr>
        <p:spPr bwMode="auto">
          <a:xfrm>
            <a:off x="457200" y="135331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800" b="1">
                <a:solidFill>
                  <a:srgbClr val="0070C5"/>
                </a:solidFill>
                <a:latin typeface="Arial Black"/>
                <a:ea typeface="Arial Black"/>
                <a:cs typeface="Arial Black"/>
              </a:rPr>
              <a:t>3,000+</a:t>
            </a:r>
            <a:endParaRPr lang="en-US" sz="2800"/>
          </a:p>
        </p:txBody>
      </p:sp>
      <p:sp>
        <p:nvSpPr>
          <p:cNvPr id="1006026636" name="Text 8"/>
          <p:cNvSpPr/>
          <p:nvPr/>
        </p:nvSpPr>
        <p:spPr bwMode="auto">
          <a:xfrm>
            <a:off x="457200" y="1828800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global contributors</a:t>
            </a:r>
            <a:endParaRPr lang="en-US" sz="800"/>
          </a:p>
        </p:txBody>
      </p:sp>
      <p:sp>
        <p:nvSpPr>
          <p:cNvPr id="660860487" name="Shape 9"/>
          <p:cNvSpPr/>
          <p:nvPr/>
        </p:nvSpPr>
        <p:spPr bwMode="auto">
          <a:xfrm>
            <a:off x="2560320" y="1051560"/>
            <a:ext cx="19659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95234830" name="Shape 10"/>
          <p:cNvSpPr/>
          <p:nvPr/>
        </p:nvSpPr>
        <p:spPr bwMode="auto">
          <a:xfrm>
            <a:off x="2560320" y="1051560"/>
            <a:ext cx="1965960" cy="256032"/>
          </a:xfrm>
          <a:prstGeom prst="rect">
            <a:avLst/>
          </a:prstGeom>
          <a:solidFill>
            <a:srgbClr val="0070C5"/>
          </a:solidFill>
          <a:ln/>
        </p:spPr>
      </p:sp>
      <p:sp>
        <p:nvSpPr>
          <p:cNvPr id="290160455" name="Text 11"/>
          <p:cNvSpPr/>
          <p:nvPr/>
        </p:nvSpPr>
        <p:spPr bwMode="auto">
          <a:xfrm>
            <a:off x="2560320" y="105156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BOARDS SOPORTADAS</a:t>
            </a:r>
            <a:endParaRPr lang="en-US" sz="800"/>
          </a:p>
        </p:txBody>
      </p:sp>
      <p:sp>
        <p:nvSpPr>
          <p:cNvPr id="1772422079" name="Text 12"/>
          <p:cNvSpPr/>
          <p:nvPr/>
        </p:nvSpPr>
        <p:spPr bwMode="auto">
          <a:xfrm>
            <a:off x="2560320" y="135331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800" b="1">
                <a:solidFill>
                  <a:srgbClr val="0070C5"/>
                </a:solidFill>
                <a:latin typeface="Arial Black"/>
                <a:ea typeface="Arial Black"/>
                <a:cs typeface="Arial Black"/>
              </a:rPr>
              <a:t>1,000+</a:t>
            </a:r>
            <a:endParaRPr lang="en-US" sz="2800"/>
          </a:p>
        </p:txBody>
      </p:sp>
      <p:sp>
        <p:nvSpPr>
          <p:cNvPr id="1417819152" name="Text 13"/>
          <p:cNvSpPr/>
          <p:nvPr/>
        </p:nvSpPr>
        <p:spPr bwMode="auto">
          <a:xfrm>
            <a:off x="2560320" y="1828800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different architectures</a:t>
            </a:r>
            <a:endParaRPr lang="en-US" sz="800"/>
          </a:p>
        </p:txBody>
      </p:sp>
      <p:sp>
        <p:nvSpPr>
          <p:cNvPr id="463226830" name="Shape 14"/>
          <p:cNvSpPr/>
          <p:nvPr/>
        </p:nvSpPr>
        <p:spPr bwMode="auto">
          <a:xfrm>
            <a:off x="4663440" y="1051560"/>
            <a:ext cx="19659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56088613" name="Shape 15"/>
          <p:cNvSpPr/>
          <p:nvPr/>
        </p:nvSpPr>
        <p:spPr bwMode="auto">
          <a:xfrm>
            <a:off x="4663440" y="1051560"/>
            <a:ext cx="1965960" cy="256032"/>
          </a:xfrm>
          <a:prstGeom prst="rect">
            <a:avLst/>
          </a:prstGeom>
          <a:solidFill>
            <a:srgbClr val="0070C5"/>
          </a:solidFill>
          <a:ln/>
        </p:spPr>
      </p:sp>
      <p:sp>
        <p:nvSpPr>
          <p:cNvPr id="299782303" name="Text 16"/>
          <p:cNvSpPr/>
          <p:nvPr/>
        </p:nvSpPr>
        <p:spPr bwMode="auto">
          <a:xfrm>
            <a:off x="4663440" y="105156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LTS ACTIVA</a:t>
            </a:r>
            <a:endParaRPr lang="en-US" sz="800"/>
          </a:p>
        </p:txBody>
      </p:sp>
      <p:sp>
        <p:nvSpPr>
          <p:cNvPr id="1709137107" name="Text 17"/>
          <p:cNvSpPr/>
          <p:nvPr/>
        </p:nvSpPr>
        <p:spPr bwMode="auto">
          <a:xfrm>
            <a:off x="4663440" y="135331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800" b="1">
                <a:solidFill>
                  <a:srgbClr val="0070C5"/>
                </a:solidFill>
                <a:latin typeface="Arial Black"/>
                <a:ea typeface="Arial Black"/>
                <a:cs typeface="Arial Black"/>
              </a:rPr>
              <a:t>LTS3</a:t>
            </a:r>
            <a:endParaRPr lang="en-US" sz="2800"/>
          </a:p>
        </p:txBody>
      </p:sp>
      <p:sp>
        <p:nvSpPr>
          <p:cNvPr id="178188966" name="Text 18"/>
          <p:cNvSpPr/>
          <p:nvPr/>
        </p:nvSpPr>
        <p:spPr bwMode="auto">
          <a:xfrm>
            <a:off x="4663440" y="1828800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soporte extendido</a:t>
            </a:r>
            <a:endParaRPr lang="en-US" sz="800"/>
          </a:p>
        </p:txBody>
      </p:sp>
      <p:sp>
        <p:nvSpPr>
          <p:cNvPr id="1677097740" name="Shape 19"/>
          <p:cNvSpPr/>
          <p:nvPr/>
        </p:nvSpPr>
        <p:spPr bwMode="auto">
          <a:xfrm>
            <a:off x="6766560" y="1051560"/>
            <a:ext cx="1965960" cy="100584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63647160" name="Shape 20"/>
          <p:cNvSpPr/>
          <p:nvPr/>
        </p:nvSpPr>
        <p:spPr bwMode="auto">
          <a:xfrm>
            <a:off x="6766560" y="1051560"/>
            <a:ext cx="1965960" cy="256032"/>
          </a:xfrm>
          <a:prstGeom prst="rect">
            <a:avLst/>
          </a:prstGeom>
          <a:solidFill>
            <a:srgbClr val="0070C5"/>
          </a:solidFill>
          <a:ln/>
        </p:spPr>
      </p:sp>
      <p:sp>
        <p:nvSpPr>
          <p:cNvPr id="177733604" name="Text 21"/>
          <p:cNvSpPr/>
          <p:nvPr/>
        </p:nvSpPr>
        <p:spPr bwMode="auto">
          <a:xfrm>
            <a:off x="6766560" y="105156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CRECIMIENTO</a:t>
            </a:r>
            <a:endParaRPr lang="en-US" sz="800"/>
          </a:p>
        </p:txBody>
      </p:sp>
      <p:sp>
        <p:nvSpPr>
          <p:cNvPr id="2107884068" name="Text 22"/>
          <p:cNvSpPr/>
          <p:nvPr/>
        </p:nvSpPr>
        <p:spPr bwMode="auto">
          <a:xfrm>
            <a:off x="6766560" y="1353312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800" b="1">
                <a:solidFill>
                  <a:srgbClr val="0070C5"/>
                </a:solidFill>
                <a:latin typeface="Arial Black"/>
                <a:ea typeface="Arial Black"/>
                <a:cs typeface="Arial Black"/>
              </a:rPr>
              <a:t>69%</a:t>
            </a:r>
            <a:endParaRPr lang="en-US" sz="2800"/>
          </a:p>
        </p:txBody>
      </p:sp>
      <p:sp>
        <p:nvSpPr>
          <p:cNvPr id="1607916772" name="Text 23"/>
          <p:cNvSpPr/>
          <p:nvPr/>
        </p:nvSpPr>
        <p:spPr bwMode="auto">
          <a:xfrm>
            <a:off x="6766560" y="1828800"/>
            <a:ext cx="1965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planea aumentar uso</a:t>
            </a:r>
            <a:endParaRPr lang="en-US" sz="800"/>
          </a:p>
        </p:txBody>
      </p:sp>
      <p:sp>
        <p:nvSpPr>
          <p:cNvPr id="1899002332" name="Shape 24"/>
          <p:cNvSpPr/>
          <p:nvPr/>
        </p:nvSpPr>
        <p:spPr bwMode="auto">
          <a:xfrm>
            <a:off x="457200" y="2194560"/>
            <a:ext cx="41148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22025379" name="Shape 25"/>
          <p:cNvSpPr/>
          <p:nvPr/>
        </p:nvSpPr>
        <p:spPr bwMode="auto">
          <a:xfrm>
            <a:off x="457200" y="2194560"/>
            <a:ext cx="4114800" cy="256032"/>
          </a:xfrm>
          <a:prstGeom prst="rect">
            <a:avLst/>
          </a:prstGeom>
          <a:solidFill>
            <a:srgbClr val="66A9DC"/>
          </a:solidFill>
          <a:ln/>
        </p:spPr>
      </p:sp>
      <p:sp>
        <p:nvSpPr>
          <p:cNvPr id="298445649" name="Text 26"/>
          <p:cNvSpPr/>
          <p:nvPr/>
        </p:nvSpPr>
        <p:spPr bwMode="auto">
          <a:xfrm>
            <a:off x="457200" y="21945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2D3237"/>
                </a:solidFill>
                <a:latin typeface="Arial"/>
                <a:ea typeface="Arial"/>
                <a:cs typeface="Arial"/>
              </a:rPr>
              <a:t>ADOPCIÓN EN PRODUCTOS COMERCIALES (2026)</a:t>
            </a:r>
            <a:endParaRPr lang="en-US" sz="900"/>
          </a:p>
        </p:txBody>
      </p:sp>
      <p:sp>
        <p:nvSpPr>
          <p:cNvPr id="2086951593" name="Text 27"/>
          <p:cNvSpPr/>
          <p:nvPr/>
        </p:nvSpPr>
        <p:spPr bwMode="auto">
          <a:xfrm>
            <a:off x="594360" y="251460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Norteamérica</a:t>
            </a:r>
            <a:endParaRPr lang="en-US" sz="900"/>
          </a:p>
        </p:txBody>
      </p:sp>
      <p:sp>
        <p:nvSpPr>
          <p:cNvPr id="259591113" name="Shape 28"/>
          <p:cNvSpPr/>
          <p:nvPr/>
        </p:nvSpPr>
        <p:spPr bwMode="auto">
          <a:xfrm>
            <a:off x="1920240" y="2514600"/>
            <a:ext cx="2468880" cy="256032"/>
          </a:xfrm>
          <a:prstGeom prst="rect">
            <a:avLst/>
          </a:prstGeom>
          <a:solidFill>
            <a:srgbClr val="D1D3D5"/>
          </a:solidFill>
          <a:ln/>
        </p:spPr>
      </p:sp>
      <p:sp>
        <p:nvSpPr>
          <p:cNvPr id="1707659278" name="Shape 29"/>
          <p:cNvSpPr/>
          <p:nvPr/>
        </p:nvSpPr>
        <p:spPr bwMode="auto">
          <a:xfrm>
            <a:off x="1920240" y="2514600"/>
            <a:ext cx="1728216" cy="256032"/>
          </a:xfrm>
          <a:prstGeom prst="rect">
            <a:avLst/>
          </a:prstGeom>
          <a:solidFill>
            <a:srgbClr val="0070C5"/>
          </a:solidFill>
          <a:ln/>
        </p:spPr>
      </p:sp>
      <p:sp>
        <p:nvSpPr>
          <p:cNvPr id="203776027" name="Text 30"/>
          <p:cNvSpPr/>
          <p:nvPr/>
        </p:nvSpPr>
        <p:spPr bwMode="auto">
          <a:xfrm>
            <a:off x="1920240" y="2779776"/>
            <a:ext cx="17282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70%</a:t>
            </a:r>
            <a:endParaRPr lang="en-US" sz="1000"/>
          </a:p>
        </p:txBody>
      </p:sp>
      <p:sp>
        <p:nvSpPr>
          <p:cNvPr id="859295476" name="Text 31"/>
          <p:cNvSpPr/>
          <p:nvPr/>
        </p:nvSpPr>
        <p:spPr bwMode="auto">
          <a:xfrm>
            <a:off x="594360" y="299923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Europa</a:t>
            </a:r>
            <a:endParaRPr lang="en-US" sz="900"/>
          </a:p>
        </p:txBody>
      </p:sp>
      <p:sp>
        <p:nvSpPr>
          <p:cNvPr id="798972166" name="Shape 32"/>
          <p:cNvSpPr/>
          <p:nvPr/>
        </p:nvSpPr>
        <p:spPr bwMode="auto">
          <a:xfrm>
            <a:off x="1920240" y="2999232"/>
            <a:ext cx="2468880" cy="256032"/>
          </a:xfrm>
          <a:prstGeom prst="rect">
            <a:avLst/>
          </a:prstGeom>
          <a:solidFill>
            <a:srgbClr val="D1D3D5"/>
          </a:solidFill>
          <a:ln/>
        </p:spPr>
      </p:sp>
      <p:sp>
        <p:nvSpPr>
          <p:cNvPr id="704759320" name="Shape 33"/>
          <p:cNvSpPr/>
          <p:nvPr/>
        </p:nvSpPr>
        <p:spPr bwMode="auto">
          <a:xfrm>
            <a:off x="1920240" y="2999232"/>
            <a:ext cx="1527048" cy="256032"/>
          </a:xfrm>
          <a:prstGeom prst="rect">
            <a:avLst/>
          </a:prstGeom>
          <a:solidFill>
            <a:srgbClr val="0070C5"/>
          </a:solidFill>
          <a:ln/>
        </p:spPr>
      </p:sp>
      <p:sp>
        <p:nvSpPr>
          <p:cNvPr id="192430884" name="Text 34"/>
          <p:cNvSpPr/>
          <p:nvPr/>
        </p:nvSpPr>
        <p:spPr bwMode="auto">
          <a:xfrm>
            <a:off x="1920240" y="3264408"/>
            <a:ext cx="152704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62%</a:t>
            </a:r>
            <a:endParaRPr lang="en-US" sz="1000"/>
          </a:p>
        </p:txBody>
      </p:sp>
      <p:sp>
        <p:nvSpPr>
          <p:cNvPr id="919920029" name="Text 35"/>
          <p:cNvSpPr/>
          <p:nvPr/>
        </p:nvSpPr>
        <p:spPr bwMode="auto">
          <a:xfrm>
            <a:off x="594360" y="3429000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700" i="1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Fuente: Linux Foundation Research (2026)</a:t>
            </a:r>
            <a:endParaRPr lang="en-US" sz="700"/>
          </a:p>
        </p:txBody>
      </p:sp>
      <p:sp>
        <p:nvSpPr>
          <p:cNvPr id="54275326" name="Shape 36"/>
          <p:cNvSpPr/>
          <p:nvPr/>
        </p:nvSpPr>
        <p:spPr bwMode="auto">
          <a:xfrm>
            <a:off x="4709160" y="2194560"/>
            <a:ext cx="397764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360283" name="Shape 37"/>
          <p:cNvSpPr/>
          <p:nvPr/>
        </p:nvSpPr>
        <p:spPr bwMode="auto">
          <a:xfrm>
            <a:off x="4709160" y="2194560"/>
            <a:ext cx="3977640" cy="256032"/>
          </a:xfrm>
          <a:prstGeom prst="rect">
            <a:avLst/>
          </a:prstGeom>
          <a:solidFill>
            <a:srgbClr val="0070C5"/>
          </a:solidFill>
          <a:ln/>
        </p:spPr>
      </p:sp>
      <p:sp>
        <p:nvSpPr>
          <p:cNvPr id="1443057564" name="Text 38"/>
          <p:cNvSpPr/>
          <p:nvPr/>
        </p:nvSpPr>
        <p:spPr bwMode="auto">
          <a:xfrm>
            <a:off x="4709160" y="219456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CORPORATE BACKING</a:t>
            </a:r>
            <a:endParaRPr lang="en-US" sz="900"/>
          </a:p>
        </p:txBody>
      </p:sp>
      <p:sp>
        <p:nvSpPr>
          <p:cNvPr id="264093385" name="Shape 39"/>
          <p:cNvSpPr/>
          <p:nvPr/>
        </p:nvSpPr>
        <p:spPr bwMode="auto">
          <a:xfrm>
            <a:off x="4846320" y="2514600"/>
            <a:ext cx="781275" cy="320040"/>
          </a:xfrm>
          <a:prstGeom prst="roundRect">
            <a:avLst>
              <a:gd name="adj" fmla="val 14286"/>
            </a:avLst>
          </a:prstGeom>
          <a:solidFill>
            <a:srgbClr val="66A9DC"/>
          </a:solidFill>
          <a:ln/>
        </p:spPr>
      </p:sp>
      <p:sp>
        <p:nvSpPr>
          <p:cNvPr id="1697819085" name="Text 40"/>
          <p:cNvSpPr/>
          <p:nvPr/>
        </p:nvSpPr>
        <p:spPr bwMode="auto">
          <a:xfrm>
            <a:off x="4846320" y="2514600"/>
            <a:ext cx="7812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2D3237"/>
                </a:solidFill>
                <a:latin typeface="Arial"/>
                <a:ea typeface="Arial"/>
                <a:cs typeface="Arial"/>
              </a:rPr>
              <a:t>Intel</a:t>
            </a:r>
            <a:endParaRPr lang="en-US" sz="800"/>
          </a:p>
        </p:txBody>
      </p:sp>
      <p:sp>
        <p:nvSpPr>
          <p:cNvPr id="521344280" name="Shape 41"/>
          <p:cNvSpPr/>
          <p:nvPr/>
        </p:nvSpPr>
        <p:spPr bwMode="auto">
          <a:xfrm>
            <a:off x="5852160" y="2514600"/>
            <a:ext cx="767828" cy="320040"/>
          </a:xfrm>
          <a:prstGeom prst="roundRect">
            <a:avLst>
              <a:gd name="adj" fmla="val 14286"/>
            </a:avLst>
          </a:prstGeom>
          <a:solidFill>
            <a:srgbClr val="66A9DC"/>
          </a:solidFill>
          <a:ln/>
        </p:spPr>
      </p:sp>
      <p:sp>
        <p:nvSpPr>
          <p:cNvPr id="594694101" name="Text 42"/>
          <p:cNvSpPr/>
          <p:nvPr/>
        </p:nvSpPr>
        <p:spPr bwMode="auto">
          <a:xfrm>
            <a:off x="5852160" y="2514600"/>
            <a:ext cx="7678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2D3237"/>
                </a:solidFill>
                <a:latin typeface="Arial"/>
                <a:ea typeface="Arial"/>
                <a:cs typeface="Arial"/>
              </a:rPr>
              <a:t>Renesas</a:t>
            </a:r>
            <a:endParaRPr lang="en-US" sz="800"/>
          </a:p>
        </p:txBody>
      </p:sp>
      <p:sp>
        <p:nvSpPr>
          <p:cNvPr id="780279567" name="Shape 43"/>
          <p:cNvSpPr/>
          <p:nvPr/>
        </p:nvSpPr>
        <p:spPr bwMode="auto">
          <a:xfrm>
            <a:off x="6858000" y="2514600"/>
            <a:ext cx="781275" cy="320040"/>
          </a:xfrm>
          <a:prstGeom prst="roundRect">
            <a:avLst>
              <a:gd name="adj" fmla="val 14286"/>
            </a:avLst>
          </a:prstGeom>
          <a:solidFill>
            <a:srgbClr val="66A9DC"/>
          </a:solidFill>
          <a:ln/>
        </p:spPr>
      </p:sp>
      <p:sp>
        <p:nvSpPr>
          <p:cNvPr id="1986342897" name="Text 44"/>
          <p:cNvSpPr/>
          <p:nvPr/>
        </p:nvSpPr>
        <p:spPr bwMode="auto">
          <a:xfrm>
            <a:off x="6858000" y="2514600"/>
            <a:ext cx="78127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2D3237"/>
                </a:solidFill>
                <a:latin typeface="Arial"/>
                <a:ea typeface="Arial"/>
                <a:cs typeface="Arial"/>
              </a:rPr>
              <a:t>Wind River</a:t>
            </a:r>
            <a:endParaRPr lang="en-US" sz="800"/>
          </a:p>
        </p:txBody>
      </p:sp>
      <p:sp>
        <p:nvSpPr>
          <p:cNvPr id="994559018" name="Shape 45"/>
          <p:cNvSpPr/>
          <p:nvPr/>
        </p:nvSpPr>
        <p:spPr bwMode="auto">
          <a:xfrm>
            <a:off x="7823499" y="2514600"/>
            <a:ext cx="787998" cy="320040"/>
          </a:xfrm>
          <a:prstGeom prst="roundRect">
            <a:avLst>
              <a:gd name="adj" fmla="val 14286"/>
            </a:avLst>
          </a:prstGeom>
          <a:solidFill>
            <a:srgbClr val="66A9DC"/>
          </a:solidFill>
          <a:ln/>
        </p:spPr>
      </p:sp>
      <p:sp>
        <p:nvSpPr>
          <p:cNvPr id="699524421" name="Text 46"/>
          <p:cNvSpPr/>
          <p:nvPr/>
        </p:nvSpPr>
        <p:spPr bwMode="auto">
          <a:xfrm>
            <a:off x="7823499" y="2514600"/>
            <a:ext cx="7879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2D3237"/>
                </a:solidFill>
                <a:latin typeface="Arial"/>
                <a:ea typeface="Arial"/>
                <a:cs typeface="Arial"/>
              </a:rPr>
              <a:t>Nordic</a:t>
            </a:r>
            <a:endParaRPr lang="en-US" sz="800"/>
          </a:p>
        </p:txBody>
      </p:sp>
      <p:sp>
        <p:nvSpPr>
          <p:cNvPr id="458354285" name="Shape 47"/>
          <p:cNvSpPr/>
          <p:nvPr/>
        </p:nvSpPr>
        <p:spPr bwMode="auto">
          <a:xfrm>
            <a:off x="4846320" y="2907792"/>
            <a:ext cx="777240" cy="320040"/>
          </a:xfrm>
          <a:prstGeom prst="roundRect">
            <a:avLst>
              <a:gd name="adj" fmla="val 14286"/>
            </a:avLst>
          </a:prstGeom>
          <a:solidFill>
            <a:srgbClr val="D1D3D5"/>
          </a:solidFill>
          <a:ln/>
        </p:spPr>
      </p:sp>
      <p:sp>
        <p:nvSpPr>
          <p:cNvPr id="81455018" name="Text 48"/>
          <p:cNvSpPr/>
          <p:nvPr/>
        </p:nvSpPr>
        <p:spPr bwMode="auto">
          <a:xfrm>
            <a:off x="4846320" y="2907792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2D3237"/>
                </a:solidFill>
                <a:latin typeface="Arial"/>
                <a:ea typeface="Arial"/>
                <a:cs typeface="Arial"/>
              </a:rPr>
              <a:t>Google</a:t>
            </a:r>
            <a:endParaRPr lang="en-US" sz="800"/>
          </a:p>
        </p:txBody>
      </p:sp>
      <p:sp>
        <p:nvSpPr>
          <p:cNvPr id="1541625781" name="Shape 49"/>
          <p:cNvSpPr/>
          <p:nvPr/>
        </p:nvSpPr>
        <p:spPr bwMode="auto">
          <a:xfrm>
            <a:off x="5852160" y="2907792"/>
            <a:ext cx="777240" cy="320040"/>
          </a:xfrm>
          <a:prstGeom prst="roundRect">
            <a:avLst>
              <a:gd name="adj" fmla="val 14286"/>
            </a:avLst>
          </a:prstGeom>
          <a:solidFill>
            <a:srgbClr val="D1D3D5"/>
          </a:solidFill>
          <a:ln/>
        </p:spPr>
      </p:sp>
      <p:sp>
        <p:nvSpPr>
          <p:cNvPr id="1228137163" name="Text 50"/>
          <p:cNvSpPr/>
          <p:nvPr/>
        </p:nvSpPr>
        <p:spPr bwMode="auto">
          <a:xfrm>
            <a:off x="5852160" y="2907792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2D3237"/>
                </a:solidFill>
                <a:latin typeface="Arial"/>
                <a:ea typeface="Arial"/>
                <a:cs typeface="Arial"/>
              </a:rPr>
              <a:t>Meta</a:t>
            </a:r>
            <a:endParaRPr lang="en-US" sz="800"/>
          </a:p>
        </p:txBody>
      </p:sp>
      <p:sp>
        <p:nvSpPr>
          <p:cNvPr id="619070200" name="Shape 51"/>
          <p:cNvSpPr/>
          <p:nvPr/>
        </p:nvSpPr>
        <p:spPr bwMode="auto">
          <a:xfrm>
            <a:off x="6858000" y="2907792"/>
            <a:ext cx="777240" cy="320040"/>
          </a:xfrm>
          <a:prstGeom prst="roundRect">
            <a:avLst>
              <a:gd name="adj" fmla="val 14286"/>
            </a:avLst>
          </a:prstGeom>
          <a:solidFill>
            <a:srgbClr val="D1D3D5"/>
          </a:solidFill>
          <a:ln/>
        </p:spPr>
      </p:sp>
      <p:sp>
        <p:nvSpPr>
          <p:cNvPr id="199029715" name="Text 52"/>
          <p:cNvSpPr/>
          <p:nvPr/>
        </p:nvSpPr>
        <p:spPr bwMode="auto">
          <a:xfrm>
            <a:off x="6858000" y="2907792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2D3237"/>
                </a:solidFill>
                <a:latin typeface="Arial"/>
                <a:ea typeface="Arial"/>
                <a:cs typeface="Arial"/>
              </a:rPr>
              <a:t>NXP</a:t>
            </a:r>
            <a:endParaRPr lang="en-US" sz="800"/>
          </a:p>
        </p:txBody>
      </p:sp>
      <p:sp>
        <p:nvSpPr>
          <p:cNvPr id="1333859633" name="Shape 53"/>
          <p:cNvSpPr/>
          <p:nvPr/>
        </p:nvSpPr>
        <p:spPr bwMode="auto">
          <a:xfrm>
            <a:off x="7845014" y="2907792"/>
            <a:ext cx="777240" cy="320040"/>
          </a:xfrm>
          <a:prstGeom prst="roundRect">
            <a:avLst>
              <a:gd name="adj" fmla="val 14286"/>
            </a:avLst>
          </a:prstGeom>
          <a:solidFill>
            <a:srgbClr val="D1D3D5"/>
          </a:solidFill>
          <a:ln/>
        </p:spPr>
      </p:sp>
      <p:sp>
        <p:nvSpPr>
          <p:cNvPr id="1901173386" name="Text 54"/>
          <p:cNvSpPr/>
          <p:nvPr/>
        </p:nvSpPr>
        <p:spPr bwMode="auto">
          <a:xfrm>
            <a:off x="7845014" y="2907792"/>
            <a:ext cx="777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2D3237"/>
                </a:solidFill>
                <a:latin typeface="Arial"/>
                <a:ea typeface="Arial"/>
                <a:cs typeface="Arial"/>
              </a:rPr>
              <a:t>Synopsys</a:t>
            </a:r>
            <a:endParaRPr lang="en-US" sz="800"/>
          </a:p>
        </p:txBody>
      </p:sp>
      <p:sp>
        <p:nvSpPr>
          <p:cNvPr id="1268251396" name="Text 55"/>
          <p:cNvSpPr/>
          <p:nvPr/>
        </p:nvSpPr>
        <p:spPr bwMode="auto">
          <a:xfrm>
            <a:off x="4800600" y="3310127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Linux Foundation host — modelo de membresía platinum/gold</a:t>
            </a:r>
            <a:endParaRPr lang="en-US" sz="800"/>
          </a:p>
        </p:txBody>
      </p:sp>
      <p:sp>
        <p:nvSpPr>
          <p:cNvPr id="1978864037" name="Shape 56"/>
          <p:cNvSpPr/>
          <p:nvPr/>
        </p:nvSpPr>
        <p:spPr bwMode="auto">
          <a:xfrm>
            <a:off x="457200" y="370332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55325331" name="Shape 57"/>
          <p:cNvSpPr/>
          <p:nvPr/>
        </p:nvSpPr>
        <p:spPr bwMode="auto">
          <a:xfrm>
            <a:off x="457200" y="3703320"/>
            <a:ext cx="8229600" cy="256032"/>
          </a:xfrm>
          <a:prstGeom prst="rect">
            <a:avLst/>
          </a:prstGeom>
          <a:solidFill>
            <a:srgbClr val="0070C5"/>
          </a:solidFill>
          <a:ln/>
        </p:spPr>
      </p:sp>
      <p:sp>
        <p:nvSpPr>
          <p:cNvPr id="69147333" name="Text 58"/>
          <p:cNvSpPr/>
          <p:nvPr/>
        </p:nvSpPr>
        <p:spPr bwMode="auto">
          <a:xfrm>
            <a:off x="457200" y="3703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PRESENCIA EN LA INDUSTRIA</a:t>
            </a:r>
            <a:endParaRPr lang="en-US" sz="900"/>
          </a:p>
        </p:txBody>
      </p:sp>
      <p:sp>
        <p:nvSpPr>
          <p:cNvPr id="871620718" name="Shape 59"/>
          <p:cNvSpPr/>
          <p:nvPr/>
        </p:nvSpPr>
        <p:spPr bwMode="auto">
          <a:xfrm>
            <a:off x="640080" y="4041648"/>
            <a:ext cx="274320" cy="274320"/>
          </a:xfrm>
          <a:prstGeom prst="ellipse">
            <a:avLst/>
          </a:prstGeom>
          <a:solidFill>
            <a:srgbClr val="66A9DC"/>
          </a:solidFill>
          <a:ln/>
        </p:spPr>
      </p:sp>
      <p:sp>
        <p:nvSpPr>
          <p:cNvPr id="1610095761" name="Text 60"/>
          <p:cNvSpPr/>
          <p:nvPr/>
        </p:nvSpPr>
        <p:spPr bwMode="auto">
          <a:xfrm>
            <a:off x="640080" y="40416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2D3237"/>
                </a:solidFill>
                <a:latin typeface="Arial"/>
                <a:ea typeface="Arial"/>
                <a:cs typeface="Arial"/>
              </a:rPr>
              <a:t>1</a:t>
            </a:r>
            <a:endParaRPr lang="en-US" sz="1000"/>
          </a:p>
        </p:txBody>
      </p:sp>
      <p:sp>
        <p:nvSpPr>
          <p:cNvPr id="474932240" name="Text 61"/>
          <p:cNvSpPr/>
          <p:nvPr/>
        </p:nvSpPr>
        <p:spPr bwMode="auto">
          <a:xfrm>
            <a:off x="1005840" y="40233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2D3237"/>
                </a:solidFill>
                <a:latin typeface="Arial"/>
                <a:ea typeface="Arial"/>
                <a:cs typeface="Arial"/>
              </a:rPr>
              <a:t>Open Source Summit</a:t>
            </a:r>
            <a:endParaRPr lang="en-US" sz="900"/>
          </a:p>
        </p:txBody>
      </p:sp>
      <p:sp>
        <p:nvSpPr>
          <p:cNvPr id="1213188875" name="Text 62"/>
          <p:cNvSpPr/>
          <p:nvPr/>
        </p:nvSpPr>
        <p:spPr bwMode="auto">
          <a:xfrm>
            <a:off x="1005840" y="4187952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Eventos globales</a:t>
            </a:r>
            <a:endParaRPr lang="en-US" sz="800"/>
          </a:p>
        </p:txBody>
      </p:sp>
      <p:sp>
        <p:nvSpPr>
          <p:cNvPr id="1876510315" name="Shape 63"/>
          <p:cNvSpPr/>
          <p:nvPr/>
        </p:nvSpPr>
        <p:spPr bwMode="auto">
          <a:xfrm>
            <a:off x="2743200" y="4041648"/>
            <a:ext cx="274320" cy="274320"/>
          </a:xfrm>
          <a:prstGeom prst="ellipse">
            <a:avLst/>
          </a:prstGeom>
          <a:solidFill>
            <a:srgbClr val="66A9DC"/>
          </a:solidFill>
          <a:ln/>
        </p:spPr>
      </p:sp>
      <p:sp>
        <p:nvSpPr>
          <p:cNvPr id="1405382434" name="Text 64"/>
          <p:cNvSpPr/>
          <p:nvPr/>
        </p:nvSpPr>
        <p:spPr bwMode="auto">
          <a:xfrm>
            <a:off x="2743200" y="40416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2D3237"/>
                </a:solidFill>
                <a:latin typeface="Arial"/>
                <a:ea typeface="Arial"/>
                <a:cs typeface="Arial"/>
              </a:rPr>
              <a:t>2</a:t>
            </a:r>
            <a:endParaRPr lang="en-US" sz="1000"/>
          </a:p>
        </p:txBody>
      </p:sp>
      <p:sp>
        <p:nvSpPr>
          <p:cNvPr id="997509849" name="Text 65"/>
          <p:cNvSpPr/>
          <p:nvPr/>
        </p:nvSpPr>
        <p:spPr bwMode="auto">
          <a:xfrm>
            <a:off x="3108960" y="40233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2D3237"/>
                </a:solidFill>
                <a:latin typeface="Arial"/>
                <a:ea typeface="Arial"/>
                <a:cs typeface="Arial"/>
              </a:rPr>
              <a:t>Embedded World</a:t>
            </a:r>
            <a:endParaRPr lang="en-US" sz="900"/>
          </a:p>
        </p:txBody>
      </p:sp>
      <p:sp>
        <p:nvSpPr>
          <p:cNvPr id="2068965585" name="Text 66"/>
          <p:cNvSpPr/>
          <p:nvPr/>
        </p:nvSpPr>
        <p:spPr bwMode="auto">
          <a:xfrm>
            <a:off x="3108960" y="4187952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Conferencia embebidos</a:t>
            </a:r>
            <a:endParaRPr lang="en-US" sz="800"/>
          </a:p>
        </p:txBody>
      </p:sp>
      <p:sp>
        <p:nvSpPr>
          <p:cNvPr id="807716250" name="Shape 67"/>
          <p:cNvSpPr/>
          <p:nvPr/>
        </p:nvSpPr>
        <p:spPr bwMode="auto">
          <a:xfrm>
            <a:off x="4846320" y="4041648"/>
            <a:ext cx="274320" cy="274320"/>
          </a:xfrm>
          <a:prstGeom prst="ellipse">
            <a:avLst/>
          </a:prstGeom>
          <a:solidFill>
            <a:srgbClr val="66A9DC"/>
          </a:solidFill>
          <a:ln/>
        </p:spPr>
      </p:sp>
      <p:sp>
        <p:nvSpPr>
          <p:cNvPr id="1654870679" name="Text 68"/>
          <p:cNvSpPr/>
          <p:nvPr/>
        </p:nvSpPr>
        <p:spPr bwMode="auto">
          <a:xfrm>
            <a:off x="4846320" y="40416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2D3237"/>
                </a:solidFill>
                <a:latin typeface="Arial"/>
                <a:ea typeface="Arial"/>
                <a:cs typeface="Arial"/>
              </a:rPr>
              <a:t>3</a:t>
            </a:r>
            <a:endParaRPr lang="en-US" sz="1000"/>
          </a:p>
        </p:txBody>
      </p:sp>
      <p:sp>
        <p:nvSpPr>
          <p:cNvPr id="1708258070" name="Text 69"/>
          <p:cNvSpPr/>
          <p:nvPr/>
        </p:nvSpPr>
        <p:spPr bwMode="auto">
          <a:xfrm>
            <a:off x="5212080" y="40233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2D3237"/>
                </a:solidFill>
                <a:latin typeface="Arial"/>
                <a:ea typeface="Arial"/>
                <a:cs typeface="Arial"/>
              </a:rPr>
              <a:t>Zephyr Tech Day</a:t>
            </a:r>
            <a:endParaRPr lang="en-US" sz="900"/>
          </a:p>
        </p:txBody>
      </p:sp>
      <p:sp>
        <p:nvSpPr>
          <p:cNvPr id="1071486798" name="Text 70"/>
          <p:cNvSpPr/>
          <p:nvPr/>
        </p:nvSpPr>
        <p:spPr bwMode="auto">
          <a:xfrm>
            <a:off x="5212080" y="4187952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Eventos técnicos</a:t>
            </a:r>
            <a:endParaRPr lang="en-US" sz="800"/>
          </a:p>
        </p:txBody>
      </p:sp>
      <p:sp>
        <p:nvSpPr>
          <p:cNvPr id="11580055" name="Shape 71"/>
          <p:cNvSpPr/>
          <p:nvPr/>
        </p:nvSpPr>
        <p:spPr bwMode="auto">
          <a:xfrm>
            <a:off x="6949440" y="4041648"/>
            <a:ext cx="274320" cy="274320"/>
          </a:xfrm>
          <a:prstGeom prst="ellipse">
            <a:avLst/>
          </a:prstGeom>
          <a:solidFill>
            <a:srgbClr val="66A9DC"/>
          </a:solidFill>
          <a:ln/>
        </p:spPr>
      </p:sp>
      <p:sp>
        <p:nvSpPr>
          <p:cNvPr id="1389108331" name="Text 72"/>
          <p:cNvSpPr/>
          <p:nvPr/>
        </p:nvSpPr>
        <p:spPr bwMode="auto">
          <a:xfrm>
            <a:off x="6949440" y="40416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2D3237"/>
                </a:solidFill>
                <a:latin typeface="Arial"/>
                <a:ea typeface="Arial"/>
                <a:cs typeface="Arial"/>
              </a:rPr>
              <a:t>4</a:t>
            </a:r>
            <a:endParaRPr lang="en-US" sz="1000"/>
          </a:p>
        </p:txBody>
      </p:sp>
      <p:sp>
        <p:nvSpPr>
          <p:cNvPr id="234697768" name="Text 73"/>
          <p:cNvSpPr/>
          <p:nvPr/>
        </p:nvSpPr>
        <p:spPr bwMode="auto">
          <a:xfrm>
            <a:off x="7315200" y="4023360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900" b="1">
                <a:solidFill>
                  <a:srgbClr val="2D3237"/>
                </a:solidFill>
                <a:latin typeface="Arial"/>
                <a:ea typeface="Arial"/>
                <a:cs typeface="Arial"/>
              </a:rPr>
              <a:t>Productos reales</a:t>
            </a:r>
            <a:endParaRPr lang="en-US" sz="900"/>
          </a:p>
        </p:txBody>
      </p:sp>
      <p:sp>
        <p:nvSpPr>
          <p:cNvPr id="1912141693" name="Text 74"/>
          <p:cNvSpPr/>
          <p:nvPr/>
        </p:nvSpPr>
        <p:spPr bwMode="auto">
          <a:xfrm>
            <a:off x="7315200" y="4187952"/>
            <a:ext cx="1280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Vestas, Google, Oticon...</a:t>
            </a:r>
            <a:endParaRPr lang="en-US" sz="800"/>
          </a:p>
        </p:txBody>
      </p:sp>
      <p:sp>
        <p:nvSpPr>
          <p:cNvPr id="1264665374" name="Text 75"/>
          <p:cNvSpPr/>
          <p:nvPr/>
        </p:nvSpPr>
        <p:spPr bwMode="auto">
          <a:xfrm>
            <a:off x="457200" y="477316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1">
    <p:bg>
      <p:bgPr shadeToTitle="0">
        <a:solidFill>
          <a:srgbClr val="F6F7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3239115" name="Shape 0"/>
          <p:cNvSpPr/>
          <p:nvPr/>
        </p:nvSpPr>
        <p:spPr bwMode="auto">
          <a:xfrm>
            <a:off x="8503920" y="4663440"/>
            <a:ext cx="365760" cy="365760"/>
          </a:xfrm>
          <a:prstGeom prst="ellipse">
            <a:avLst/>
          </a:prstGeom>
          <a:solidFill>
            <a:srgbClr val="4C5155"/>
          </a:solidFill>
          <a:ln/>
        </p:spPr>
      </p:sp>
      <p:sp>
        <p:nvSpPr>
          <p:cNvPr id="1781924733" name="Text 1"/>
          <p:cNvSpPr/>
          <p:nvPr/>
        </p:nvSpPr>
        <p:spPr bwMode="auto"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21</a:t>
            </a:r>
            <a:endParaRPr lang="en-US" sz="1200"/>
          </a:p>
        </p:txBody>
      </p:sp>
      <p:sp>
        <p:nvSpPr>
          <p:cNvPr id="548487434" name="Text 2"/>
          <p:cNvSpPr/>
          <p:nvPr/>
        </p:nvSpPr>
        <p:spPr bwMode="auto">
          <a:xfrm>
            <a:off x="457200" y="2743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2400" b="1">
                <a:solidFill>
                  <a:srgbClr val="2D3237"/>
                </a:solidFill>
                <a:latin typeface="Arial Black"/>
                <a:ea typeface="Arial Black"/>
                <a:cs typeface="Arial Black"/>
              </a:rPr>
              <a:t>MOSIX — Difusión y Presencia</a:t>
            </a:r>
            <a:endParaRPr lang="en-US" sz="2400"/>
          </a:p>
        </p:txBody>
      </p:sp>
      <p:sp>
        <p:nvSpPr>
          <p:cNvPr id="1337580338" name="Text 3"/>
          <p:cNvSpPr/>
          <p:nvPr/>
        </p:nvSpPr>
        <p:spPr bwMode="auto">
          <a:xfrm>
            <a:off x="457200" y="7498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200" i="1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Trayectoria histórica y declive — relevancia académica, no productiva</a:t>
            </a:r>
            <a:endParaRPr lang="en-US" sz="1200"/>
          </a:p>
        </p:txBody>
      </p:sp>
      <p:sp>
        <p:nvSpPr>
          <p:cNvPr id="845832037" name="Shape 4"/>
          <p:cNvSpPr/>
          <p:nvPr/>
        </p:nvSpPr>
        <p:spPr bwMode="auto">
          <a:xfrm>
            <a:off x="457200" y="1051560"/>
            <a:ext cx="411480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28692623" name="Shape 5"/>
          <p:cNvSpPr/>
          <p:nvPr/>
        </p:nvSpPr>
        <p:spPr bwMode="auto">
          <a:xfrm>
            <a:off x="457200" y="1051560"/>
            <a:ext cx="4114800" cy="256032"/>
          </a:xfrm>
          <a:prstGeom prst="rect">
            <a:avLst/>
          </a:prstGeom>
          <a:solidFill>
            <a:srgbClr val="4C5155"/>
          </a:solidFill>
          <a:ln/>
        </p:spPr>
      </p:sp>
      <p:sp>
        <p:nvSpPr>
          <p:cNvPr id="1285465123" name="Text 6"/>
          <p:cNvSpPr/>
          <p:nvPr/>
        </p:nvSpPr>
        <p:spPr bwMode="auto">
          <a:xfrm>
            <a:off x="457200" y="10515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LÍNEA DE TIEMPO HISTÓRICA</a:t>
            </a:r>
            <a:endParaRPr lang="en-US" sz="900"/>
          </a:p>
        </p:txBody>
      </p:sp>
      <p:sp>
        <p:nvSpPr>
          <p:cNvPr id="1868018432" name="Shape 7"/>
          <p:cNvSpPr/>
          <p:nvPr/>
        </p:nvSpPr>
        <p:spPr bwMode="auto">
          <a:xfrm>
            <a:off x="594360" y="1389888"/>
            <a:ext cx="777240" cy="256032"/>
          </a:xfrm>
          <a:prstGeom prst="roundRect">
            <a:avLst>
              <a:gd name="adj" fmla="val 17857"/>
            </a:avLst>
          </a:prstGeom>
          <a:solidFill>
            <a:srgbClr val="4C5155"/>
          </a:solidFill>
          <a:ln/>
        </p:spPr>
      </p:sp>
      <p:sp>
        <p:nvSpPr>
          <p:cNvPr id="1210411729" name="Text 8"/>
          <p:cNvSpPr/>
          <p:nvPr/>
        </p:nvSpPr>
        <p:spPr bwMode="auto">
          <a:xfrm>
            <a:off x="594360" y="1389888"/>
            <a:ext cx="777240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  <a:defRPr/>
            </a:pPr>
            <a:r>
              <a:rPr lang="en-US" sz="7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1990s</a:t>
            </a:r>
            <a:endParaRPr lang="en-US" sz="7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680323270" name="Text 9"/>
          <p:cNvSpPr/>
          <p:nvPr/>
        </p:nvSpPr>
        <p:spPr bwMode="auto">
          <a:xfrm>
            <a:off x="1463040" y="1389888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8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Origen en Hebrew University — proyecto académico del Prof. Amnon Barak</a:t>
            </a:r>
            <a:endParaRPr lang="en-US" sz="800"/>
          </a:p>
        </p:txBody>
      </p:sp>
      <p:sp>
        <p:nvSpPr>
          <p:cNvPr id="468229646" name="Shape 10"/>
          <p:cNvSpPr/>
          <p:nvPr/>
        </p:nvSpPr>
        <p:spPr bwMode="auto">
          <a:xfrm>
            <a:off x="594360" y="1755648"/>
            <a:ext cx="777240" cy="256032"/>
          </a:xfrm>
          <a:prstGeom prst="roundRect">
            <a:avLst>
              <a:gd name="adj" fmla="val 17857"/>
            </a:avLst>
          </a:prstGeom>
          <a:solidFill>
            <a:srgbClr val="8C9196"/>
          </a:solidFill>
          <a:ln/>
        </p:spPr>
      </p:sp>
      <p:sp>
        <p:nvSpPr>
          <p:cNvPr id="328807762" name="Text 11"/>
          <p:cNvSpPr/>
          <p:nvPr/>
        </p:nvSpPr>
        <p:spPr bwMode="auto">
          <a:xfrm>
            <a:off x="594360" y="175564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1999-2010</a:t>
            </a:r>
            <a:endParaRPr lang="en-US" sz="700"/>
          </a:p>
        </p:txBody>
      </p:sp>
      <p:sp>
        <p:nvSpPr>
          <p:cNvPr id="2020380114" name="Text 12"/>
          <p:cNvSpPr/>
          <p:nvPr/>
        </p:nvSpPr>
        <p:spPr bwMode="auto">
          <a:xfrm>
            <a:off x="1463040" y="1755648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8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Pico de adopción académica — clusters en universidades de USA, Europa, Israel</a:t>
            </a:r>
            <a:endParaRPr lang="en-US" sz="800"/>
          </a:p>
        </p:txBody>
      </p:sp>
      <p:sp>
        <p:nvSpPr>
          <p:cNvPr id="1438621126" name="Shape 13"/>
          <p:cNvSpPr/>
          <p:nvPr/>
        </p:nvSpPr>
        <p:spPr bwMode="auto">
          <a:xfrm>
            <a:off x="594360" y="2121408"/>
            <a:ext cx="777240" cy="256032"/>
          </a:xfrm>
          <a:prstGeom prst="roundRect">
            <a:avLst>
              <a:gd name="adj" fmla="val 17857"/>
            </a:avLst>
          </a:prstGeom>
          <a:solidFill>
            <a:srgbClr val="8C9196"/>
          </a:solidFill>
          <a:ln/>
        </p:spPr>
      </p:sp>
      <p:sp>
        <p:nvSpPr>
          <p:cNvPr id="1871740496" name="Text 14"/>
          <p:cNvSpPr/>
          <p:nvPr/>
        </p:nvSpPr>
        <p:spPr bwMode="auto">
          <a:xfrm>
            <a:off x="594360" y="212140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2002</a:t>
            </a:r>
            <a:endParaRPr lang="en-US" sz="700"/>
          </a:p>
        </p:txBody>
      </p:sp>
      <p:sp>
        <p:nvSpPr>
          <p:cNvPr id="1445554590" name="Text 15"/>
          <p:cNvSpPr/>
          <p:nvPr/>
        </p:nvSpPr>
        <p:spPr bwMode="auto">
          <a:xfrm>
            <a:off x="1463040" y="2121408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8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Fork openMosix — extiende alcance pero genera bifurcación</a:t>
            </a:r>
            <a:endParaRPr lang="en-US" sz="800"/>
          </a:p>
        </p:txBody>
      </p:sp>
      <p:sp>
        <p:nvSpPr>
          <p:cNvPr id="67151301" name="Shape 16"/>
          <p:cNvSpPr/>
          <p:nvPr/>
        </p:nvSpPr>
        <p:spPr bwMode="auto">
          <a:xfrm>
            <a:off x="594360" y="2487168"/>
            <a:ext cx="777240" cy="256032"/>
          </a:xfrm>
          <a:prstGeom prst="roundRect">
            <a:avLst>
              <a:gd name="adj" fmla="val 17857"/>
            </a:avLst>
          </a:prstGeom>
          <a:solidFill>
            <a:srgbClr val="D1D3D5"/>
          </a:solidFill>
          <a:ln/>
        </p:spPr>
      </p:sp>
      <p:sp>
        <p:nvSpPr>
          <p:cNvPr id="1223299514" name="Text 17"/>
          <p:cNvSpPr/>
          <p:nvPr/>
        </p:nvSpPr>
        <p:spPr bwMode="auto">
          <a:xfrm>
            <a:off x="594360" y="248716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700" b="1">
                <a:solidFill>
                  <a:srgbClr val="2D3237"/>
                </a:solidFill>
                <a:latin typeface="Arial"/>
                <a:ea typeface="Arial"/>
                <a:cs typeface="Arial"/>
              </a:rPr>
              <a:t>2008</a:t>
            </a:r>
            <a:endParaRPr lang="en-US" sz="700"/>
          </a:p>
        </p:txBody>
      </p:sp>
      <p:sp>
        <p:nvSpPr>
          <p:cNvPr id="1025193169" name="Text 18"/>
          <p:cNvSpPr/>
          <p:nvPr/>
        </p:nvSpPr>
        <p:spPr bwMode="auto">
          <a:xfrm>
            <a:off x="1463040" y="2487168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8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openMosix discontinuado — fin del fork open source más activo</a:t>
            </a:r>
            <a:endParaRPr lang="en-US" sz="800"/>
          </a:p>
        </p:txBody>
      </p:sp>
      <p:sp>
        <p:nvSpPr>
          <p:cNvPr id="442085892" name="Shape 19"/>
          <p:cNvSpPr/>
          <p:nvPr/>
        </p:nvSpPr>
        <p:spPr bwMode="auto">
          <a:xfrm>
            <a:off x="594360" y="2852928"/>
            <a:ext cx="777240" cy="256032"/>
          </a:xfrm>
          <a:prstGeom prst="roundRect">
            <a:avLst>
              <a:gd name="adj" fmla="val 17857"/>
            </a:avLst>
          </a:prstGeom>
          <a:solidFill>
            <a:srgbClr val="D1D3D5"/>
          </a:solidFill>
          <a:ln/>
        </p:spPr>
      </p:sp>
      <p:sp>
        <p:nvSpPr>
          <p:cNvPr id="1160411648" name="Text 20"/>
          <p:cNvSpPr/>
          <p:nvPr/>
        </p:nvSpPr>
        <p:spPr bwMode="auto">
          <a:xfrm>
            <a:off x="594360" y="285292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700" b="1">
                <a:solidFill>
                  <a:srgbClr val="2D3237"/>
                </a:solidFill>
                <a:latin typeface="Arial"/>
                <a:ea typeface="Arial"/>
                <a:cs typeface="Arial"/>
              </a:rPr>
              <a:t>2012-2017</a:t>
            </a:r>
            <a:endParaRPr lang="en-US" sz="700"/>
          </a:p>
        </p:txBody>
      </p:sp>
      <p:sp>
        <p:nvSpPr>
          <p:cNvPr id="541921140" name="Text 21"/>
          <p:cNvSpPr/>
          <p:nvPr/>
        </p:nvSpPr>
        <p:spPr bwMode="auto">
          <a:xfrm>
            <a:off x="1463040" y="2852928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8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Declive continuo — sin adopción en producción moderna</a:t>
            </a:r>
            <a:endParaRPr lang="en-US" sz="800"/>
          </a:p>
        </p:txBody>
      </p:sp>
      <p:sp>
        <p:nvSpPr>
          <p:cNvPr id="767615691" name="Shape 22"/>
          <p:cNvSpPr/>
          <p:nvPr/>
        </p:nvSpPr>
        <p:spPr bwMode="auto">
          <a:xfrm>
            <a:off x="594360" y="3218688"/>
            <a:ext cx="777240" cy="256032"/>
          </a:xfrm>
          <a:prstGeom prst="roundRect">
            <a:avLst>
              <a:gd name="adj" fmla="val 17857"/>
            </a:avLst>
          </a:prstGeom>
          <a:solidFill>
            <a:srgbClr val="4C5155"/>
          </a:solidFill>
          <a:ln/>
        </p:spPr>
      </p:sp>
      <p:sp>
        <p:nvSpPr>
          <p:cNvPr id="167428592" name="Text 23"/>
          <p:cNvSpPr/>
          <p:nvPr/>
        </p:nvSpPr>
        <p:spPr bwMode="auto">
          <a:xfrm>
            <a:off x="594360" y="3218688"/>
            <a:ext cx="777240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  <a:defRPr/>
            </a:pPr>
            <a:r>
              <a:rPr lang="en-US" sz="700" b="1">
                <a:solidFill>
                  <a:schemeClr val="bg1"/>
                </a:solidFill>
                <a:latin typeface="Arial"/>
                <a:ea typeface="Arial"/>
                <a:cs typeface="Arial"/>
              </a:rPr>
              <a:t>Oct 2017</a:t>
            </a:r>
            <a:endParaRPr lang="en-US" sz="7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2052464075" name="Text 24"/>
          <p:cNvSpPr/>
          <p:nvPr/>
        </p:nvSpPr>
        <p:spPr bwMode="auto">
          <a:xfrm>
            <a:off x="1463040" y="3218688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8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Último release (MOSIX-4.4.4) — proyecto inactivo desde entonces</a:t>
            </a:r>
            <a:endParaRPr lang="en-US" sz="800"/>
          </a:p>
        </p:txBody>
      </p:sp>
      <p:sp>
        <p:nvSpPr>
          <p:cNvPr id="354189596" name="Shape 25"/>
          <p:cNvSpPr/>
          <p:nvPr/>
        </p:nvSpPr>
        <p:spPr bwMode="auto">
          <a:xfrm>
            <a:off x="4709160" y="1051560"/>
            <a:ext cx="397764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6231557" name="Shape 26"/>
          <p:cNvSpPr/>
          <p:nvPr/>
        </p:nvSpPr>
        <p:spPr bwMode="auto">
          <a:xfrm>
            <a:off x="4709160" y="1051560"/>
            <a:ext cx="3977640" cy="256032"/>
          </a:xfrm>
          <a:prstGeom prst="rect">
            <a:avLst/>
          </a:prstGeom>
          <a:solidFill>
            <a:srgbClr val="4C5155"/>
          </a:solidFill>
          <a:ln/>
        </p:spPr>
      </p:sp>
      <p:sp>
        <p:nvSpPr>
          <p:cNvPr id="2107368706" name="Text 27"/>
          <p:cNvSpPr/>
          <p:nvPr/>
        </p:nvSpPr>
        <p:spPr bwMode="auto">
          <a:xfrm>
            <a:off x="4709160" y="105156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RAZONES DEL DECLIVE</a:t>
            </a:r>
            <a:endParaRPr lang="en-US" sz="900"/>
          </a:p>
        </p:txBody>
      </p:sp>
      <p:sp>
        <p:nvSpPr>
          <p:cNvPr id="444653543" name="Text 28"/>
          <p:cNvSpPr/>
          <p:nvPr/>
        </p:nvSpPr>
        <p:spPr bwMode="auto">
          <a:xfrm>
            <a:off x="4800600" y="1353312"/>
            <a:ext cx="379476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buSzPct val="100000"/>
              <a:buChar char="•"/>
              <a:defRPr/>
            </a:pPr>
            <a:r>
              <a:rPr lang="en-US" sz="8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Modelo propietario vs GPL — sin comunidad open source activa</a:t>
            </a:r>
            <a:endParaRPr lang="en-US" sz="800"/>
          </a:p>
          <a:p>
            <a:pPr marL="342900" indent="-342900" algn="l">
              <a:buSzPct val="100000"/>
              <a:buChar char="•"/>
              <a:defRPr/>
            </a:pPr>
            <a:r>
              <a:rPr lang="en-US" sz="8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Migración a nivel kernel — incompatible con paradigma de contenedores</a:t>
            </a:r>
            <a:endParaRPr lang="en-US" sz="800"/>
          </a:p>
          <a:p>
            <a:pPr marL="342900" indent="-342900" algn="l">
              <a:buSzPct val="100000"/>
              <a:buChar char="•"/>
              <a:defRPr/>
            </a:pPr>
            <a:r>
              <a:rPr lang="en-US" sz="8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Sin soporte para threads ni memoria compartida distribuida</a:t>
            </a:r>
            <a:endParaRPr lang="en-US" sz="800"/>
          </a:p>
          <a:p>
            <a:pPr marL="342900" indent="-342900" algn="l">
              <a:buSzPct val="100000"/>
              <a:buChar char="•"/>
              <a:defRPr/>
            </a:pPr>
            <a:r>
              <a:rPr lang="en-US" sz="8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Competidores: SLURM (60% Top500), Kubernetes dominaron</a:t>
            </a:r>
            <a:endParaRPr lang="en-US" sz="800"/>
          </a:p>
        </p:txBody>
      </p:sp>
      <p:sp>
        <p:nvSpPr>
          <p:cNvPr id="1510253763" name="Shape 29"/>
          <p:cNvSpPr/>
          <p:nvPr/>
        </p:nvSpPr>
        <p:spPr bwMode="auto">
          <a:xfrm>
            <a:off x="4709160" y="2560320"/>
            <a:ext cx="3977640" cy="502920"/>
          </a:xfrm>
          <a:prstGeom prst="rect">
            <a:avLst/>
          </a:prstGeom>
          <a:solidFill>
            <a:srgbClr val="4C5155"/>
          </a:solidFill>
          <a:ln/>
        </p:spPr>
      </p:sp>
      <p:sp>
        <p:nvSpPr>
          <p:cNvPr id="252784479" name="Text 30"/>
          <p:cNvSpPr/>
          <p:nvPr/>
        </p:nvSpPr>
        <p:spPr bwMode="auto">
          <a:xfrm>
            <a:off x="4709160" y="256032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⚠ ESTADO: INACTIVO DESDE OCT 2017</a:t>
            </a:r>
            <a:endParaRPr lang="en-US" sz="900"/>
          </a:p>
        </p:txBody>
      </p:sp>
      <p:sp>
        <p:nvSpPr>
          <p:cNvPr id="1341407460" name="Text 31"/>
          <p:cNvSpPr/>
          <p:nvPr/>
        </p:nvSpPr>
        <p:spPr bwMode="auto">
          <a:xfrm>
            <a:off x="4800600" y="2788920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Sin releases, sin soporte comercial, cero adopción moderna en producción</a:t>
            </a:r>
            <a:endParaRPr lang="en-US" sz="800"/>
          </a:p>
        </p:txBody>
      </p:sp>
      <p:sp>
        <p:nvSpPr>
          <p:cNvPr id="1839441662" name="Shape 32"/>
          <p:cNvSpPr/>
          <p:nvPr/>
        </p:nvSpPr>
        <p:spPr bwMode="auto">
          <a:xfrm>
            <a:off x="457200" y="370332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73688312" name="Shape 33"/>
          <p:cNvSpPr/>
          <p:nvPr/>
        </p:nvSpPr>
        <p:spPr bwMode="auto">
          <a:xfrm>
            <a:off x="457200" y="3703320"/>
            <a:ext cx="8229600" cy="256032"/>
          </a:xfrm>
          <a:prstGeom prst="rect">
            <a:avLst/>
          </a:prstGeom>
          <a:solidFill>
            <a:srgbClr val="8C9196"/>
          </a:solidFill>
          <a:ln/>
        </p:spPr>
      </p:sp>
      <p:sp>
        <p:nvSpPr>
          <p:cNvPr id="368085364" name="Text 34"/>
          <p:cNvSpPr/>
          <p:nvPr/>
        </p:nvSpPr>
        <p:spPr bwMode="auto">
          <a:xfrm>
            <a:off x="457200" y="3703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2D3237"/>
                </a:solidFill>
                <a:latin typeface="Arial"/>
                <a:ea typeface="Arial"/>
                <a:cs typeface="Arial"/>
              </a:rPr>
              <a:t>VALOR ACADÉMICO ACTUAL</a:t>
            </a:r>
            <a:endParaRPr lang="en-US" sz="900"/>
          </a:p>
        </p:txBody>
      </p:sp>
      <p:sp>
        <p:nvSpPr>
          <p:cNvPr id="166832254" name="Shape 35"/>
          <p:cNvSpPr/>
          <p:nvPr/>
        </p:nvSpPr>
        <p:spPr bwMode="auto">
          <a:xfrm>
            <a:off x="594360" y="4023360"/>
            <a:ext cx="2560320" cy="438912"/>
          </a:xfrm>
          <a:prstGeom prst="rect">
            <a:avLst/>
          </a:prstGeom>
          <a:solidFill>
            <a:srgbClr val="D1D3D5">
              <a:alpha val="50000"/>
            </a:srgbClr>
          </a:solidFill>
          <a:ln w="12700">
            <a:solidFill>
              <a:srgbClr val="8C9196"/>
            </a:solidFill>
            <a:prstDash val="solid"/>
          </a:ln>
        </p:spPr>
      </p:sp>
      <p:sp>
        <p:nvSpPr>
          <p:cNvPr id="459811589" name="Text 36"/>
          <p:cNvSpPr/>
          <p:nvPr/>
        </p:nvSpPr>
        <p:spPr bwMode="auto">
          <a:xfrm>
            <a:off x="685800" y="404164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00" b="1">
                <a:solidFill>
                  <a:srgbClr val="2D3237"/>
                </a:solidFill>
                <a:latin typeface="Arial"/>
                <a:ea typeface="Arial"/>
                <a:cs typeface="Arial"/>
              </a:rPr>
              <a:t>Single System Image (SSI)</a:t>
            </a:r>
            <a:endParaRPr lang="en-US" sz="800"/>
          </a:p>
        </p:txBody>
      </p:sp>
      <p:sp>
        <p:nvSpPr>
          <p:cNvPr id="537685330" name="Text 37"/>
          <p:cNvSpPr/>
          <p:nvPr/>
        </p:nvSpPr>
        <p:spPr bwMode="auto">
          <a:xfrm>
            <a:off x="685800" y="42245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7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Concepto de cluster como una única máquina</a:t>
            </a:r>
            <a:endParaRPr lang="en-US" sz="700"/>
          </a:p>
        </p:txBody>
      </p:sp>
      <p:sp>
        <p:nvSpPr>
          <p:cNvPr id="1233503359" name="Shape 38"/>
          <p:cNvSpPr/>
          <p:nvPr/>
        </p:nvSpPr>
        <p:spPr bwMode="auto">
          <a:xfrm>
            <a:off x="3337560" y="4023360"/>
            <a:ext cx="2560320" cy="438912"/>
          </a:xfrm>
          <a:prstGeom prst="rect">
            <a:avLst/>
          </a:prstGeom>
          <a:solidFill>
            <a:srgbClr val="D1D3D5">
              <a:alpha val="50000"/>
            </a:srgbClr>
          </a:solidFill>
          <a:ln w="12700">
            <a:solidFill>
              <a:srgbClr val="8C9196"/>
            </a:solidFill>
            <a:prstDash val="solid"/>
          </a:ln>
        </p:spPr>
      </p:sp>
      <p:sp>
        <p:nvSpPr>
          <p:cNvPr id="759398812" name="Text 39"/>
          <p:cNvSpPr/>
          <p:nvPr/>
        </p:nvSpPr>
        <p:spPr bwMode="auto">
          <a:xfrm>
            <a:off x="3429000" y="404164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00" b="1">
                <a:solidFill>
                  <a:srgbClr val="2D3237"/>
                </a:solidFill>
                <a:latin typeface="Arial"/>
                <a:ea typeface="Arial"/>
                <a:cs typeface="Arial"/>
              </a:rPr>
              <a:t>Migración de procesos</a:t>
            </a:r>
            <a:endParaRPr lang="en-US" sz="800"/>
          </a:p>
        </p:txBody>
      </p:sp>
      <p:sp>
        <p:nvSpPr>
          <p:cNvPr id="1812163363" name="Text 40"/>
          <p:cNvSpPr/>
          <p:nvPr/>
        </p:nvSpPr>
        <p:spPr bwMode="auto">
          <a:xfrm>
            <a:off x="3429000" y="42245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7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PCB transferido entre nodos — checkpoint/restart</a:t>
            </a:r>
            <a:endParaRPr lang="en-US" sz="700"/>
          </a:p>
        </p:txBody>
      </p:sp>
      <p:sp>
        <p:nvSpPr>
          <p:cNvPr id="69279517" name="Shape 41"/>
          <p:cNvSpPr/>
          <p:nvPr/>
        </p:nvSpPr>
        <p:spPr bwMode="auto">
          <a:xfrm>
            <a:off x="6080760" y="4023360"/>
            <a:ext cx="2560320" cy="438912"/>
          </a:xfrm>
          <a:prstGeom prst="rect">
            <a:avLst/>
          </a:prstGeom>
          <a:solidFill>
            <a:srgbClr val="D1D3D5">
              <a:alpha val="50000"/>
            </a:srgbClr>
          </a:solidFill>
          <a:ln w="12700">
            <a:solidFill>
              <a:srgbClr val="8C9196"/>
            </a:solidFill>
            <a:prstDash val="solid"/>
          </a:ln>
        </p:spPr>
      </p:sp>
      <p:sp>
        <p:nvSpPr>
          <p:cNvPr id="884838363" name="Text 42"/>
          <p:cNvSpPr/>
          <p:nvPr/>
        </p:nvSpPr>
        <p:spPr bwMode="auto">
          <a:xfrm>
            <a:off x="6172200" y="404164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800" b="1">
                <a:solidFill>
                  <a:srgbClr val="2D3237"/>
                </a:solidFill>
                <a:latin typeface="Arial"/>
                <a:ea typeface="Arial"/>
                <a:cs typeface="Arial"/>
              </a:rPr>
              <a:t>Evolución de HPC</a:t>
            </a:r>
            <a:endParaRPr lang="en-US" sz="800"/>
          </a:p>
        </p:txBody>
      </p:sp>
      <p:sp>
        <p:nvSpPr>
          <p:cNvPr id="1356303856" name="Text 43"/>
          <p:cNvSpPr/>
          <p:nvPr/>
        </p:nvSpPr>
        <p:spPr bwMode="auto">
          <a:xfrm>
            <a:off x="6172200" y="42245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  <a:defRPr/>
            </a:pPr>
            <a:r>
              <a:rPr lang="en-US" sz="7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Entender transición: Beowulf → SLURM → K8s</a:t>
            </a:r>
            <a:endParaRPr lang="en-US" sz="700"/>
          </a:p>
        </p:txBody>
      </p:sp>
      <p:sp>
        <p:nvSpPr>
          <p:cNvPr id="1160472721" name="Text 44"/>
          <p:cNvSpPr/>
          <p:nvPr/>
        </p:nvSpPr>
        <p:spPr bwMode="auto">
          <a:xfrm>
            <a:off x="457200" y="477316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2">
    <p:bg>
      <p:bgPr shadeToTitle="0">
        <a:solidFill>
          <a:srgbClr val="F6F7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0737861" name="Shape 0"/>
          <p:cNvSpPr/>
          <p:nvPr/>
        </p:nvSpPr>
        <p:spPr bwMode="auto">
          <a:xfrm>
            <a:off x="8503920" y="4663440"/>
            <a:ext cx="365760" cy="365760"/>
          </a:xfrm>
          <a:prstGeom prst="ellipse">
            <a:avLst/>
          </a:prstGeom>
          <a:solidFill>
            <a:srgbClr val="0070C5"/>
          </a:solidFill>
          <a:ln/>
        </p:spPr>
      </p:sp>
      <p:sp>
        <p:nvSpPr>
          <p:cNvPr id="1354621698" name="Text 1"/>
          <p:cNvSpPr/>
          <p:nvPr/>
        </p:nvSpPr>
        <p:spPr bwMode="auto"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22</a:t>
            </a:r>
            <a:endParaRPr lang="en-US" sz="1200"/>
          </a:p>
        </p:txBody>
      </p:sp>
      <p:sp>
        <p:nvSpPr>
          <p:cNvPr id="1900547460" name="Text 2"/>
          <p:cNvSpPr/>
          <p:nvPr/>
        </p:nvSpPr>
        <p:spPr bwMode="auto">
          <a:xfrm>
            <a:off x="457200" y="2743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2400" b="1">
                <a:solidFill>
                  <a:srgbClr val="2D3237"/>
                </a:solidFill>
                <a:latin typeface="Arial Black"/>
                <a:ea typeface="Arial Black"/>
                <a:cs typeface="Arial Black"/>
              </a:rPr>
              <a:t>Zephyr OS — Soporte a Usuarios</a:t>
            </a:r>
            <a:endParaRPr lang="en-US" sz="2400"/>
          </a:p>
        </p:txBody>
      </p:sp>
      <p:sp>
        <p:nvSpPr>
          <p:cNvPr id="1401272665" name="Text 3"/>
          <p:cNvSpPr/>
          <p:nvPr/>
        </p:nvSpPr>
        <p:spPr bwMode="auto">
          <a:xfrm>
            <a:off x="457200" y="7498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100" i="1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Ecosistema de soporte diverso: comunitario + corporativo + documentación exhaustiva</a:t>
            </a:r>
            <a:endParaRPr lang="en-US" sz="1100"/>
          </a:p>
        </p:txBody>
      </p:sp>
      <p:sp>
        <p:nvSpPr>
          <p:cNvPr id="1798284504" name="Shape 4"/>
          <p:cNvSpPr/>
          <p:nvPr/>
        </p:nvSpPr>
        <p:spPr bwMode="auto">
          <a:xfrm>
            <a:off x="457200" y="1097280"/>
            <a:ext cx="397764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97661774" name="Shape 5"/>
          <p:cNvSpPr/>
          <p:nvPr/>
        </p:nvSpPr>
        <p:spPr bwMode="auto">
          <a:xfrm>
            <a:off x="457200" y="1097280"/>
            <a:ext cx="73152" cy="1325880"/>
          </a:xfrm>
          <a:prstGeom prst="rect">
            <a:avLst/>
          </a:prstGeom>
          <a:solidFill>
            <a:srgbClr val="0070C5"/>
          </a:solidFill>
          <a:ln/>
        </p:spPr>
      </p:sp>
      <p:sp>
        <p:nvSpPr>
          <p:cNvPr id="356557274" name="Text 6"/>
          <p:cNvSpPr/>
          <p:nvPr/>
        </p:nvSpPr>
        <p:spPr bwMode="auto">
          <a:xfrm>
            <a:off x="640080" y="11704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200" b="1">
                <a:solidFill>
                  <a:srgbClr val="2D3237"/>
                </a:solidFill>
                <a:latin typeface="Arial"/>
                <a:ea typeface="Arial"/>
                <a:cs typeface="Arial"/>
              </a:rPr>
              <a:t>● Documentación Oficial</a:t>
            </a:r>
            <a:endParaRPr lang="en-US" sz="1200"/>
          </a:p>
        </p:txBody>
      </p:sp>
      <p:sp>
        <p:nvSpPr>
          <p:cNvPr id="1507472097" name="Text 7"/>
          <p:cNvSpPr/>
          <p:nvPr/>
        </p:nvSpPr>
        <p:spPr bwMode="auto">
          <a:xfrm>
            <a:off x="640080" y="140817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0070C5"/>
                </a:solidFill>
                <a:latin typeface="Calibri"/>
                <a:ea typeface="Calibri"/>
                <a:cs typeface="Calibri"/>
              </a:rPr>
              <a:t>docs.zephyrproject.org</a:t>
            </a:r>
            <a:endParaRPr lang="en-US" sz="1000"/>
          </a:p>
        </p:txBody>
      </p:sp>
      <p:sp>
        <p:nvSpPr>
          <p:cNvPr id="2030130940" name="Text 8"/>
          <p:cNvSpPr/>
          <p:nvPr/>
        </p:nvSpPr>
        <p:spPr bwMode="auto">
          <a:xfrm>
            <a:off x="640080" y="16276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Exhaustiva, actualizada con cada release, multi-version, búsqueda integrada</a:t>
            </a:r>
            <a:endParaRPr lang="en-US" sz="900"/>
          </a:p>
        </p:txBody>
      </p:sp>
      <p:sp>
        <p:nvSpPr>
          <p:cNvPr id="1146192655" name="Text 9"/>
          <p:cNvSpPr/>
          <p:nvPr/>
        </p:nvSpPr>
        <p:spPr bwMode="auto">
          <a:xfrm>
            <a:off x="640080" y="19933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8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Getting Started • API Reference • Kernel Guide • Security</a:t>
            </a:r>
            <a:endParaRPr lang="en-US" sz="800"/>
          </a:p>
        </p:txBody>
      </p:sp>
      <p:sp>
        <p:nvSpPr>
          <p:cNvPr id="2069216934" name="Shape 10"/>
          <p:cNvSpPr/>
          <p:nvPr/>
        </p:nvSpPr>
        <p:spPr bwMode="auto">
          <a:xfrm>
            <a:off x="4617720" y="1097280"/>
            <a:ext cx="397764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79495858" name="Shape 11"/>
          <p:cNvSpPr/>
          <p:nvPr/>
        </p:nvSpPr>
        <p:spPr bwMode="auto">
          <a:xfrm>
            <a:off x="4617720" y="1097280"/>
            <a:ext cx="73152" cy="13258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75143799" name="Text 12"/>
          <p:cNvSpPr/>
          <p:nvPr/>
        </p:nvSpPr>
        <p:spPr bwMode="auto">
          <a:xfrm>
            <a:off x="4800600" y="11704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200" b="1">
                <a:solidFill>
                  <a:srgbClr val="2D3237"/>
                </a:solidFill>
                <a:latin typeface="Arial"/>
                <a:ea typeface="Arial"/>
                <a:cs typeface="Arial"/>
              </a:rPr>
              <a:t>● Comunidad Activa</a:t>
            </a:r>
            <a:endParaRPr lang="en-US" sz="1200"/>
          </a:p>
        </p:txBody>
      </p:sp>
      <p:sp>
        <p:nvSpPr>
          <p:cNvPr id="865967631" name="Text 13"/>
          <p:cNvSpPr/>
          <p:nvPr/>
        </p:nvSpPr>
        <p:spPr bwMode="auto">
          <a:xfrm>
            <a:off x="4800600" y="140817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2E7D32"/>
                </a:solidFill>
                <a:latin typeface="Calibri"/>
                <a:ea typeface="Calibri"/>
                <a:cs typeface="Calibri"/>
              </a:rPr>
              <a:t>Discord, GitHub, Mailing Lists, IRC</a:t>
            </a:r>
            <a:endParaRPr lang="en-US" sz="1000"/>
          </a:p>
        </p:txBody>
      </p:sp>
      <p:sp>
        <p:nvSpPr>
          <p:cNvPr id="6842676" name="Text 14"/>
          <p:cNvSpPr/>
          <p:nvPr/>
        </p:nvSpPr>
        <p:spPr bwMode="auto">
          <a:xfrm>
            <a:off x="4800600" y="16276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3000+ contribuidores, TSC público, Wiki mantenida por la comunidad</a:t>
            </a:r>
            <a:endParaRPr lang="en-US" sz="900"/>
          </a:p>
        </p:txBody>
      </p:sp>
      <p:sp>
        <p:nvSpPr>
          <p:cNvPr id="1021967250" name="Text 15"/>
          <p:cNvSpPr/>
          <p:nvPr/>
        </p:nvSpPr>
        <p:spPr bwMode="auto">
          <a:xfrm>
            <a:off x="4800600" y="199339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8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GitHub Issues • Discussions • Foros • Chat en tiempo real</a:t>
            </a:r>
            <a:endParaRPr lang="en-US" sz="800"/>
          </a:p>
        </p:txBody>
      </p:sp>
      <p:sp>
        <p:nvSpPr>
          <p:cNvPr id="492829127" name="Shape 16"/>
          <p:cNvSpPr/>
          <p:nvPr/>
        </p:nvSpPr>
        <p:spPr bwMode="auto">
          <a:xfrm>
            <a:off x="457200" y="2514600"/>
            <a:ext cx="39776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3447058" name="Shape 17"/>
          <p:cNvSpPr/>
          <p:nvPr/>
        </p:nvSpPr>
        <p:spPr bwMode="auto">
          <a:xfrm>
            <a:off x="457200" y="2514600"/>
            <a:ext cx="73152" cy="1234440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151793757" name="Text 18"/>
          <p:cNvSpPr/>
          <p:nvPr/>
        </p:nvSpPr>
        <p:spPr bwMode="auto">
          <a:xfrm>
            <a:off x="640080" y="25877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200" b="1">
                <a:solidFill>
                  <a:srgbClr val="2D3237"/>
                </a:solidFill>
                <a:latin typeface="Arial"/>
                <a:ea typeface="Arial"/>
                <a:cs typeface="Arial"/>
              </a:rPr>
              <a:t>■ Soporte Comercial (Opcional)</a:t>
            </a:r>
            <a:endParaRPr lang="en-US" sz="1200"/>
          </a:p>
        </p:txBody>
      </p:sp>
      <p:sp>
        <p:nvSpPr>
          <p:cNvPr id="1780578673" name="Text 19"/>
          <p:cNvSpPr/>
          <p:nvPr/>
        </p:nvSpPr>
        <p:spPr bwMode="auto">
          <a:xfrm>
            <a:off x="640080" y="282549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7B1FA2"/>
                </a:solidFill>
                <a:latin typeface="Calibri"/>
                <a:ea typeface="Calibri"/>
                <a:cs typeface="Calibri"/>
              </a:rPr>
              <a:t>Linux Foundation + Miembros Corporativos</a:t>
            </a:r>
            <a:endParaRPr lang="en-US" sz="1000"/>
          </a:p>
        </p:txBody>
      </p:sp>
      <p:sp>
        <p:nvSpPr>
          <p:cNvPr id="1881460819" name="Text 20"/>
          <p:cNvSpPr/>
          <p:nvPr/>
        </p:nvSpPr>
        <p:spPr bwMode="auto">
          <a:xfrm>
            <a:off x="640080" y="30449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Nordic, Intel, NXP, Renesas, Wind River (Rocket)</a:t>
            </a:r>
            <a:endParaRPr lang="en-US" sz="900"/>
          </a:p>
        </p:txBody>
      </p:sp>
      <p:sp>
        <p:nvSpPr>
          <p:cNvPr id="77272791" name="Text 21"/>
          <p:cNvSpPr/>
          <p:nvPr/>
        </p:nvSpPr>
        <p:spPr bwMode="auto">
          <a:xfrm>
            <a:off x="640080" y="326440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Wind River Rocket: soporte dedicado, cloud, certificaciones</a:t>
            </a:r>
            <a:endParaRPr lang="en-US" sz="900"/>
          </a:p>
        </p:txBody>
      </p:sp>
      <p:sp>
        <p:nvSpPr>
          <p:cNvPr id="1990369820" name="Text 22"/>
          <p:cNvSpPr/>
          <p:nvPr/>
        </p:nvSpPr>
        <p:spPr bwMode="auto">
          <a:xfrm>
            <a:off x="640080" y="348386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Training Partners: ModularMX, Golioth, Hacod</a:t>
            </a:r>
            <a:endParaRPr lang="en-US" sz="900"/>
          </a:p>
        </p:txBody>
      </p:sp>
      <p:sp>
        <p:nvSpPr>
          <p:cNvPr id="13998848" name="Shape 23"/>
          <p:cNvSpPr/>
          <p:nvPr/>
        </p:nvSpPr>
        <p:spPr bwMode="auto">
          <a:xfrm>
            <a:off x="4617720" y="2514600"/>
            <a:ext cx="39776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64181352" name="Shape 24"/>
          <p:cNvSpPr/>
          <p:nvPr/>
        </p:nvSpPr>
        <p:spPr bwMode="auto">
          <a:xfrm>
            <a:off x="4617720" y="2514600"/>
            <a:ext cx="73152" cy="1234440"/>
          </a:xfrm>
          <a:prstGeom prst="rect">
            <a:avLst/>
          </a:prstGeom>
          <a:solidFill>
            <a:srgbClr val="0070C5"/>
          </a:solidFill>
          <a:ln/>
        </p:spPr>
      </p:sp>
      <p:sp>
        <p:nvSpPr>
          <p:cNvPr id="948600985" name="Text 25"/>
          <p:cNvSpPr/>
          <p:nvPr/>
        </p:nvSpPr>
        <p:spPr bwMode="auto">
          <a:xfrm>
            <a:off x="4800600" y="25877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200" b="1">
                <a:solidFill>
                  <a:srgbClr val="2D3237"/>
                </a:solidFill>
                <a:latin typeface="Arial"/>
                <a:ea typeface="Arial"/>
                <a:cs typeface="Arial"/>
              </a:rPr>
              <a:t>◆ Desarrollo Activo</a:t>
            </a:r>
            <a:endParaRPr lang="en-US" sz="1200"/>
          </a:p>
        </p:txBody>
      </p:sp>
      <p:sp>
        <p:nvSpPr>
          <p:cNvPr id="1835043441" name="Text 26"/>
          <p:cNvSpPr/>
          <p:nvPr/>
        </p:nvSpPr>
        <p:spPr bwMode="auto">
          <a:xfrm>
            <a:off x="4800600" y="282549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0070C5"/>
                </a:solidFill>
                <a:latin typeface="Calibri"/>
                <a:ea typeface="Calibri"/>
                <a:cs typeface="Calibri"/>
              </a:rPr>
              <a:t>Releases regulares + Security patches</a:t>
            </a:r>
            <a:endParaRPr lang="en-US" sz="1000"/>
          </a:p>
        </p:txBody>
      </p:sp>
      <p:sp>
        <p:nvSpPr>
          <p:cNvPr id="1864548262" name="Text 27"/>
          <p:cNvSpPr/>
          <p:nvPr/>
        </p:nvSpPr>
        <p:spPr bwMode="auto">
          <a:xfrm>
            <a:off x="4800600" y="304495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Bug tracking via GitHub Issues</a:t>
            </a:r>
            <a:endParaRPr lang="en-US" sz="900"/>
          </a:p>
        </p:txBody>
      </p:sp>
      <p:sp>
        <p:nvSpPr>
          <p:cNvPr id="1925684634" name="Text 28"/>
          <p:cNvSpPr/>
          <p:nvPr/>
        </p:nvSpPr>
        <p:spPr bwMode="auto">
          <a:xfrm>
            <a:off x="4800600" y="326440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Security Subcommittee dedicado</a:t>
            </a:r>
            <a:endParaRPr lang="en-US" sz="900"/>
          </a:p>
        </p:txBody>
      </p:sp>
      <p:sp>
        <p:nvSpPr>
          <p:cNvPr id="2045369520" name="Text 29"/>
          <p:cNvSpPr/>
          <p:nvPr/>
        </p:nvSpPr>
        <p:spPr bwMode="auto">
          <a:xfrm>
            <a:off x="4800600" y="348386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LTS versions con soporte 10-20 años</a:t>
            </a:r>
            <a:endParaRPr lang="en-US" sz="900"/>
          </a:p>
        </p:txBody>
      </p:sp>
      <p:sp>
        <p:nvSpPr>
          <p:cNvPr id="999625094" name="Shape 30"/>
          <p:cNvSpPr/>
          <p:nvPr/>
        </p:nvSpPr>
        <p:spPr bwMode="auto">
          <a:xfrm>
            <a:off x="457200" y="3840480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03786395" name="Text 31"/>
          <p:cNvSpPr/>
          <p:nvPr/>
        </p:nvSpPr>
        <p:spPr bwMode="auto">
          <a:xfrm>
            <a:off x="548640" y="391363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 b="1">
                <a:solidFill>
                  <a:srgbClr val="2D3237"/>
                </a:solidFill>
                <a:latin typeface="Arial"/>
                <a:ea typeface="Arial"/>
                <a:cs typeface="Arial"/>
              </a:rPr>
              <a:t>Estructura de Membresía:</a:t>
            </a:r>
            <a:endParaRPr lang="en-US" sz="900"/>
          </a:p>
        </p:txBody>
      </p:sp>
      <p:sp>
        <p:nvSpPr>
          <p:cNvPr id="918695065" name="Shape 32"/>
          <p:cNvSpPr/>
          <p:nvPr/>
        </p:nvSpPr>
        <p:spPr bwMode="auto">
          <a:xfrm>
            <a:off x="2194560" y="3931920"/>
            <a:ext cx="1097280" cy="292608"/>
          </a:xfrm>
          <a:prstGeom prst="rect">
            <a:avLst/>
          </a:prstGeom>
          <a:solidFill>
            <a:srgbClr val="FFD700"/>
          </a:solidFill>
          <a:ln/>
        </p:spPr>
      </p:sp>
      <p:sp>
        <p:nvSpPr>
          <p:cNvPr id="493297271" name="Text 33"/>
          <p:cNvSpPr/>
          <p:nvPr/>
        </p:nvSpPr>
        <p:spPr bwMode="auto">
          <a:xfrm>
            <a:off x="2194560" y="3931920"/>
            <a:ext cx="1097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2D3237"/>
                </a:solidFill>
                <a:latin typeface="Arial"/>
                <a:ea typeface="Arial"/>
                <a:cs typeface="Arial"/>
              </a:rPr>
              <a:t>PLATINUM</a:t>
            </a:r>
            <a:endParaRPr lang="en-US" sz="800"/>
          </a:p>
        </p:txBody>
      </p:sp>
      <p:sp>
        <p:nvSpPr>
          <p:cNvPr id="1015214325" name="Text 34"/>
          <p:cNvSpPr/>
          <p:nvPr/>
        </p:nvSpPr>
        <p:spPr bwMode="auto">
          <a:xfrm>
            <a:off x="3337560" y="391363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8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Nordic, Renesas, Wind River</a:t>
            </a:r>
            <a:endParaRPr lang="en-US" sz="800"/>
          </a:p>
        </p:txBody>
      </p:sp>
      <p:sp>
        <p:nvSpPr>
          <p:cNvPr id="1517779702" name="Shape 35"/>
          <p:cNvSpPr/>
          <p:nvPr/>
        </p:nvSpPr>
        <p:spPr bwMode="auto">
          <a:xfrm>
            <a:off x="5029200" y="3931920"/>
            <a:ext cx="914400" cy="292608"/>
          </a:xfrm>
          <a:prstGeom prst="rect">
            <a:avLst/>
          </a:prstGeom>
          <a:solidFill>
            <a:srgbClr val="C0C0C0"/>
          </a:solidFill>
          <a:ln/>
        </p:spPr>
      </p:sp>
      <p:sp>
        <p:nvSpPr>
          <p:cNvPr id="1834511878" name="Text 36"/>
          <p:cNvSpPr/>
          <p:nvPr/>
        </p:nvSpPr>
        <p:spPr bwMode="auto">
          <a:xfrm>
            <a:off x="5029200" y="393192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2D3237"/>
                </a:solidFill>
                <a:latin typeface="Arial"/>
                <a:ea typeface="Arial"/>
                <a:cs typeface="Arial"/>
              </a:rPr>
              <a:t>GOLD</a:t>
            </a:r>
            <a:endParaRPr lang="en-US" sz="800"/>
          </a:p>
        </p:txBody>
      </p:sp>
      <p:sp>
        <p:nvSpPr>
          <p:cNvPr id="1646372229" name="Text 37"/>
          <p:cNvSpPr/>
          <p:nvPr/>
        </p:nvSpPr>
        <p:spPr bwMode="auto">
          <a:xfrm>
            <a:off x="5989320" y="391363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8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Intel, NXP</a:t>
            </a:r>
            <a:endParaRPr lang="en-US" sz="800"/>
          </a:p>
        </p:txBody>
      </p:sp>
      <p:sp>
        <p:nvSpPr>
          <p:cNvPr id="1573719515" name="Shape 38"/>
          <p:cNvSpPr/>
          <p:nvPr/>
        </p:nvSpPr>
        <p:spPr bwMode="auto">
          <a:xfrm>
            <a:off x="6949440" y="3931920"/>
            <a:ext cx="914400" cy="292608"/>
          </a:xfrm>
          <a:prstGeom prst="rect">
            <a:avLst/>
          </a:prstGeom>
          <a:solidFill>
            <a:srgbClr val="CD7F32"/>
          </a:solidFill>
          <a:ln/>
        </p:spPr>
      </p:sp>
      <p:sp>
        <p:nvSpPr>
          <p:cNvPr id="373129320" name="Text 39"/>
          <p:cNvSpPr/>
          <p:nvPr/>
        </p:nvSpPr>
        <p:spPr bwMode="auto">
          <a:xfrm>
            <a:off x="6949440" y="3931920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SILVER</a:t>
            </a:r>
            <a:endParaRPr lang="en-US" sz="800"/>
          </a:p>
        </p:txBody>
      </p:sp>
      <p:sp>
        <p:nvSpPr>
          <p:cNvPr id="1173799902" name="Text 40"/>
          <p:cNvSpPr/>
          <p:nvPr/>
        </p:nvSpPr>
        <p:spPr bwMode="auto">
          <a:xfrm>
            <a:off x="7909560" y="3913632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8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Blecon, Embeint</a:t>
            </a:r>
            <a:endParaRPr lang="en-US" sz="800"/>
          </a:p>
        </p:txBody>
      </p:sp>
      <p:sp>
        <p:nvSpPr>
          <p:cNvPr id="645766316" name="Text 41"/>
          <p:cNvSpPr/>
          <p:nvPr/>
        </p:nvSpPr>
        <p:spPr bwMode="auto">
          <a:xfrm>
            <a:off x="457200" y="477316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3">
    <p:bg>
      <p:bgPr shadeToTitle="0">
        <a:solidFill>
          <a:srgbClr val="F6F7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0985206" name="Shape 0"/>
          <p:cNvSpPr/>
          <p:nvPr/>
        </p:nvSpPr>
        <p:spPr bwMode="auto">
          <a:xfrm>
            <a:off x="8503920" y="4663440"/>
            <a:ext cx="365760" cy="365760"/>
          </a:xfrm>
          <a:prstGeom prst="ellipse">
            <a:avLst/>
          </a:prstGeom>
          <a:solidFill>
            <a:srgbClr val="4C5155"/>
          </a:solidFill>
          <a:ln/>
        </p:spPr>
      </p:sp>
      <p:sp>
        <p:nvSpPr>
          <p:cNvPr id="1821549" name="Text 1"/>
          <p:cNvSpPr/>
          <p:nvPr/>
        </p:nvSpPr>
        <p:spPr bwMode="auto"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23</a:t>
            </a:r>
            <a:endParaRPr lang="en-US" sz="1200"/>
          </a:p>
        </p:txBody>
      </p:sp>
      <p:sp>
        <p:nvSpPr>
          <p:cNvPr id="608985474" name="Text 2"/>
          <p:cNvSpPr/>
          <p:nvPr/>
        </p:nvSpPr>
        <p:spPr bwMode="auto">
          <a:xfrm>
            <a:off x="457200" y="2743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2400" b="1">
                <a:solidFill>
                  <a:srgbClr val="2D3237"/>
                </a:solidFill>
                <a:latin typeface="Arial Black"/>
                <a:ea typeface="Arial Black"/>
                <a:cs typeface="Arial Black"/>
              </a:rPr>
              <a:t>MOSIX — Soporte a Usuarios</a:t>
            </a:r>
            <a:endParaRPr lang="en-US" sz="2400"/>
          </a:p>
        </p:txBody>
      </p:sp>
      <p:sp>
        <p:nvSpPr>
          <p:cNvPr id="2061729594" name="Text 3"/>
          <p:cNvSpPr/>
          <p:nvPr/>
        </p:nvSpPr>
        <p:spPr bwMode="auto">
          <a:xfrm>
            <a:off x="457200" y="7498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100" i="1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Proyecto de investigación sin soporte activo ni comunidad desde 2017</a:t>
            </a:r>
            <a:endParaRPr lang="en-US" sz="1100"/>
          </a:p>
        </p:txBody>
      </p:sp>
      <p:sp>
        <p:nvSpPr>
          <p:cNvPr id="867758222" name="Shape 4"/>
          <p:cNvSpPr/>
          <p:nvPr/>
        </p:nvSpPr>
        <p:spPr bwMode="auto">
          <a:xfrm>
            <a:off x="457200" y="1051560"/>
            <a:ext cx="8229600" cy="384048"/>
          </a:xfrm>
          <a:prstGeom prst="rect">
            <a:avLst/>
          </a:prstGeom>
          <a:solidFill>
            <a:srgbClr val="FFEBEE"/>
          </a:solidFill>
          <a:ln w="25400">
            <a:solidFill>
              <a:srgbClr val="C62828"/>
            </a:solidFill>
            <a:prstDash val="solid"/>
          </a:ln>
        </p:spPr>
      </p:sp>
      <p:sp>
        <p:nvSpPr>
          <p:cNvPr id="611702060" name="Text 5"/>
          <p:cNvSpPr/>
          <p:nvPr/>
        </p:nvSpPr>
        <p:spPr bwMode="auto">
          <a:xfrm>
            <a:off x="457200" y="10515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⚠ PROYECTO INACTIVO DESDE OCTUBRE 2017 — Sin actualizaciones, parches de seguridad ni soporte activo</a:t>
            </a:r>
            <a:endParaRPr lang="en-US" sz="1100"/>
          </a:p>
        </p:txBody>
      </p:sp>
      <p:sp>
        <p:nvSpPr>
          <p:cNvPr id="2047702531" name="Shape 6"/>
          <p:cNvSpPr/>
          <p:nvPr/>
        </p:nvSpPr>
        <p:spPr bwMode="auto">
          <a:xfrm>
            <a:off x="457200" y="1536192"/>
            <a:ext cx="39776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3719770" name="Shape 7"/>
          <p:cNvSpPr/>
          <p:nvPr/>
        </p:nvSpPr>
        <p:spPr bwMode="auto">
          <a:xfrm>
            <a:off x="457200" y="1536192"/>
            <a:ext cx="73152" cy="1463040"/>
          </a:xfrm>
          <a:prstGeom prst="rect">
            <a:avLst/>
          </a:prstGeom>
          <a:solidFill>
            <a:srgbClr val="FF8F00"/>
          </a:solidFill>
          <a:ln/>
        </p:spPr>
      </p:sp>
      <p:sp>
        <p:nvSpPr>
          <p:cNvPr id="477721991" name="Text 8"/>
          <p:cNvSpPr/>
          <p:nvPr/>
        </p:nvSpPr>
        <p:spPr bwMode="auto">
          <a:xfrm>
            <a:off x="640080" y="16002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200" b="1">
                <a:solidFill>
                  <a:srgbClr val="2D3237"/>
                </a:solidFill>
                <a:latin typeface="Arial"/>
                <a:ea typeface="Arial"/>
                <a:cs typeface="Arial"/>
              </a:rPr>
              <a:t>📄 Documentación Disponible</a:t>
            </a:r>
            <a:endParaRPr lang="en-US" sz="1200"/>
          </a:p>
        </p:txBody>
      </p:sp>
      <p:sp>
        <p:nvSpPr>
          <p:cNvPr id="1742780171" name="Text 9"/>
          <p:cNvSpPr/>
          <p:nvPr/>
        </p:nvSpPr>
        <p:spPr bwMode="auto">
          <a:xfrm>
            <a:off x="640080" y="183794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 b="1">
                <a:solidFill>
                  <a:srgbClr val="FF8F00"/>
                </a:solidFill>
                <a:latin typeface="Calibri"/>
                <a:ea typeface="Calibri"/>
                <a:cs typeface="Calibri"/>
              </a:rPr>
              <a:t>LIMITADA Y DESACTUALIZADA</a:t>
            </a:r>
            <a:endParaRPr lang="en-US" sz="900"/>
          </a:p>
        </p:txBody>
      </p:sp>
      <p:sp>
        <p:nvSpPr>
          <p:cNvPr id="421224468" name="Text 10"/>
          <p:cNvSpPr/>
          <p:nvPr/>
        </p:nvSpPr>
        <p:spPr bwMode="auto">
          <a:xfrm>
            <a:off x="640080" y="205740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• FAQ oficial (mosix.cs.huji.ac.il)</a:t>
            </a: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• Administrator's Guide (PDF)</a:t>
            </a: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• White Paper (arquitectura)</a:t>
            </a:r>
            <a:endParaRPr lang="en-US" sz="900"/>
          </a:p>
          <a:p>
            <a:pPr marL="0" indent="0" algn="l">
              <a:buNone/>
              <a:defRPr/>
            </a:pPr>
            <a:r>
              <a:rPr lang="en-US" sz="9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• Changelog (hasta 2017)</a:t>
            </a:r>
            <a:endParaRPr lang="en-US" sz="900"/>
          </a:p>
        </p:txBody>
      </p:sp>
      <p:sp>
        <p:nvSpPr>
          <p:cNvPr id="1143680052" name="Shape 11"/>
          <p:cNvSpPr/>
          <p:nvPr/>
        </p:nvSpPr>
        <p:spPr bwMode="auto">
          <a:xfrm>
            <a:off x="4617720" y="1536192"/>
            <a:ext cx="397764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67656625" name="Shape 12"/>
          <p:cNvSpPr/>
          <p:nvPr/>
        </p:nvSpPr>
        <p:spPr bwMode="auto">
          <a:xfrm>
            <a:off x="4617720" y="1536192"/>
            <a:ext cx="73152" cy="1463040"/>
          </a:xfrm>
          <a:prstGeom prst="rect">
            <a:avLst/>
          </a:prstGeom>
          <a:solidFill>
            <a:srgbClr val="4C5155"/>
          </a:solidFill>
          <a:ln/>
        </p:spPr>
      </p:sp>
      <p:sp>
        <p:nvSpPr>
          <p:cNvPr id="1071362617" name="Text 13"/>
          <p:cNvSpPr/>
          <p:nvPr/>
        </p:nvSpPr>
        <p:spPr bwMode="auto">
          <a:xfrm>
            <a:off x="4800600" y="160020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200" b="1">
                <a:solidFill>
                  <a:srgbClr val="2D3237"/>
                </a:solidFill>
                <a:latin typeface="Arial"/>
                <a:ea typeface="Arial"/>
                <a:cs typeface="Arial"/>
              </a:rPr>
              <a:t>📧 Contacto Académico</a:t>
            </a:r>
            <a:endParaRPr lang="en-US" sz="1200"/>
          </a:p>
        </p:txBody>
      </p:sp>
      <p:sp>
        <p:nvSpPr>
          <p:cNvPr id="858241299" name="Text 14"/>
          <p:cNvSpPr/>
          <p:nvPr/>
        </p:nvSpPr>
        <p:spPr bwMode="auto">
          <a:xfrm>
            <a:off x="4800600" y="183794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mosix@cs.huji.ac.il</a:t>
            </a:r>
            <a:endParaRPr lang="en-US" sz="1000"/>
          </a:p>
        </p:txBody>
      </p:sp>
      <p:sp>
        <p:nvSpPr>
          <p:cNvPr id="486627343" name="Text 15"/>
          <p:cNvSpPr/>
          <p:nvPr/>
        </p:nvSpPr>
        <p:spPr bwMode="auto">
          <a:xfrm>
            <a:off x="4800600" y="203911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Hebrew University of Jerusalem</a:t>
            </a:r>
            <a:endParaRPr lang="en-US" sz="900"/>
          </a:p>
        </p:txBody>
      </p:sp>
      <p:sp>
        <p:nvSpPr>
          <p:cNvPr id="1489586427" name="Text 16"/>
          <p:cNvSpPr/>
          <p:nvPr/>
        </p:nvSpPr>
        <p:spPr bwMode="auto">
          <a:xfrm>
            <a:off x="4800600" y="226771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 b="1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⚠ Sin garantía de respuesta</a:t>
            </a:r>
            <a:endParaRPr lang="en-US" sz="900"/>
          </a:p>
        </p:txBody>
      </p:sp>
      <p:sp>
        <p:nvSpPr>
          <p:cNvPr id="1251182869" name="Text 17"/>
          <p:cNvSpPr/>
          <p:nvPr/>
        </p:nvSpPr>
        <p:spPr bwMode="auto">
          <a:xfrm>
            <a:off x="4800600" y="2468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8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Proyecto de investigación — no un producto con soporte</a:t>
            </a:r>
            <a:endParaRPr lang="en-US" sz="800"/>
          </a:p>
        </p:txBody>
      </p:sp>
      <p:sp>
        <p:nvSpPr>
          <p:cNvPr id="1662121345" name="Shape 18"/>
          <p:cNvSpPr/>
          <p:nvPr/>
        </p:nvSpPr>
        <p:spPr bwMode="auto">
          <a:xfrm>
            <a:off x="457200" y="3090672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19988930" name="Shape 19"/>
          <p:cNvSpPr/>
          <p:nvPr/>
        </p:nvSpPr>
        <p:spPr bwMode="auto">
          <a:xfrm>
            <a:off x="457200" y="3090672"/>
            <a:ext cx="8229600" cy="292608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797724031" name="Text 20"/>
          <p:cNvSpPr/>
          <p:nvPr/>
        </p:nvSpPr>
        <p:spPr bwMode="auto">
          <a:xfrm>
            <a:off x="457200" y="309067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 spc="200">
                <a:solidFill>
                  <a:srgbClr val="FFFFFF"/>
                </a:solidFill>
                <a:latin typeface="Arial"/>
                <a:ea typeface="Arial"/>
                <a:cs typeface="Arial"/>
              </a:rPr>
              <a:t>LO QUE NO EXISTE</a:t>
            </a:r>
            <a:endParaRPr lang="en-US" sz="1100"/>
          </a:p>
        </p:txBody>
      </p:sp>
      <p:sp>
        <p:nvSpPr>
          <p:cNvPr id="1172693754" name="Text 21"/>
          <p:cNvSpPr/>
          <p:nvPr/>
        </p:nvSpPr>
        <p:spPr bwMode="auto">
          <a:xfrm>
            <a:off x="548640" y="343814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2D3237"/>
                </a:solidFill>
                <a:latin typeface="Arial"/>
                <a:ea typeface="Arial"/>
                <a:cs typeface="Arial"/>
              </a:rPr>
              <a:t>🏢 Soporte Comercial</a:t>
            </a:r>
            <a:endParaRPr lang="en-US" sz="1000"/>
          </a:p>
        </p:txBody>
      </p:sp>
      <p:sp>
        <p:nvSpPr>
          <p:cNvPr id="2072146303" name="Text 22"/>
          <p:cNvSpPr/>
          <p:nvPr/>
        </p:nvSpPr>
        <p:spPr bwMode="auto">
          <a:xfrm>
            <a:off x="548640" y="369417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❌ No existe empresa</a:t>
            </a:r>
            <a:endParaRPr lang="en-US" sz="900"/>
          </a:p>
        </p:txBody>
      </p:sp>
      <p:sp>
        <p:nvSpPr>
          <p:cNvPr id="888529560" name="Text 23"/>
          <p:cNvSpPr/>
          <p:nvPr/>
        </p:nvSpPr>
        <p:spPr bwMode="auto">
          <a:xfrm>
            <a:off x="548640" y="391363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❌ No hay partners</a:t>
            </a:r>
            <a:endParaRPr lang="en-US" sz="900"/>
          </a:p>
        </p:txBody>
      </p:sp>
      <p:sp>
        <p:nvSpPr>
          <p:cNvPr id="1033535537" name="Text 24"/>
          <p:cNvSpPr/>
          <p:nvPr/>
        </p:nvSpPr>
        <p:spPr bwMode="auto">
          <a:xfrm>
            <a:off x="548640" y="413308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❌ No hay mantenimiento</a:t>
            </a:r>
            <a:endParaRPr lang="en-US" sz="900"/>
          </a:p>
        </p:txBody>
      </p:sp>
      <p:sp>
        <p:nvSpPr>
          <p:cNvPr id="377403470" name="Text 25"/>
          <p:cNvSpPr/>
          <p:nvPr/>
        </p:nvSpPr>
        <p:spPr bwMode="auto">
          <a:xfrm>
            <a:off x="3291840" y="343814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2D3237"/>
                </a:solidFill>
                <a:latin typeface="Arial"/>
                <a:ea typeface="Arial"/>
                <a:cs typeface="Arial"/>
              </a:rPr>
              <a:t>👥 Comunidad Activa</a:t>
            </a:r>
            <a:endParaRPr lang="en-US" sz="1000"/>
          </a:p>
        </p:txBody>
      </p:sp>
      <p:sp>
        <p:nvSpPr>
          <p:cNvPr id="1218905219" name="Text 26"/>
          <p:cNvSpPr/>
          <p:nvPr/>
        </p:nvSpPr>
        <p:spPr bwMode="auto">
          <a:xfrm>
            <a:off x="3291840" y="369417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❌ Sin foros activos</a:t>
            </a:r>
            <a:endParaRPr lang="en-US" sz="900"/>
          </a:p>
        </p:txBody>
      </p:sp>
      <p:sp>
        <p:nvSpPr>
          <p:cNvPr id="1523165437" name="Text 27"/>
          <p:cNvSpPr/>
          <p:nvPr/>
        </p:nvSpPr>
        <p:spPr bwMode="auto">
          <a:xfrm>
            <a:off x="3291840" y="391363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❌ GitHub no-oficial (archivado)</a:t>
            </a:r>
            <a:endParaRPr lang="en-US" sz="900"/>
          </a:p>
        </p:txBody>
      </p:sp>
      <p:sp>
        <p:nvSpPr>
          <p:cNvPr id="449597653" name="Text 28"/>
          <p:cNvSpPr/>
          <p:nvPr/>
        </p:nvSpPr>
        <p:spPr bwMode="auto">
          <a:xfrm>
            <a:off x="3291840" y="413308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❌ Sin canales modernos</a:t>
            </a:r>
            <a:endParaRPr lang="en-US" sz="900"/>
          </a:p>
        </p:txBody>
      </p:sp>
      <p:sp>
        <p:nvSpPr>
          <p:cNvPr id="1671566339" name="Text 29"/>
          <p:cNvSpPr/>
          <p:nvPr/>
        </p:nvSpPr>
        <p:spPr bwMode="auto">
          <a:xfrm>
            <a:off x="6035039" y="343814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2D3237"/>
                </a:solidFill>
                <a:latin typeface="Arial"/>
                <a:ea typeface="Arial"/>
                <a:cs typeface="Arial"/>
              </a:rPr>
              <a:t>🔒 Actualizaciones</a:t>
            </a:r>
            <a:endParaRPr lang="en-US" sz="1000"/>
          </a:p>
        </p:txBody>
      </p:sp>
      <p:sp>
        <p:nvSpPr>
          <p:cNvPr id="751997973" name="Text 30"/>
          <p:cNvSpPr/>
          <p:nvPr/>
        </p:nvSpPr>
        <p:spPr bwMode="auto">
          <a:xfrm>
            <a:off x="6035039" y="3694176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❌ Sin security patches</a:t>
            </a:r>
            <a:endParaRPr lang="en-US" sz="900"/>
          </a:p>
        </p:txBody>
      </p:sp>
      <p:sp>
        <p:nvSpPr>
          <p:cNvPr id="165056951" name="Text 31"/>
          <p:cNvSpPr/>
          <p:nvPr/>
        </p:nvSpPr>
        <p:spPr bwMode="auto">
          <a:xfrm>
            <a:off x="6035039" y="391363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❌ Sin soporte kernels modernos</a:t>
            </a:r>
            <a:endParaRPr lang="en-US" sz="900"/>
          </a:p>
        </p:txBody>
      </p:sp>
      <p:sp>
        <p:nvSpPr>
          <p:cNvPr id="637063548" name="Text 32"/>
          <p:cNvSpPr/>
          <p:nvPr/>
        </p:nvSpPr>
        <p:spPr bwMode="auto">
          <a:xfrm>
            <a:off x="6035039" y="413308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❌ Sin bug fixes</a:t>
            </a:r>
            <a:endParaRPr lang="en-US" sz="900"/>
          </a:p>
        </p:txBody>
      </p:sp>
      <p:sp>
        <p:nvSpPr>
          <p:cNvPr id="1941906436" name="Shape 33"/>
          <p:cNvSpPr/>
          <p:nvPr/>
        </p:nvSpPr>
        <p:spPr bwMode="auto">
          <a:xfrm>
            <a:off x="457200" y="4553712"/>
            <a:ext cx="8229600" cy="384048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067079126" name="Text 34"/>
          <p:cNvSpPr/>
          <p:nvPr/>
        </p:nvSpPr>
        <p:spPr bwMode="auto">
          <a:xfrm>
            <a:off x="548640" y="4553712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00">
                <a:solidFill>
                  <a:srgbClr val="2E7D32"/>
                </a:solidFill>
                <a:latin typeface="Calibri"/>
                <a:ea typeface="Calibri"/>
                <a:cs typeface="Calibri"/>
              </a:rPr>
              <a:t>💡 Valor histórico: 488+ citas académicas (paper de Columbia 1998). Útil como caso de estudio en migración de procesos.</a:t>
            </a:r>
            <a:endParaRPr lang="en-US" sz="1000"/>
          </a:p>
        </p:txBody>
      </p:sp>
      <p:sp>
        <p:nvSpPr>
          <p:cNvPr id="1250698193" name="Text 35"/>
          <p:cNvSpPr/>
          <p:nvPr/>
        </p:nvSpPr>
        <p:spPr bwMode="auto">
          <a:xfrm>
            <a:off x="457200" y="477316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endParaRPr lang="en-US" sz="8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4">
    <p:bg>
      <p:bgPr shadeToTitle="0">
        <a:solidFill>
          <a:srgbClr val="F6F7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1076284" name="Shape 0"/>
          <p:cNvSpPr/>
          <p:nvPr/>
        </p:nvSpPr>
        <p:spPr bwMode="auto">
          <a:xfrm>
            <a:off x="8503920" y="4663440"/>
            <a:ext cx="365760" cy="365760"/>
          </a:xfrm>
          <a:prstGeom prst="ellipse">
            <a:avLst/>
          </a:prstGeom>
          <a:solidFill>
            <a:srgbClr val="0070C5"/>
          </a:solidFill>
          <a:ln/>
        </p:spPr>
      </p:sp>
      <p:sp>
        <p:nvSpPr>
          <p:cNvPr id="2067102616" name="Text 1"/>
          <p:cNvSpPr/>
          <p:nvPr/>
        </p:nvSpPr>
        <p:spPr bwMode="auto"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24</a:t>
            </a:r>
            <a:endParaRPr lang="en-US" sz="1200"/>
          </a:p>
        </p:txBody>
      </p:sp>
      <p:sp>
        <p:nvSpPr>
          <p:cNvPr id="2082563467" name="Text 2"/>
          <p:cNvSpPr/>
          <p:nvPr/>
        </p:nvSpPr>
        <p:spPr bwMode="auto">
          <a:xfrm>
            <a:off x="457200" y="2743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2400" b="1">
                <a:solidFill>
                  <a:srgbClr val="2D3237"/>
                </a:solidFill>
                <a:latin typeface="Arial Black"/>
                <a:ea typeface="Arial Black"/>
                <a:cs typeface="Arial Black"/>
              </a:rPr>
              <a:t>Zephyr OS — Casos de Uso</a:t>
            </a:r>
            <a:endParaRPr lang="en-US" sz="2400"/>
          </a:p>
        </p:txBody>
      </p:sp>
      <p:sp>
        <p:nvSpPr>
          <p:cNvPr id="1409473599" name="Text 3"/>
          <p:cNvSpPr/>
          <p:nvPr/>
        </p:nvSpPr>
        <p:spPr bwMode="auto">
          <a:xfrm>
            <a:off x="457200" y="7498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200" i="1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Aplicaciones comerciales documentadas y sectores de adopción</a:t>
            </a:r>
            <a:endParaRPr lang="en-US" sz="1200"/>
          </a:p>
        </p:txBody>
      </p:sp>
      <p:sp>
        <p:nvSpPr>
          <p:cNvPr id="1213655521" name="Shape 4"/>
          <p:cNvSpPr/>
          <p:nvPr/>
        </p:nvSpPr>
        <p:spPr bwMode="auto">
          <a:xfrm>
            <a:off x="457200" y="1078992"/>
            <a:ext cx="484632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04158193" name="Shape 5"/>
          <p:cNvSpPr/>
          <p:nvPr/>
        </p:nvSpPr>
        <p:spPr bwMode="auto">
          <a:xfrm>
            <a:off x="457200" y="1078992"/>
            <a:ext cx="54864" cy="530352"/>
          </a:xfrm>
          <a:prstGeom prst="rect">
            <a:avLst/>
          </a:prstGeom>
          <a:solidFill>
            <a:srgbClr val="0070C5"/>
          </a:solidFill>
          <a:ln/>
        </p:spPr>
      </p:sp>
      <p:sp>
        <p:nvSpPr>
          <p:cNvPr id="1402409049" name="Text 6"/>
          <p:cNvSpPr/>
          <p:nvPr/>
        </p:nvSpPr>
        <p:spPr bwMode="auto">
          <a:xfrm>
            <a:off x="566928" y="115214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>
                <a:solidFill>
                  <a:srgbClr val="000000"/>
                </a:solidFill>
              </a:rPr>
              <a:t>📱</a:t>
            </a:r>
            <a:endParaRPr lang="en-US" sz="1600"/>
          </a:p>
        </p:txBody>
      </p:sp>
      <p:sp>
        <p:nvSpPr>
          <p:cNvPr id="330547135" name="Text 7"/>
          <p:cNvSpPr/>
          <p:nvPr/>
        </p:nvSpPr>
        <p:spPr bwMode="auto">
          <a:xfrm>
            <a:off x="960120" y="1124712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100" b="1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Wearables</a:t>
            </a:r>
            <a:endParaRPr lang="en-US" sz="1100"/>
          </a:p>
        </p:txBody>
      </p:sp>
      <p:sp>
        <p:nvSpPr>
          <p:cNvPr id="1044940657" name="Text 8"/>
          <p:cNvSpPr/>
          <p:nvPr/>
        </p:nvSpPr>
        <p:spPr bwMode="auto">
          <a:xfrm>
            <a:off x="960120" y="133502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8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Smartwatches, hearing aids</a:t>
            </a:r>
            <a:endParaRPr lang="en-US" sz="800"/>
          </a:p>
        </p:txBody>
      </p:sp>
      <p:sp>
        <p:nvSpPr>
          <p:cNvPr id="1225350045" name="Shape 9"/>
          <p:cNvSpPr/>
          <p:nvPr/>
        </p:nvSpPr>
        <p:spPr bwMode="auto">
          <a:xfrm>
            <a:off x="3383280" y="1188720"/>
            <a:ext cx="1783080" cy="310896"/>
          </a:xfrm>
          <a:prstGeom prst="roundRect">
            <a:avLst>
              <a:gd name="adj" fmla="val 14706"/>
            </a:avLst>
          </a:prstGeom>
          <a:solidFill>
            <a:schemeClr val="accent1">
              <a:lumMod val="20000"/>
              <a:lumOff val="80000"/>
            </a:schemeClr>
          </a:solidFill>
          <a:ln/>
        </p:spPr>
      </p:sp>
      <p:sp>
        <p:nvSpPr>
          <p:cNvPr id="211381268" name="Text 10"/>
          <p:cNvSpPr/>
          <p:nvPr/>
        </p:nvSpPr>
        <p:spPr bwMode="auto">
          <a:xfrm>
            <a:off x="3383280" y="1188720"/>
            <a:ext cx="1783080" cy="31089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0070C5"/>
                </a:solidFill>
                <a:latin typeface="Calibri"/>
                <a:ea typeface="Calibri"/>
                <a:cs typeface="Calibri"/>
              </a:rPr>
              <a:t>Oticon More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272630434" name="Shape 11"/>
          <p:cNvSpPr/>
          <p:nvPr/>
        </p:nvSpPr>
        <p:spPr bwMode="auto">
          <a:xfrm>
            <a:off x="457200" y="1682496"/>
            <a:ext cx="484632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28424025" name="Shape 12"/>
          <p:cNvSpPr/>
          <p:nvPr/>
        </p:nvSpPr>
        <p:spPr bwMode="auto">
          <a:xfrm>
            <a:off x="457200" y="1682496"/>
            <a:ext cx="54864" cy="530352"/>
          </a:xfrm>
          <a:prstGeom prst="rect">
            <a:avLst/>
          </a:prstGeom>
          <a:solidFill>
            <a:srgbClr val="0070C5"/>
          </a:solidFill>
          <a:ln/>
        </p:spPr>
      </p:sp>
      <p:sp>
        <p:nvSpPr>
          <p:cNvPr id="1849469268" name="Text 13"/>
          <p:cNvSpPr/>
          <p:nvPr/>
        </p:nvSpPr>
        <p:spPr bwMode="auto">
          <a:xfrm>
            <a:off x="566928" y="17556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>
                <a:solidFill>
                  <a:srgbClr val="000000"/>
                </a:solidFill>
              </a:rPr>
              <a:t>🏭</a:t>
            </a:r>
            <a:endParaRPr lang="en-US" sz="1600"/>
          </a:p>
        </p:txBody>
      </p:sp>
      <p:sp>
        <p:nvSpPr>
          <p:cNvPr id="1300990103" name="Text 14"/>
          <p:cNvSpPr/>
          <p:nvPr/>
        </p:nvSpPr>
        <p:spPr bwMode="auto">
          <a:xfrm>
            <a:off x="960120" y="1728216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100" b="1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Industrial</a:t>
            </a:r>
            <a:endParaRPr lang="en-US" sz="1100"/>
          </a:p>
        </p:txBody>
      </p:sp>
      <p:sp>
        <p:nvSpPr>
          <p:cNvPr id="838010397" name="Text 15"/>
          <p:cNvSpPr/>
          <p:nvPr/>
        </p:nvSpPr>
        <p:spPr bwMode="auto">
          <a:xfrm>
            <a:off x="960120" y="193852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8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Controladoras, automatización</a:t>
            </a:r>
            <a:endParaRPr lang="en-US" sz="800"/>
          </a:p>
        </p:txBody>
      </p:sp>
      <p:sp>
        <p:nvSpPr>
          <p:cNvPr id="662465991" name="Shape 16"/>
          <p:cNvSpPr/>
          <p:nvPr/>
        </p:nvSpPr>
        <p:spPr bwMode="auto">
          <a:xfrm>
            <a:off x="3383280" y="1792224"/>
            <a:ext cx="1783080" cy="310896"/>
          </a:xfrm>
          <a:prstGeom prst="roundRect">
            <a:avLst>
              <a:gd name="adj" fmla="val 14706"/>
            </a:avLst>
          </a:prstGeom>
          <a:solidFill>
            <a:schemeClr val="accent1">
              <a:lumMod val="20000"/>
              <a:lumOff val="80000"/>
            </a:schemeClr>
          </a:solidFill>
          <a:ln/>
        </p:spPr>
      </p:sp>
      <p:sp>
        <p:nvSpPr>
          <p:cNvPr id="1902184770" name="Text 17"/>
          <p:cNvSpPr/>
          <p:nvPr/>
        </p:nvSpPr>
        <p:spPr bwMode="auto">
          <a:xfrm>
            <a:off x="3383280" y="1792224"/>
            <a:ext cx="1783080" cy="31089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0070C5"/>
                </a:solidFill>
                <a:latin typeface="Calibri"/>
                <a:ea typeface="Calibri"/>
                <a:cs typeface="Calibri"/>
              </a:rPr>
              <a:t>GARDENA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779585613" name="Shape 18"/>
          <p:cNvSpPr/>
          <p:nvPr/>
        </p:nvSpPr>
        <p:spPr bwMode="auto">
          <a:xfrm>
            <a:off x="457200" y="2286000"/>
            <a:ext cx="484632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22743164" name="Shape 19"/>
          <p:cNvSpPr/>
          <p:nvPr/>
        </p:nvSpPr>
        <p:spPr bwMode="auto">
          <a:xfrm>
            <a:off x="457200" y="2286000"/>
            <a:ext cx="54864" cy="530352"/>
          </a:xfrm>
          <a:prstGeom prst="rect">
            <a:avLst/>
          </a:prstGeom>
          <a:solidFill>
            <a:srgbClr val="0070C5"/>
          </a:solidFill>
          <a:ln/>
        </p:spPr>
      </p:sp>
      <p:sp>
        <p:nvSpPr>
          <p:cNvPr id="913392477" name="Text 20"/>
          <p:cNvSpPr/>
          <p:nvPr/>
        </p:nvSpPr>
        <p:spPr bwMode="auto">
          <a:xfrm>
            <a:off x="566928" y="23591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>
                <a:solidFill>
                  <a:srgbClr val="000000"/>
                </a:solidFill>
              </a:rPr>
              <a:t>🏥</a:t>
            </a:r>
            <a:endParaRPr lang="en-US" sz="1600"/>
          </a:p>
        </p:txBody>
      </p:sp>
      <p:sp>
        <p:nvSpPr>
          <p:cNvPr id="1346518961" name="Text 21"/>
          <p:cNvSpPr/>
          <p:nvPr/>
        </p:nvSpPr>
        <p:spPr bwMode="auto">
          <a:xfrm>
            <a:off x="960120" y="2331720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100" b="1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Médico</a:t>
            </a:r>
            <a:endParaRPr lang="en-US" sz="1100"/>
          </a:p>
        </p:txBody>
      </p:sp>
      <p:sp>
        <p:nvSpPr>
          <p:cNvPr id="591314003" name="Text 22"/>
          <p:cNvSpPr/>
          <p:nvPr/>
        </p:nvSpPr>
        <p:spPr bwMode="auto">
          <a:xfrm>
            <a:off x="960120" y="254203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8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ECG monitors, dispositivos salud</a:t>
            </a:r>
            <a:endParaRPr lang="en-US" sz="800"/>
          </a:p>
        </p:txBody>
      </p:sp>
      <p:sp>
        <p:nvSpPr>
          <p:cNvPr id="1036561956" name="Shape 23"/>
          <p:cNvSpPr/>
          <p:nvPr/>
        </p:nvSpPr>
        <p:spPr bwMode="auto">
          <a:xfrm>
            <a:off x="3383280" y="2395728"/>
            <a:ext cx="1783080" cy="310896"/>
          </a:xfrm>
          <a:prstGeom prst="roundRect">
            <a:avLst>
              <a:gd name="adj" fmla="val 14706"/>
            </a:avLst>
          </a:prstGeom>
          <a:solidFill>
            <a:schemeClr val="accent1">
              <a:lumMod val="20000"/>
              <a:lumOff val="80000"/>
            </a:schemeClr>
          </a:solidFill>
          <a:ln/>
        </p:spPr>
      </p:sp>
      <p:sp>
        <p:nvSpPr>
          <p:cNvPr id="728239315" name="Text 24"/>
          <p:cNvSpPr/>
          <p:nvPr/>
        </p:nvSpPr>
        <p:spPr bwMode="auto">
          <a:xfrm>
            <a:off x="3383280" y="2395728"/>
            <a:ext cx="1783080" cy="31089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0070C5"/>
                </a:solidFill>
                <a:latin typeface="Calibri"/>
                <a:ea typeface="Calibri"/>
                <a:cs typeface="Calibri"/>
              </a:rPr>
              <a:t>HealthyPi</a:t>
            </a:r>
            <a:r>
              <a:rPr lang="en-US" sz="1000" b="1">
                <a:solidFill>
                  <a:srgbClr val="0070C5"/>
                </a:solidFill>
                <a:latin typeface="Calibri"/>
                <a:ea typeface="Calibri"/>
                <a:cs typeface="Calibri"/>
              </a:rPr>
              <a:t> Move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1074099900" name="Shape 25"/>
          <p:cNvSpPr/>
          <p:nvPr/>
        </p:nvSpPr>
        <p:spPr bwMode="auto">
          <a:xfrm>
            <a:off x="457200" y="2889504"/>
            <a:ext cx="484632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63493292" name="Shape 26"/>
          <p:cNvSpPr/>
          <p:nvPr/>
        </p:nvSpPr>
        <p:spPr bwMode="auto">
          <a:xfrm>
            <a:off x="457200" y="2889504"/>
            <a:ext cx="54864" cy="530352"/>
          </a:xfrm>
          <a:prstGeom prst="rect">
            <a:avLst/>
          </a:prstGeom>
          <a:solidFill>
            <a:srgbClr val="0070C5"/>
          </a:solidFill>
          <a:ln/>
        </p:spPr>
      </p:sp>
      <p:sp>
        <p:nvSpPr>
          <p:cNvPr id="1970913687" name="Text 27"/>
          <p:cNvSpPr/>
          <p:nvPr/>
        </p:nvSpPr>
        <p:spPr bwMode="auto">
          <a:xfrm>
            <a:off x="566928" y="29626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>
                <a:solidFill>
                  <a:srgbClr val="000000"/>
                </a:solidFill>
              </a:rPr>
              <a:t>🚗</a:t>
            </a:r>
            <a:endParaRPr lang="en-US" sz="1600"/>
          </a:p>
        </p:txBody>
      </p:sp>
      <p:sp>
        <p:nvSpPr>
          <p:cNvPr id="1888203817" name="Text 28"/>
          <p:cNvSpPr/>
          <p:nvPr/>
        </p:nvSpPr>
        <p:spPr bwMode="auto">
          <a:xfrm>
            <a:off x="960120" y="2935224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100" b="1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Transporte</a:t>
            </a:r>
            <a:endParaRPr lang="en-US" sz="1100"/>
          </a:p>
        </p:txBody>
      </p:sp>
      <p:sp>
        <p:nvSpPr>
          <p:cNvPr id="1605021885" name="Text 29"/>
          <p:cNvSpPr/>
          <p:nvPr/>
        </p:nvSpPr>
        <p:spPr bwMode="auto">
          <a:xfrm>
            <a:off x="960120" y="314553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8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Scooters, GPS trackers, cerraduras BLE</a:t>
            </a:r>
            <a:endParaRPr lang="en-US" sz="800"/>
          </a:p>
        </p:txBody>
      </p:sp>
      <p:sp>
        <p:nvSpPr>
          <p:cNvPr id="1899180336" name="Shape 30"/>
          <p:cNvSpPr/>
          <p:nvPr/>
        </p:nvSpPr>
        <p:spPr bwMode="auto">
          <a:xfrm>
            <a:off x="3383280" y="2999232"/>
            <a:ext cx="1783080" cy="310896"/>
          </a:xfrm>
          <a:prstGeom prst="roundRect">
            <a:avLst>
              <a:gd name="adj" fmla="val 14706"/>
            </a:avLst>
          </a:prstGeom>
          <a:solidFill>
            <a:schemeClr val="accent1">
              <a:lumMod val="20000"/>
              <a:lumOff val="80000"/>
            </a:schemeClr>
          </a:solidFill>
          <a:ln/>
        </p:spPr>
      </p:sp>
      <p:sp>
        <p:nvSpPr>
          <p:cNvPr id="1093733657" name="Text 31"/>
          <p:cNvSpPr/>
          <p:nvPr/>
        </p:nvSpPr>
        <p:spPr bwMode="auto">
          <a:xfrm>
            <a:off x="3383280" y="2999232"/>
            <a:ext cx="1783080" cy="31089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0070C5"/>
                </a:solidFill>
                <a:latin typeface="Calibri"/>
                <a:ea typeface="Calibri"/>
                <a:cs typeface="Calibri"/>
              </a:rPr>
              <a:t>Various OEM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420015557" name="Shape 32"/>
          <p:cNvSpPr/>
          <p:nvPr/>
        </p:nvSpPr>
        <p:spPr bwMode="auto">
          <a:xfrm>
            <a:off x="457200" y="3493008"/>
            <a:ext cx="484632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31134736" name="Shape 33"/>
          <p:cNvSpPr/>
          <p:nvPr/>
        </p:nvSpPr>
        <p:spPr bwMode="auto">
          <a:xfrm>
            <a:off x="457200" y="3493008"/>
            <a:ext cx="54864" cy="530352"/>
          </a:xfrm>
          <a:prstGeom prst="rect">
            <a:avLst/>
          </a:prstGeom>
          <a:solidFill>
            <a:srgbClr val="0070C5"/>
          </a:solidFill>
          <a:ln/>
        </p:spPr>
      </p:sp>
      <p:sp>
        <p:nvSpPr>
          <p:cNvPr id="1815169132" name="Text 34"/>
          <p:cNvSpPr/>
          <p:nvPr/>
        </p:nvSpPr>
        <p:spPr bwMode="auto">
          <a:xfrm>
            <a:off x="566928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>
                <a:solidFill>
                  <a:srgbClr val="000000"/>
                </a:solidFill>
              </a:rPr>
              <a:t>⚡</a:t>
            </a:r>
            <a:endParaRPr lang="en-US" sz="1600"/>
          </a:p>
        </p:txBody>
      </p:sp>
      <p:sp>
        <p:nvSpPr>
          <p:cNvPr id="780983161" name="Text 35"/>
          <p:cNvSpPr/>
          <p:nvPr/>
        </p:nvSpPr>
        <p:spPr bwMode="auto">
          <a:xfrm>
            <a:off x="960120" y="3538728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100" b="1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Energía</a:t>
            </a:r>
            <a:endParaRPr lang="en-US" sz="1100"/>
          </a:p>
        </p:txBody>
      </p:sp>
      <p:sp>
        <p:nvSpPr>
          <p:cNvPr id="1843557269" name="Text 36"/>
          <p:cNvSpPr/>
          <p:nvPr/>
        </p:nvSpPr>
        <p:spPr bwMode="auto">
          <a:xfrm>
            <a:off x="960120" y="374904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8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Turbinas eólicas, paneles solares</a:t>
            </a:r>
            <a:endParaRPr lang="en-US" sz="800"/>
          </a:p>
        </p:txBody>
      </p:sp>
      <p:sp>
        <p:nvSpPr>
          <p:cNvPr id="1583405224" name="Shape 37"/>
          <p:cNvSpPr/>
          <p:nvPr/>
        </p:nvSpPr>
        <p:spPr bwMode="auto">
          <a:xfrm>
            <a:off x="3383280" y="3602735"/>
            <a:ext cx="1783080" cy="310896"/>
          </a:xfrm>
          <a:prstGeom prst="roundRect">
            <a:avLst>
              <a:gd name="adj" fmla="val 14706"/>
            </a:avLst>
          </a:prstGeom>
          <a:solidFill>
            <a:schemeClr val="accent1">
              <a:lumMod val="20000"/>
              <a:lumOff val="80000"/>
            </a:schemeClr>
          </a:solidFill>
          <a:ln/>
        </p:spPr>
      </p:sp>
      <p:sp>
        <p:nvSpPr>
          <p:cNvPr id="891760220" name="Text 38"/>
          <p:cNvSpPr/>
          <p:nvPr/>
        </p:nvSpPr>
        <p:spPr bwMode="auto">
          <a:xfrm>
            <a:off x="3383280" y="3602735"/>
            <a:ext cx="1783080" cy="31089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0070C5"/>
                </a:solidFill>
                <a:latin typeface="Calibri"/>
                <a:ea typeface="Calibri"/>
                <a:cs typeface="Calibri"/>
              </a:rPr>
              <a:t>Vestas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646786023" name="Shape 39"/>
          <p:cNvSpPr/>
          <p:nvPr/>
        </p:nvSpPr>
        <p:spPr bwMode="auto">
          <a:xfrm>
            <a:off x="457200" y="4096512"/>
            <a:ext cx="4846320" cy="530352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1771398" name="Shape 40"/>
          <p:cNvSpPr/>
          <p:nvPr/>
        </p:nvSpPr>
        <p:spPr bwMode="auto">
          <a:xfrm>
            <a:off x="457200" y="4096512"/>
            <a:ext cx="54864" cy="530352"/>
          </a:xfrm>
          <a:prstGeom prst="rect">
            <a:avLst/>
          </a:prstGeom>
          <a:solidFill>
            <a:srgbClr val="0070C5"/>
          </a:solidFill>
          <a:ln/>
        </p:spPr>
      </p:sp>
      <p:sp>
        <p:nvSpPr>
          <p:cNvPr id="946108132" name="Text 41"/>
          <p:cNvSpPr/>
          <p:nvPr/>
        </p:nvSpPr>
        <p:spPr bwMode="auto">
          <a:xfrm>
            <a:off x="566928" y="41696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600">
                <a:solidFill>
                  <a:srgbClr val="000000"/>
                </a:solidFill>
              </a:rPr>
              <a:t>💻</a:t>
            </a:r>
            <a:endParaRPr lang="en-US" sz="1600"/>
          </a:p>
        </p:txBody>
      </p:sp>
      <p:sp>
        <p:nvSpPr>
          <p:cNvPr id="328103914" name="Text 42"/>
          <p:cNvSpPr/>
          <p:nvPr/>
        </p:nvSpPr>
        <p:spPr bwMode="auto">
          <a:xfrm>
            <a:off x="960120" y="4142232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100" b="1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Consumer</a:t>
            </a:r>
            <a:endParaRPr lang="en-US" sz="1100"/>
          </a:p>
        </p:txBody>
      </p:sp>
      <p:sp>
        <p:nvSpPr>
          <p:cNvPr id="1699098087" name="Text 43"/>
          <p:cNvSpPr/>
          <p:nvPr/>
        </p:nvSpPr>
        <p:spPr bwMode="auto">
          <a:xfrm>
            <a:off x="960120" y="435254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8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Framework Laptop 13 DIY</a:t>
            </a:r>
            <a:endParaRPr lang="en-US" sz="800"/>
          </a:p>
        </p:txBody>
      </p:sp>
      <p:sp>
        <p:nvSpPr>
          <p:cNvPr id="138677813" name="Shape 44"/>
          <p:cNvSpPr/>
          <p:nvPr/>
        </p:nvSpPr>
        <p:spPr bwMode="auto">
          <a:xfrm>
            <a:off x="3383280" y="4206240"/>
            <a:ext cx="1783080" cy="310896"/>
          </a:xfrm>
          <a:prstGeom prst="roundRect">
            <a:avLst>
              <a:gd name="adj" fmla="val 14706"/>
            </a:avLst>
          </a:prstGeom>
          <a:solidFill>
            <a:schemeClr val="accent1">
              <a:lumMod val="20000"/>
              <a:lumOff val="80000"/>
            </a:schemeClr>
          </a:solidFill>
          <a:ln/>
        </p:spPr>
      </p:sp>
      <p:sp>
        <p:nvSpPr>
          <p:cNvPr id="589617522" name="Text 45"/>
          <p:cNvSpPr/>
          <p:nvPr/>
        </p:nvSpPr>
        <p:spPr bwMode="auto">
          <a:xfrm>
            <a:off x="3383280" y="4206240"/>
            <a:ext cx="1783080" cy="31089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0070C5"/>
                </a:solidFill>
                <a:latin typeface="Calibri"/>
                <a:ea typeface="Calibri"/>
                <a:cs typeface="Calibri"/>
              </a:rPr>
              <a:t>Laptop DIY</a:t>
            </a:r>
            <a:endParaRPr lang="en-US" sz="800">
              <a:latin typeface="Calibri"/>
              <a:ea typeface="Calibri"/>
              <a:cs typeface="Calibri"/>
            </a:endParaRPr>
          </a:p>
        </p:txBody>
      </p:sp>
      <p:sp>
        <p:nvSpPr>
          <p:cNvPr id="1175161311" name="Shape 51"/>
          <p:cNvSpPr/>
          <p:nvPr/>
        </p:nvSpPr>
        <p:spPr bwMode="auto">
          <a:xfrm>
            <a:off x="5433956" y="4026856"/>
            <a:ext cx="3154680" cy="594360"/>
          </a:xfrm>
          <a:prstGeom prst="rect">
            <a:avLst/>
          </a:prstGeom>
          <a:solidFill>
            <a:srgbClr val="0070C5"/>
          </a:solidFill>
          <a:ln/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12923051" name="Text 52"/>
          <p:cNvSpPr/>
          <p:nvPr/>
        </p:nvSpPr>
        <p:spPr bwMode="auto">
          <a:xfrm>
            <a:off x="5433956" y="4026856"/>
            <a:ext cx="3154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IoT Embebido</a:t>
            </a:r>
            <a:endParaRPr lang="en-US" sz="1200"/>
          </a:p>
        </p:txBody>
      </p:sp>
      <p:sp>
        <p:nvSpPr>
          <p:cNvPr id="1023272643" name="Text 53"/>
          <p:cNvSpPr/>
          <p:nvPr/>
        </p:nvSpPr>
        <p:spPr bwMode="auto">
          <a:xfrm>
            <a:off x="5433956" y="4282888"/>
            <a:ext cx="315468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Recursos</a:t>
            </a:r>
            <a:r>
              <a:rPr lang="en-US" sz="10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0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limitados</a:t>
            </a:r>
            <a:r>
              <a:rPr lang="en-US" sz="10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~4KB flash</a:t>
            </a:r>
            <a:endParaRPr lang="en-US" sz="10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57833341" name="Text 54"/>
          <p:cNvSpPr/>
          <p:nvPr/>
        </p:nvSpPr>
        <p:spPr bwMode="auto"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endParaRPr lang="en-US" sz="900"/>
          </a:p>
        </p:txBody>
      </p:sp>
      <p:pic>
        <p:nvPicPr>
          <p:cNvPr id="1449320078" name="Imagen 56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216027" y="1344706"/>
            <a:ext cx="1368239" cy="968189"/>
          </a:xfrm>
          <a:prstGeom prst="rect">
            <a:avLst/>
          </a:prstGeom>
        </p:spPr>
      </p:pic>
      <p:pic>
        <p:nvPicPr>
          <p:cNvPr id="252533068" name="Imagen 57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>
            <a:off x="5416133" y="2333065"/>
            <a:ext cx="1048207" cy="1573306"/>
          </a:xfrm>
          <a:prstGeom prst="rect">
            <a:avLst/>
          </a:prstGeom>
        </p:spPr>
      </p:pic>
      <p:pic>
        <p:nvPicPr>
          <p:cNvPr id="246616575" name="Imagen 58" descr="Una pantalla de una laptop&#10;&#10;El contenido generado por IA puede ser incorrecto.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5433879" y="1069042"/>
            <a:ext cx="1698518" cy="1035424"/>
          </a:xfrm>
          <a:prstGeom prst="rect">
            <a:avLst/>
          </a:prstGeom>
        </p:spPr>
      </p:pic>
      <p:pic>
        <p:nvPicPr>
          <p:cNvPr id="1038582442" name="Imagen 59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>
            <a:off x="6619315" y="2484344"/>
            <a:ext cx="1963271" cy="13245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5">
    <p:bg>
      <p:bgPr shadeToTitle="0">
        <a:solidFill>
          <a:srgbClr val="F6F7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9296288" name="Shape 0"/>
          <p:cNvSpPr/>
          <p:nvPr/>
        </p:nvSpPr>
        <p:spPr bwMode="auto">
          <a:xfrm>
            <a:off x="8503920" y="4663440"/>
            <a:ext cx="365760" cy="365760"/>
          </a:xfrm>
          <a:prstGeom prst="ellipse">
            <a:avLst/>
          </a:prstGeom>
          <a:solidFill>
            <a:srgbClr val="4C5155"/>
          </a:solidFill>
          <a:ln/>
        </p:spPr>
      </p:sp>
      <p:sp>
        <p:nvSpPr>
          <p:cNvPr id="421340679" name="Text 1"/>
          <p:cNvSpPr/>
          <p:nvPr/>
        </p:nvSpPr>
        <p:spPr bwMode="auto"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25</a:t>
            </a:r>
            <a:endParaRPr lang="en-US" sz="1200"/>
          </a:p>
        </p:txBody>
      </p:sp>
      <p:sp>
        <p:nvSpPr>
          <p:cNvPr id="1891456928" name="Text 2"/>
          <p:cNvSpPr/>
          <p:nvPr/>
        </p:nvSpPr>
        <p:spPr bwMode="auto">
          <a:xfrm>
            <a:off x="457200" y="2743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2400" b="1">
                <a:solidFill>
                  <a:srgbClr val="2D3237"/>
                </a:solidFill>
                <a:latin typeface="Arial Black"/>
                <a:ea typeface="Arial Black"/>
                <a:cs typeface="Arial Black"/>
              </a:rPr>
              <a:t>MOSIX — Casos de Uso</a:t>
            </a:r>
            <a:endParaRPr lang="en-US" sz="2400"/>
          </a:p>
        </p:txBody>
      </p:sp>
      <p:sp>
        <p:nvSpPr>
          <p:cNvPr id="1322068519" name="Text 3"/>
          <p:cNvSpPr/>
          <p:nvPr/>
        </p:nvSpPr>
        <p:spPr bwMode="auto">
          <a:xfrm>
            <a:off x="457200" y="7498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200" i="1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Contexto histórico y estado actual del proyecto</a:t>
            </a:r>
            <a:endParaRPr lang="en-US" sz="1200"/>
          </a:p>
        </p:txBody>
      </p:sp>
      <p:sp>
        <p:nvSpPr>
          <p:cNvPr id="1910533275" name="Shape 4"/>
          <p:cNvSpPr/>
          <p:nvPr/>
        </p:nvSpPr>
        <p:spPr bwMode="auto">
          <a:xfrm>
            <a:off x="457200" y="1051560"/>
            <a:ext cx="8229600" cy="411480"/>
          </a:xfrm>
          <a:prstGeom prst="rect">
            <a:avLst/>
          </a:prstGeom>
          <a:solidFill>
            <a:srgbClr val="FFEBEE"/>
          </a:solidFill>
          <a:ln w="25400">
            <a:solidFill>
              <a:srgbClr val="C62828"/>
            </a:solidFill>
            <a:prstDash val="solid"/>
          </a:ln>
        </p:spPr>
      </p:sp>
      <p:sp>
        <p:nvSpPr>
          <p:cNvPr id="1177557321" name="Text 5"/>
          <p:cNvSpPr/>
          <p:nvPr/>
        </p:nvSpPr>
        <p:spPr bwMode="auto"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⚠ PROYECTO INACTIVO DESDE 2017 — NO RECOMENDADO PARA PRODUCCIÓN ACTUAL</a:t>
            </a:r>
            <a:endParaRPr lang="en-US" sz="1100"/>
          </a:p>
        </p:txBody>
      </p:sp>
      <p:sp>
        <p:nvSpPr>
          <p:cNvPr id="2036385904" name="Text 6"/>
          <p:cNvSpPr/>
          <p:nvPr/>
        </p:nvSpPr>
        <p:spPr bwMode="auto">
          <a:xfrm>
            <a:off x="457200" y="153619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00" b="1" spc="100">
                <a:solidFill>
                  <a:srgbClr val="4C5155"/>
                </a:solidFill>
                <a:latin typeface="Arial"/>
                <a:ea typeface="Arial"/>
                <a:cs typeface="Arial"/>
              </a:rPr>
              <a:t>CASOS DE USO HISTÓRICOS (1990s-2000s)</a:t>
            </a:r>
            <a:endParaRPr lang="en-US" sz="1000"/>
          </a:p>
        </p:txBody>
      </p:sp>
      <p:sp>
        <p:nvSpPr>
          <p:cNvPr id="1967728119" name="Shape 7"/>
          <p:cNvSpPr/>
          <p:nvPr/>
        </p:nvSpPr>
        <p:spPr bwMode="auto">
          <a:xfrm>
            <a:off x="530352" y="1920240"/>
            <a:ext cx="109728" cy="109728"/>
          </a:xfrm>
          <a:prstGeom prst="ellipse">
            <a:avLst/>
          </a:prstGeom>
          <a:solidFill>
            <a:srgbClr val="4C5155"/>
          </a:solidFill>
          <a:ln/>
        </p:spPr>
      </p:sp>
      <p:sp>
        <p:nvSpPr>
          <p:cNvPr id="1401927336" name="Shape 8"/>
          <p:cNvSpPr/>
          <p:nvPr/>
        </p:nvSpPr>
        <p:spPr bwMode="auto">
          <a:xfrm>
            <a:off x="576072" y="2029968"/>
            <a:ext cx="18288" cy="384048"/>
          </a:xfrm>
          <a:prstGeom prst="rect">
            <a:avLst/>
          </a:prstGeom>
          <a:solidFill>
            <a:srgbClr val="D1D3D5"/>
          </a:solidFill>
          <a:ln/>
        </p:spPr>
      </p:sp>
      <p:sp>
        <p:nvSpPr>
          <p:cNvPr id="120476594" name="Text 9"/>
          <p:cNvSpPr/>
          <p:nvPr/>
        </p:nvSpPr>
        <p:spPr bwMode="auto">
          <a:xfrm>
            <a:off x="731520" y="182880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HPC Clusters</a:t>
            </a:r>
            <a:endParaRPr lang="en-US" sz="1000"/>
          </a:p>
        </p:txBody>
      </p:sp>
      <p:sp>
        <p:nvSpPr>
          <p:cNvPr id="711220037" name="Text 10"/>
          <p:cNvSpPr/>
          <p:nvPr/>
        </p:nvSpPr>
        <p:spPr bwMode="auto">
          <a:xfrm>
            <a:off x="731520" y="2011680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8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Investigación científica computacional</a:t>
            </a:r>
            <a:endParaRPr lang="en-US" sz="800"/>
          </a:p>
        </p:txBody>
      </p:sp>
      <p:sp>
        <p:nvSpPr>
          <p:cNvPr id="1965823526" name="Shape 11"/>
          <p:cNvSpPr/>
          <p:nvPr/>
        </p:nvSpPr>
        <p:spPr bwMode="auto">
          <a:xfrm>
            <a:off x="530352" y="2304288"/>
            <a:ext cx="109728" cy="109728"/>
          </a:xfrm>
          <a:prstGeom prst="ellipse">
            <a:avLst/>
          </a:prstGeom>
          <a:solidFill>
            <a:srgbClr val="4C5155"/>
          </a:solidFill>
          <a:ln/>
        </p:spPr>
      </p:sp>
      <p:sp>
        <p:nvSpPr>
          <p:cNvPr id="1761176857" name="Shape 12"/>
          <p:cNvSpPr/>
          <p:nvPr/>
        </p:nvSpPr>
        <p:spPr bwMode="auto">
          <a:xfrm>
            <a:off x="576072" y="2414016"/>
            <a:ext cx="18288" cy="384048"/>
          </a:xfrm>
          <a:prstGeom prst="rect">
            <a:avLst/>
          </a:prstGeom>
          <a:solidFill>
            <a:srgbClr val="D1D3D5"/>
          </a:solidFill>
          <a:ln/>
        </p:spPr>
      </p:sp>
      <p:sp>
        <p:nvSpPr>
          <p:cNvPr id="1882311300" name="Text 13"/>
          <p:cNvSpPr/>
          <p:nvPr/>
        </p:nvSpPr>
        <p:spPr bwMode="auto">
          <a:xfrm>
            <a:off x="731520" y="221284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University Grids</a:t>
            </a:r>
            <a:endParaRPr lang="en-US" sz="1000"/>
          </a:p>
        </p:txBody>
      </p:sp>
      <p:sp>
        <p:nvSpPr>
          <p:cNvPr id="829500033" name="Text 14"/>
          <p:cNvSpPr/>
          <p:nvPr/>
        </p:nvSpPr>
        <p:spPr bwMode="auto">
          <a:xfrm>
            <a:off x="731520" y="2395728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8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Grids computacionales académicos</a:t>
            </a:r>
            <a:endParaRPr lang="en-US" sz="800"/>
          </a:p>
        </p:txBody>
      </p:sp>
      <p:sp>
        <p:nvSpPr>
          <p:cNvPr id="142401287" name="Shape 15"/>
          <p:cNvSpPr/>
          <p:nvPr/>
        </p:nvSpPr>
        <p:spPr bwMode="auto">
          <a:xfrm>
            <a:off x="530352" y="2688336"/>
            <a:ext cx="109728" cy="109728"/>
          </a:xfrm>
          <a:prstGeom prst="ellipse">
            <a:avLst/>
          </a:prstGeom>
          <a:solidFill>
            <a:srgbClr val="4C5155"/>
          </a:solidFill>
          <a:ln/>
        </p:spPr>
      </p:sp>
      <p:sp>
        <p:nvSpPr>
          <p:cNvPr id="181157886" name="Shape 16"/>
          <p:cNvSpPr/>
          <p:nvPr/>
        </p:nvSpPr>
        <p:spPr bwMode="auto">
          <a:xfrm>
            <a:off x="576072" y="2798064"/>
            <a:ext cx="18288" cy="384048"/>
          </a:xfrm>
          <a:prstGeom prst="rect">
            <a:avLst/>
          </a:prstGeom>
          <a:solidFill>
            <a:srgbClr val="D1D3D5"/>
          </a:solidFill>
          <a:ln/>
        </p:spPr>
      </p:sp>
      <p:sp>
        <p:nvSpPr>
          <p:cNvPr id="1880545539" name="Text 17"/>
          <p:cNvSpPr/>
          <p:nvPr/>
        </p:nvSpPr>
        <p:spPr bwMode="auto">
          <a:xfrm>
            <a:off x="731520" y="259689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Genomics/Proteomics</a:t>
            </a:r>
            <a:endParaRPr lang="en-US" sz="1000"/>
          </a:p>
        </p:txBody>
      </p:sp>
      <p:sp>
        <p:nvSpPr>
          <p:cNvPr id="601492900" name="Text 18"/>
          <p:cNvSpPr/>
          <p:nvPr/>
        </p:nvSpPr>
        <p:spPr bwMode="auto">
          <a:xfrm>
            <a:off x="731520" y="2779776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8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Procesamiento de secuencias genéticas</a:t>
            </a:r>
            <a:endParaRPr lang="en-US" sz="800"/>
          </a:p>
        </p:txBody>
      </p:sp>
      <p:sp>
        <p:nvSpPr>
          <p:cNvPr id="1607452694" name="Shape 19"/>
          <p:cNvSpPr/>
          <p:nvPr/>
        </p:nvSpPr>
        <p:spPr bwMode="auto">
          <a:xfrm>
            <a:off x="530352" y="3072384"/>
            <a:ext cx="109728" cy="109728"/>
          </a:xfrm>
          <a:prstGeom prst="ellipse">
            <a:avLst/>
          </a:prstGeom>
          <a:solidFill>
            <a:srgbClr val="4C5155"/>
          </a:solidFill>
          <a:ln/>
        </p:spPr>
      </p:sp>
      <p:sp>
        <p:nvSpPr>
          <p:cNvPr id="667658200" name="Shape 20"/>
          <p:cNvSpPr/>
          <p:nvPr/>
        </p:nvSpPr>
        <p:spPr bwMode="auto">
          <a:xfrm>
            <a:off x="576072" y="3182112"/>
            <a:ext cx="18288" cy="384048"/>
          </a:xfrm>
          <a:prstGeom prst="rect">
            <a:avLst/>
          </a:prstGeom>
          <a:solidFill>
            <a:srgbClr val="D1D3D5"/>
          </a:solidFill>
          <a:ln/>
        </p:spPr>
      </p:sp>
      <p:sp>
        <p:nvSpPr>
          <p:cNvPr id="728431034" name="Text 21"/>
          <p:cNvSpPr/>
          <p:nvPr/>
        </p:nvSpPr>
        <p:spPr bwMode="auto">
          <a:xfrm>
            <a:off x="731520" y="298094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Molecular Dynamics</a:t>
            </a:r>
            <a:endParaRPr lang="en-US" sz="1000"/>
          </a:p>
        </p:txBody>
      </p:sp>
      <p:sp>
        <p:nvSpPr>
          <p:cNvPr id="1500639668" name="Text 22"/>
          <p:cNvSpPr/>
          <p:nvPr/>
        </p:nvSpPr>
        <p:spPr bwMode="auto">
          <a:xfrm>
            <a:off x="731520" y="3163824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8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Simulaciones de dinámica molecular</a:t>
            </a:r>
            <a:endParaRPr lang="en-US" sz="800"/>
          </a:p>
        </p:txBody>
      </p:sp>
      <p:sp>
        <p:nvSpPr>
          <p:cNvPr id="1723196674" name="Shape 23"/>
          <p:cNvSpPr/>
          <p:nvPr/>
        </p:nvSpPr>
        <p:spPr bwMode="auto">
          <a:xfrm>
            <a:off x="530352" y="3456432"/>
            <a:ext cx="109728" cy="109728"/>
          </a:xfrm>
          <a:prstGeom prst="ellipse">
            <a:avLst/>
          </a:prstGeom>
          <a:solidFill>
            <a:srgbClr val="4C5155"/>
          </a:solidFill>
          <a:ln/>
        </p:spPr>
      </p:sp>
      <p:sp>
        <p:nvSpPr>
          <p:cNvPr id="1726823493" name="Shape 24"/>
          <p:cNvSpPr/>
          <p:nvPr/>
        </p:nvSpPr>
        <p:spPr bwMode="auto">
          <a:xfrm>
            <a:off x="576072" y="3566160"/>
            <a:ext cx="18288" cy="384048"/>
          </a:xfrm>
          <a:prstGeom prst="rect">
            <a:avLst/>
          </a:prstGeom>
          <a:solidFill>
            <a:srgbClr val="D1D3D5"/>
          </a:solidFill>
          <a:ln/>
        </p:spPr>
      </p:sp>
      <p:sp>
        <p:nvSpPr>
          <p:cNvPr id="658668682" name="Text 25"/>
          <p:cNvSpPr/>
          <p:nvPr/>
        </p:nvSpPr>
        <p:spPr bwMode="auto">
          <a:xfrm>
            <a:off x="731520" y="336499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Weather Prediction</a:t>
            </a:r>
            <a:endParaRPr lang="en-US" sz="1000"/>
          </a:p>
        </p:txBody>
      </p:sp>
      <p:sp>
        <p:nvSpPr>
          <p:cNvPr id="635124384" name="Text 26"/>
          <p:cNvSpPr/>
          <p:nvPr/>
        </p:nvSpPr>
        <p:spPr bwMode="auto">
          <a:xfrm>
            <a:off x="731520" y="354787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8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Predicción meteorológica</a:t>
            </a:r>
            <a:endParaRPr lang="en-US" sz="800"/>
          </a:p>
        </p:txBody>
      </p:sp>
      <p:sp>
        <p:nvSpPr>
          <p:cNvPr id="1113063551" name="Shape 27"/>
          <p:cNvSpPr/>
          <p:nvPr/>
        </p:nvSpPr>
        <p:spPr bwMode="auto">
          <a:xfrm>
            <a:off x="530352" y="3840480"/>
            <a:ext cx="109728" cy="109728"/>
          </a:xfrm>
          <a:prstGeom prst="ellipse">
            <a:avLst/>
          </a:prstGeom>
          <a:solidFill>
            <a:srgbClr val="4C5155"/>
          </a:solidFill>
          <a:ln/>
        </p:spPr>
      </p:sp>
      <p:sp>
        <p:nvSpPr>
          <p:cNvPr id="2119810346" name="Text 28"/>
          <p:cNvSpPr/>
          <p:nvPr/>
        </p:nvSpPr>
        <p:spPr bwMode="auto">
          <a:xfrm>
            <a:off x="731520" y="374904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Nanotechnology</a:t>
            </a:r>
            <a:endParaRPr lang="en-US" sz="1000"/>
          </a:p>
        </p:txBody>
      </p:sp>
      <p:sp>
        <p:nvSpPr>
          <p:cNvPr id="608277266" name="Text 29"/>
          <p:cNvSpPr/>
          <p:nvPr/>
        </p:nvSpPr>
        <p:spPr bwMode="auto">
          <a:xfrm>
            <a:off x="731520" y="3931920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8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Simulaciones a escala nanométrica</a:t>
            </a:r>
            <a:endParaRPr lang="en-US" sz="800"/>
          </a:p>
        </p:txBody>
      </p:sp>
      <p:sp>
        <p:nvSpPr>
          <p:cNvPr id="1380419606" name="Shape 30"/>
          <p:cNvSpPr/>
          <p:nvPr/>
        </p:nvSpPr>
        <p:spPr bwMode="auto">
          <a:xfrm>
            <a:off x="4572000" y="1536192"/>
            <a:ext cx="4114800" cy="141732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59181265" name="Shape 31"/>
          <p:cNvSpPr/>
          <p:nvPr/>
        </p:nvSpPr>
        <p:spPr bwMode="auto">
          <a:xfrm>
            <a:off x="4572000" y="1536192"/>
            <a:ext cx="4114800" cy="274320"/>
          </a:xfrm>
          <a:prstGeom prst="rect">
            <a:avLst/>
          </a:prstGeom>
          <a:solidFill>
            <a:srgbClr val="4C5155"/>
          </a:solidFill>
          <a:ln/>
        </p:spPr>
      </p:sp>
      <p:sp>
        <p:nvSpPr>
          <p:cNvPr id="649848386" name="Text 32"/>
          <p:cNvSpPr/>
          <p:nvPr/>
        </p:nvSpPr>
        <p:spPr bwMode="auto">
          <a:xfrm>
            <a:off x="4572000" y="15361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b="1" spc="100">
                <a:solidFill>
                  <a:srgbClr val="FFFFFF"/>
                </a:solidFill>
                <a:latin typeface="Arial"/>
                <a:ea typeface="Arial"/>
                <a:cs typeface="Arial"/>
              </a:rPr>
              <a:t>ESTADO ACTUAL (2026)</a:t>
            </a:r>
            <a:endParaRPr lang="en-US" sz="1000"/>
          </a:p>
        </p:txBody>
      </p:sp>
      <p:sp>
        <p:nvSpPr>
          <p:cNvPr id="1532351835" name="Text 33"/>
          <p:cNvSpPr/>
          <p:nvPr/>
        </p:nvSpPr>
        <p:spPr bwMode="auto">
          <a:xfrm>
            <a:off x="4663440" y="1865376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❌ Última versión: oct 2017 (MOSIX-4.4.4)</a:t>
            </a:r>
            <a:endParaRPr lang="en-US" sz="900"/>
          </a:p>
        </p:txBody>
      </p:sp>
      <p:sp>
        <p:nvSpPr>
          <p:cNvPr id="921960296" name="Text 34"/>
          <p:cNvSpPr/>
          <p:nvPr/>
        </p:nvSpPr>
        <p:spPr bwMode="auto">
          <a:xfrm>
            <a:off x="4663440" y="212140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❌ Sin actualizaciones de seguridad</a:t>
            </a:r>
            <a:endParaRPr lang="en-US" sz="900"/>
          </a:p>
        </p:txBody>
      </p:sp>
      <p:sp>
        <p:nvSpPr>
          <p:cNvPr id="1654152730" name="Text 35"/>
          <p:cNvSpPr/>
          <p:nvPr/>
        </p:nvSpPr>
        <p:spPr bwMode="auto">
          <a:xfrm>
            <a:off x="4663440" y="23774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❌ Sin soporte comercial disponible</a:t>
            </a:r>
            <a:endParaRPr lang="en-US" sz="900"/>
          </a:p>
        </p:txBody>
      </p:sp>
      <p:sp>
        <p:nvSpPr>
          <p:cNvPr id="1352091257" name="Text 36"/>
          <p:cNvSpPr/>
          <p:nvPr/>
        </p:nvSpPr>
        <p:spPr bwMode="auto">
          <a:xfrm>
            <a:off x="4663440" y="263347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❌ Incompatibles con contenedores/K8s</a:t>
            </a:r>
            <a:endParaRPr lang="en-US" sz="900"/>
          </a:p>
        </p:txBody>
      </p:sp>
      <p:sp>
        <p:nvSpPr>
          <p:cNvPr id="1424352121" name="Shape 37"/>
          <p:cNvSpPr/>
          <p:nvPr/>
        </p:nvSpPr>
        <p:spPr bwMode="auto">
          <a:xfrm>
            <a:off x="4572000" y="3035808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75726999" name="Shape 38"/>
          <p:cNvSpPr/>
          <p:nvPr/>
        </p:nvSpPr>
        <p:spPr bwMode="auto">
          <a:xfrm>
            <a:off x="4572000" y="3035808"/>
            <a:ext cx="4114800" cy="274320"/>
          </a:xfrm>
          <a:prstGeom prst="rect">
            <a:avLst/>
          </a:prstGeom>
          <a:solidFill>
            <a:srgbClr val="5C6BC0"/>
          </a:solidFill>
          <a:ln/>
        </p:spPr>
      </p:sp>
      <p:sp>
        <p:nvSpPr>
          <p:cNvPr id="265130455" name="Text 39"/>
          <p:cNvSpPr/>
          <p:nvPr/>
        </p:nvSpPr>
        <p:spPr bwMode="auto">
          <a:xfrm>
            <a:off x="4572000" y="303580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b="1" spc="100">
                <a:solidFill>
                  <a:srgbClr val="FFFFFF"/>
                </a:solidFill>
                <a:latin typeface="Arial"/>
                <a:ea typeface="Arial"/>
                <a:cs typeface="Arial"/>
              </a:rPr>
              <a:t>VALOR ACADÉMICO</a:t>
            </a:r>
            <a:endParaRPr lang="en-US" sz="1000"/>
          </a:p>
        </p:txBody>
      </p:sp>
      <p:sp>
        <p:nvSpPr>
          <p:cNvPr id="1687687437" name="Text 40"/>
          <p:cNvSpPr/>
          <p:nvPr/>
        </p:nvSpPr>
        <p:spPr bwMode="auto">
          <a:xfrm>
            <a:off x="4663440" y="336499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5C6BC0"/>
                </a:solidFill>
                <a:latin typeface="Calibri"/>
                <a:ea typeface="Calibri"/>
                <a:cs typeface="Calibri"/>
              </a:rPr>
              <a:t>✓ Migración preemptiva de procesos</a:t>
            </a:r>
            <a:endParaRPr lang="en-US" sz="900"/>
          </a:p>
        </p:txBody>
      </p:sp>
      <p:sp>
        <p:nvSpPr>
          <p:cNvPr id="869855328" name="Text 41"/>
          <p:cNvSpPr/>
          <p:nvPr/>
        </p:nvSpPr>
        <p:spPr bwMode="auto">
          <a:xfrm>
            <a:off x="4663440" y="356616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5C6BC0"/>
                </a:solidFill>
                <a:latin typeface="Calibri"/>
                <a:ea typeface="Calibri"/>
                <a:cs typeface="Calibri"/>
              </a:rPr>
              <a:t>✓ Single System Image (SSI)</a:t>
            </a:r>
            <a:endParaRPr lang="en-US" sz="900"/>
          </a:p>
        </p:txBody>
      </p:sp>
      <p:sp>
        <p:nvSpPr>
          <p:cNvPr id="677364704" name="Text 42"/>
          <p:cNvSpPr/>
          <p:nvPr/>
        </p:nvSpPr>
        <p:spPr bwMode="auto">
          <a:xfrm>
            <a:off x="4663440" y="376732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5C6BC0"/>
                </a:solidFill>
                <a:latin typeface="Calibri"/>
                <a:ea typeface="Calibri"/>
                <a:cs typeface="Calibri"/>
              </a:rPr>
              <a:t>✓ Balanceo de carga automático</a:t>
            </a:r>
            <a:endParaRPr lang="en-US" sz="900"/>
          </a:p>
        </p:txBody>
      </p:sp>
      <p:sp>
        <p:nvSpPr>
          <p:cNvPr id="487615255" name="Text 43"/>
          <p:cNvSpPr/>
          <p:nvPr/>
        </p:nvSpPr>
        <p:spPr bwMode="auto">
          <a:xfrm>
            <a:off x="4663440" y="396849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5C6BC0"/>
                </a:solidFill>
                <a:latin typeface="Calibri"/>
                <a:ea typeface="Calibri"/>
                <a:cs typeface="Calibri"/>
              </a:rPr>
              <a:t>✓ Evolución histórica de sistemas distribuidos</a:t>
            </a:r>
            <a:endParaRPr lang="en-US" sz="900"/>
          </a:p>
        </p:txBody>
      </p:sp>
      <p:sp>
        <p:nvSpPr>
          <p:cNvPr id="1572289552" name="Text 44"/>
          <p:cNvSpPr/>
          <p:nvPr/>
        </p:nvSpPr>
        <p:spPr bwMode="auto"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6">
    <p:bg>
      <p:bgPr shadeToTitle="0">
        <a:solidFill>
          <a:srgbClr val="F6F7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190177" name="Shape 0"/>
          <p:cNvSpPr/>
          <p:nvPr/>
        </p:nvSpPr>
        <p:spPr bwMode="auto">
          <a:xfrm>
            <a:off x="8503920" y="4663440"/>
            <a:ext cx="365760" cy="365760"/>
          </a:xfrm>
          <a:prstGeom prst="ellipse">
            <a:avLst/>
          </a:prstGeom>
          <a:solidFill>
            <a:srgbClr val="0070C5"/>
          </a:solidFill>
          <a:ln/>
        </p:spPr>
      </p:sp>
      <p:sp>
        <p:nvSpPr>
          <p:cNvPr id="169350826" name="Text 1"/>
          <p:cNvSpPr/>
          <p:nvPr/>
        </p:nvSpPr>
        <p:spPr bwMode="auto"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26</a:t>
            </a:r>
            <a:endParaRPr lang="en-US" sz="1200"/>
          </a:p>
        </p:txBody>
      </p:sp>
      <p:sp>
        <p:nvSpPr>
          <p:cNvPr id="427391199" name="Text 2"/>
          <p:cNvSpPr/>
          <p:nvPr/>
        </p:nvSpPr>
        <p:spPr bwMode="auto">
          <a:xfrm>
            <a:off x="457200" y="2743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2400" b="1">
                <a:solidFill>
                  <a:srgbClr val="2D3237"/>
                </a:solidFill>
                <a:latin typeface="Arial Black"/>
                <a:ea typeface="Arial Black"/>
                <a:cs typeface="Arial Black"/>
              </a:rPr>
              <a:t>Zephyr OS — Costos</a:t>
            </a:r>
            <a:endParaRPr lang="en-US" sz="2400"/>
          </a:p>
        </p:txBody>
      </p:sp>
      <p:sp>
        <p:nvSpPr>
          <p:cNvPr id="383833216" name="Text 3"/>
          <p:cNvSpPr/>
          <p:nvPr/>
        </p:nvSpPr>
        <p:spPr bwMode="auto">
          <a:xfrm>
            <a:off x="457200" y="7498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200" i="1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Modelo de licenciamiento y costo total de propiedad</a:t>
            </a:r>
            <a:endParaRPr lang="en-US" sz="1200"/>
          </a:p>
        </p:txBody>
      </p:sp>
      <p:sp>
        <p:nvSpPr>
          <p:cNvPr id="1807024401" name="Shape 4"/>
          <p:cNvSpPr/>
          <p:nvPr/>
        </p:nvSpPr>
        <p:spPr bwMode="auto">
          <a:xfrm>
            <a:off x="457200" y="1078992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79940082" name="Shape 5"/>
          <p:cNvSpPr/>
          <p:nvPr/>
        </p:nvSpPr>
        <p:spPr bwMode="auto">
          <a:xfrm>
            <a:off x="457200" y="1078992"/>
            <a:ext cx="2651760" cy="292608"/>
          </a:xfrm>
          <a:prstGeom prst="rect">
            <a:avLst/>
          </a:prstGeom>
          <a:solidFill>
            <a:srgbClr val="0070C5"/>
          </a:solidFill>
          <a:ln/>
        </p:spPr>
      </p:sp>
      <p:sp>
        <p:nvSpPr>
          <p:cNvPr id="595347124" name="Text 6"/>
          <p:cNvSpPr/>
          <p:nvPr/>
        </p:nvSpPr>
        <p:spPr bwMode="auto">
          <a:xfrm>
            <a:off x="457200" y="107899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 spc="200">
                <a:solidFill>
                  <a:srgbClr val="FFFFFF"/>
                </a:solidFill>
                <a:latin typeface="Arial"/>
                <a:ea typeface="Arial"/>
                <a:cs typeface="Arial"/>
              </a:rPr>
              <a:t>LICENCIA</a:t>
            </a:r>
            <a:endParaRPr lang="en-US" sz="1100"/>
          </a:p>
        </p:txBody>
      </p:sp>
      <p:sp>
        <p:nvSpPr>
          <p:cNvPr id="38531576" name="Text 7"/>
          <p:cNvSpPr/>
          <p:nvPr/>
        </p:nvSpPr>
        <p:spPr bwMode="auto">
          <a:xfrm>
            <a:off x="548640" y="144475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0070C5"/>
                </a:solidFill>
                <a:latin typeface="Calibri"/>
                <a:ea typeface="Calibri"/>
                <a:cs typeface="Calibri"/>
              </a:rPr>
              <a:t>Apache License 2.0</a:t>
            </a:r>
            <a:endParaRPr lang="en-US" sz="1200"/>
          </a:p>
        </p:txBody>
      </p:sp>
      <p:sp>
        <p:nvSpPr>
          <p:cNvPr id="675409990" name="Text 8"/>
          <p:cNvSpPr/>
          <p:nvPr/>
        </p:nvSpPr>
        <p:spPr bwMode="auto">
          <a:xfrm>
            <a:off x="548640" y="1664208"/>
            <a:ext cx="2468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2E7D32"/>
                </a:solidFill>
                <a:latin typeface="Calibri"/>
                <a:ea typeface="Calibri"/>
                <a:cs typeface="Calibri"/>
              </a:rPr>
              <a:t>100% Open Source</a:t>
            </a:r>
            <a:endParaRPr lang="en-US" sz="1000"/>
          </a:p>
        </p:txBody>
      </p:sp>
      <p:sp>
        <p:nvSpPr>
          <p:cNvPr id="701068213" name="Text 9"/>
          <p:cNvSpPr/>
          <p:nvPr/>
        </p:nvSpPr>
        <p:spPr bwMode="auto">
          <a:xfrm>
            <a:off x="548640" y="1938528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9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✓ Uso comercial permitido</a:t>
            </a:r>
            <a:endParaRPr lang="en-US" sz="900"/>
          </a:p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9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✓ Sin copyleft</a:t>
            </a:r>
            <a:endParaRPr lang="en-US" sz="900"/>
          </a:p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9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✓ Código cerrado permitido</a:t>
            </a:r>
            <a:endParaRPr lang="en-US" sz="900"/>
          </a:p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9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✓ Sin regalías</a:t>
            </a:r>
            <a:endParaRPr lang="en-US" sz="900"/>
          </a:p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9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✓ Atribución requerida</a:t>
            </a:r>
            <a:endParaRPr lang="en-US" sz="900"/>
          </a:p>
        </p:txBody>
      </p:sp>
      <p:sp>
        <p:nvSpPr>
          <p:cNvPr id="1882732591" name="Shape 10"/>
          <p:cNvSpPr/>
          <p:nvPr/>
        </p:nvSpPr>
        <p:spPr bwMode="auto">
          <a:xfrm>
            <a:off x="3246120" y="1078992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503672" name="Shape 11"/>
          <p:cNvSpPr/>
          <p:nvPr/>
        </p:nvSpPr>
        <p:spPr bwMode="auto">
          <a:xfrm>
            <a:off x="3246120" y="1078992"/>
            <a:ext cx="2651760" cy="292608"/>
          </a:xfrm>
          <a:prstGeom prst="rect">
            <a:avLst/>
          </a:prstGeom>
          <a:solidFill>
            <a:srgbClr val="0070C5"/>
          </a:solidFill>
          <a:ln/>
        </p:spPr>
      </p:sp>
      <p:sp>
        <p:nvSpPr>
          <p:cNvPr id="285447215" name="Text 12"/>
          <p:cNvSpPr/>
          <p:nvPr/>
        </p:nvSpPr>
        <p:spPr bwMode="auto">
          <a:xfrm>
            <a:off x="3246120" y="107899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 spc="200">
                <a:solidFill>
                  <a:srgbClr val="FFFFFF"/>
                </a:solidFill>
                <a:latin typeface="Arial"/>
                <a:ea typeface="Arial"/>
                <a:cs typeface="Arial"/>
              </a:rPr>
              <a:t>COSTOS</a:t>
            </a:r>
            <a:endParaRPr lang="en-US" sz="1100"/>
          </a:p>
        </p:txBody>
      </p:sp>
      <p:sp>
        <p:nvSpPr>
          <p:cNvPr id="132732478" name="Text 13"/>
          <p:cNvSpPr/>
          <p:nvPr/>
        </p:nvSpPr>
        <p:spPr bwMode="auto">
          <a:xfrm>
            <a:off x="3337560" y="1444752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2E7D32"/>
                </a:solidFill>
                <a:latin typeface="Arial Black"/>
                <a:ea typeface="Arial Black"/>
                <a:cs typeface="Arial Black"/>
              </a:rPr>
              <a:t>$0</a:t>
            </a:r>
            <a:endParaRPr lang="en-US" sz="2000"/>
          </a:p>
        </p:txBody>
      </p:sp>
      <p:sp>
        <p:nvSpPr>
          <p:cNvPr id="1383435980" name="Text 14"/>
          <p:cNvSpPr/>
          <p:nvPr/>
        </p:nvSpPr>
        <p:spPr bwMode="auto">
          <a:xfrm>
            <a:off x="3337560" y="171907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Sin costo de licencia</a:t>
            </a:r>
            <a:endParaRPr lang="en-US" sz="1000"/>
          </a:p>
        </p:txBody>
      </p:sp>
      <p:sp>
        <p:nvSpPr>
          <p:cNvPr id="1352352277" name="Text 15"/>
          <p:cNvSpPr/>
          <p:nvPr/>
        </p:nvSpPr>
        <p:spPr bwMode="auto">
          <a:xfrm>
            <a:off x="3337560" y="1993392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9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✓ Código fuente: gratis</a:t>
            </a:r>
            <a:endParaRPr lang="en-US" sz="900"/>
          </a:p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9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✓ Regalías por unidad: $0</a:t>
            </a:r>
            <a:endParaRPr lang="en-US" sz="900"/>
          </a:p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9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✓ Zephyr SDK: gratis</a:t>
            </a:r>
            <a:endParaRPr lang="en-US" sz="900"/>
          </a:p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9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✓ HW desarrollo: accesible</a:t>
            </a:r>
            <a:endParaRPr lang="en-US" sz="900"/>
          </a:p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9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✓ Soporte comunitario: gratis</a:t>
            </a:r>
            <a:endParaRPr lang="en-US" sz="900"/>
          </a:p>
        </p:txBody>
      </p:sp>
      <p:sp>
        <p:nvSpPr>
          <p:cNvPr id="1276598237" name="Shape 16"/>
          <p:cNvSpPr/>
          <p:nvPr/>
        </p:nvSpPr>
        <p:spPr bwMode="auto">
          <a:xfrm>
            <a:off x="6035039" y="1078992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49685942" name="Shape 17"/>
          <p:cNvSpPr/>
          <p:nvPr/>
        </p:nvSpPr>
        <p:spPr bwMode="auto">
          <a:xfrm>
            <a:off x="6035039" y="1078992"/>
            <a:ext cx="2651760" cy="292608"/>
          </a:xfrm>
          <a:prstGeom prst="rect">
            <a:avLst/>
          </a:prstGeom>
          <a:solidFill>
            <a:srgbClr val="0070C5"/>
          </a:solidFill>
          <a:ln/>
        </p:spPr>
      </p:sp>
      <p:sp>
        <p:nvSpPr>
          <p:cNvPr id="1116099833" name="Text 18"/>
          <p:cNvSpPr/>
          <p:nvPr/>
        </p:nvSpPr>
        <p:spPr bwMode="auto">
          <a:xfrm>
            <a:off x="6035039" y="1078992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 spc="200">
                <a:solidFill>
                  <a:srgbClr val="FFFFFF"/>
                </a:solidFill>
                <a:latin typeface="Arial"/>
                <a:ea typeface="Arial"/>
                <a:cs typeface="Arial"/>
              </a:rPr>
              <a:t>SOPORTE OPCIONAL</a:t>
            </a:r>
            <a:endParaRPr lang="en-US" sz="1100"/>
          </a:p>
        </p:txBody>
      </p:sp>
      <p:sp>
        <p:nvSpPr>
          <p:cNvPr id="1611491842" name="Text 19"/>
          <p:cNvSpPr/>
          <p:nvPr/>
        </p:nvSpPr>
        <p:spPr bwMode="auto">
          <a:xfrm>
            <a:off x="6126480" y="1444752"/>
            <a:ext cx="2468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0070C5"/>
                </a:solidFill>
                <a:latin typeface="Calibri"/>
                <a:ea typeface="Calibri"/>
                <a:cs typeface="Calibri"/>
              </a:rPr>
              <a:t>Linux Foundation</a:t>
            </a:r>
            <a:endParaRPr lang="en-US" sz="1200"/>
          </a:p>
        </p:txBody>
      </p:sp>
      <p:sp>
        <p:nvSpPr>
          <p:cNvPr id="554081338" name="Text 20"/>
          <p:cNvSpPr/>
          <p:nvPr/>
        </p:nvSpPr>
        <p:spPr bwMode="auto">
          <a:xfrm>
            <a:off x="6126480" y="166420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i="1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Financiamiento por membresías</a:t>
            </a:r>
            <a:endParaRPr lang="en-US" sz="900"/>
          </a:p>
        </p:txBody>
      </p:sp>
      <p:sp>
        <p:nvSpPr>
          <p:cNvPr id="1709222820" name="Text 21"/>
          <p:cNvSpPr/>
          <p:nvPr/>
        </p:nvSpPr>
        <p:spPr bwMode="auto">
          <a:xfrm>
            <a:off x="6126480" y="1938528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9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✓ Wind River (Platinum)</a:t>
            </a:r>
            <a:endParaRPr lang="en-US" sz="900"/>
          </a:p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9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✓ Nordic Semiconductor</a:t>
            </a:r>
            <a:endParaRPr lang="en-US" sz="900"/>
          </a:p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9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✓ Intel, NXP, Renesas</a:t>
            </a:r>
            <a:endParaRPr lang="en-US" sz="900"/>
          </a:p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9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✓ Antmicro, Doulos</a:t>
            </a:r>
            <a:endParaRPr lang="en-US" sz="900"/>
          </a:p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9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✓ Soporte pago disponible</a:t>
            </a:r>
            <a:endParaRPr lang="en-US" sz="900"/>
          </a:p>
        </p:txBody>
      </p:sp>
      <p:sp>
        <p:nvSpPr>
          <p:cNvPr id="156643312" name="Shape 22"/>
          <p:cNvSpPr/>
          <p:nvPr/>
        </p:nvSpPr>
        <p:spPr bwMode="auto">
          <a:xfrm>
            <a:off x="457200" y="4114800"/>
            <a:ext cx="8229600" cy="411480"/>
          </a:xfrm>
          <a:prstGeom prst="rect">
            <a:avLst/>
          </a:prstGeom>
          <a:solidFill>
            <a:srgbClr val="66A9DC"/>
          </a:solidFill>
          <a:ln w="12700">
            <a:solidFill>
              <a:srgbClr val="0070C5"/>
            </a:solidFill>
            <a:prstDash val="solid"/>
          </a:ln>
        </p:spPr>
      </p:sp>
      <p:sp>
        <p:nvSpPr>
          <p:cNvPr id="1882689787" name="Text 23"/>
          <p:cNvSpPr/>
          <p:nvPr/>
        </p:nvSpPr>
        <p:spPr bwMode="auto">
          <a:xfrm>
            <a:off x="457200" y="4114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Total Cost of Ownership (TCO): MUY BAJO — Sin barreras de entrada para adopción comercial</a:t>
            </a:r>
            <a:endParaRPr lang="en-US" sz="1100"/>
          </a:p>
        </p:txBody>
      </p:sp>
      <p:sp>
        <p:nvSpPr>
          <p:cNvPr id="293299342" name="Text 24"/>
          <p:cNvSpPr/>
          <p:nvPr/>
        </p:nvSpPr>
        <p:spPr bwMode="auto">
          <a:xfrm>
            <a:off x="457200" y="477316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7">
    <p:bg>
      <p:bgPr shadeToTitle="0">
        <a:solidFill>
          <a:srgbClr val="F6F7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8468307" name="Shape 0"/>
          <p:cNvSpPr/>
          <p:nvPr/>
        </p:nvSpPr>
        <p:spPr bwMode="auto">
          <a:xfrm>
            <a:off x="8503920" y="4663440"/>
            <a:ext cx="365760" cy="365760"/>
          </a:xfrm>
          <a:prstGeom prst="ellipse">
            <a:avLst/>
          </a:prstGeom>
          <a:solidFill>
            <a:srgbClr val="4C5155"/>
          </a:solidFill>
          <a:ln/>
        </p:spPr>
      </p:sp>
      <p:sp>
        <p:nvSpPr>
          <p:cNvPr id="1761014489" name="Text 1"/>
          <p:cNvSpPr/>
          <p:nvPr/>
        </p:nvSpPr>
        <p:spPr bwMode="auto"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27</a:t>
            </a:r>
            <a:endParaRPr lang="en-US" sz="1200"/>
          </a:p>
        </p:txBody>
      </p:sp>
      <p:sp>
        <p:nvSpPr>
          <p:cNvPr id="651126485" name="Text 2"/>
          <p:cNvSpPr/>
          <p:nvPr/>
        </p:nvSpPr>
        <p:spPr bwMode="auto">
          <a:xfrm>
            <a:off x="457200" y="2743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2400" b="1">
                <a:solidFill>
                  <a:srgbClr val="2D3237"/>
                </a:solidFill>
                <a:latin typeface="Arial Black"/>
                <a:ea typeface="Arial Black"/>
                <a:cs typeface="Arial Black"/>
              </a:rPr>
              <a:t>MOSIX — Costos</a:t>
            </a:r>
            <a:endParaRPr lang="en-US" sz="2400"/>
          </a:p>
        </p:txBody>
      </p:sp>
      <p:sp>
        <p:nvSpPr>
          <p:cNvPr id="912578572" name="Text 3"/>
          <p:cNvSpPr/>
          <p:nvPr/>
        </p:nvSpPr>
        <p:spPr bwMode="auto">
          <a:xfrm>
            <a:off x="457200" y="7498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200" i="1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Modelo de licencia propietaria e información histórica de pricing</a:t>
            </a:r>
            <a:endParaRPr lang="en-US" sz="1200"/>
          </a:p>
        </p:txBody>
      </p:sp>
      <p:sp>
        <p:nvSpPr>
          <p:cNvPr id="191604693" name="Shape 4"/>
          <p:cNvSpPr/>
          <p:nvPr/>
        </p:nvSpPr>
        <p:spPr bwMode="auto">
          <a:xfrm>
            <a:off x="457200" y="1024128"/>
            <a:ext cx="8229600" cy="384048"/>
          </a:xfrm>
          <a:prstGeom prst="rect">
            <a:avLst/>
          </a:prstGeom>
          <a:solidFill>
            <a:srgbClr val="FFF3E0"/>
          </a:solidFill>
          <a:ln w="25400">
            <a:solidFill>
              <a:srgbClr val="E65100"/>
            </a:solidFill>
            <a:prstDash val="solid"/>
          </a:ln>
        </p:spPr>
      </p:sp>
      <p:sp>
        <p:nvSpPr>
          <p:cNvPr id="386440040" name="Text 5"/>
          <p:cNvSpPr/>
          <p:nvPr/>
        </p:nvSpPr>
        <p:spPr bwMode="auto">
          <a:xfrm>
            <a:off x="457200" y="102412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E65100"/>
                </a:solidFill>
                <a:latin typeface="Calibri"/>
                <a:ea typeface="Calibri"/>
                <a:cs typeface="Calibri"/>
              </a:rPr>
              <a:t>⚠ PROYECTO INACTIVO — NO RECOMENDADO PARA PRODUCCIÓN EN 2026</a:t>
            </a:r>
            <a:endParaRPr lang="en-US" sz="1100"/>
          </a:p>
        </p:txBody>
      </p:sp>
      <p:sp>
        <p:nvSpPr>
          <p:cNvPr id="1823303074" name="Shape 6"/>
          <p:cNvSpPr/>
          <p:nvPr/>
        </p:nvSpPr>
        <p:spPr bwMode="auto">
          <a:xfrm>
            <a:off x="457200" y="1481328"/>
            <a:ext cx="397764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20561487" name="Shape 7"/>
          <p:cNvSpPr/>
          <p:nvPr/>
        </p:nvSpPr>
        <p:spPr bwMode="auto">
          <a:xfrm>
            <a:off x="457200" y="1481328"/>
            <a:ext cx="3977640" cy="292608"/>
          </a:xfrm>
          <a:prstGeom prst="rect">
            <a:avLst/>
          </a:prstGeom>
          <a:solidFill>
            <a:srgbClr val="4C5155"/>
          </a:solidFill>
          <a:ln/>
        </p:spPr>
      </p:sp>
      <p:sp>
        <p:nvSpPr>
          <p:cNvPr id="706137768" name="Text 8"/>
          <p:cNvSpPr/>
          <p:nvPr/>
        </p:nvSpPr>
        <p:spPr bwMode="auto">
          <a:xfrm>
            <a:off x="457200" y="148132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 spc="200">
                <a:solidFill>
                  <a:srgbClr val="FFFFFF"/>
                </a:solidFill>
                <a:latin typeface="Arial"/>
                <a:ea typeface="Arial"/>
                <a:cs typeface="Arial"/>
              </a:rPr>
              <a:t>LICENCIA PROPIETARIA</a:t>
            </a:r>
            <a:endParaRPr lang="en-US" sz="1100"/>
          </a:p>
        </p:txBody>
      </p:sp>
      <p:sp>
        <p:nvSpPr>
          <p:cNvPr id="853703085" name="Text 9"/>
          <p:cNvSpPr/>
          <p:nvPr/>
        </p:nvSpPr>
        <p:spPr bwMode="auto">
          <a:xfrm>
            <a:off x="548640" y="1828800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Restricciones:</a:t>
            </a:r>
            <a:endParaRPr lang="en-US" sz="1000"/>
          </a:p>
        </p:txBody>
      </p:sp>
      <p:sp>
        <p:nvSpPr>
          <p:cNvPr id="1999569981" name="Text 10"/>
          <p:cNvSpPr/>
          <p:nvPr/>
        </p:nvSpPr>
        <p:spPr bwMode="auto">
          <a:xfrm>
            <a:off x="548640" y="2048256"/>
            <a:ext cx="3794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9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✗ Prohibido modificar</a:t>
            </a:r>
            <a:endParaRPr lang="en-US" sz="900"/>
          </a:p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9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✗ Prohibido ingeniería reversa</a:t>
            </a:r>
            <a:endParaRPr lang="en-US" sz="900"/>
          </a:p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9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✗ Sin código fuente disponible</a:t>
            </a:r>
            <a:endParaRPr lang="en-US" sz="900"/>
          </a:p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9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✗ Sin obras derivadas</a:t>
            </a:r>
            <a:endParaRPr lang="en-US" sz="900"/>
          </a:p>
          <a:p>
            <a:pPr marL="0" indent="0" algn="l">
              <a:lnSpc>
                <a:spcPct val="130000"/>
              </a:lnSpc>
              <a:buNone/>
              <a:defRPr/>
            </a:pPr>
            <a:r>
              <a:rPr lang="en-US" sz="9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✗ Contribución = propiedad del autor</a:t>
            </a:r>
            <a:endParaRPr lang="en-US" sz="900"/>
          </a:p>
        </p:txBody>
      </p:sp>
      <p:sp>
        <p:nvSpPr>
          <p:cNvPr id="1980626088" name="Text 11"/>
          <p:cNvSpPr/>
          <p:nvPr/>
        </p:nvSpPr>
        <p:spPr bwMode="auto">
          <a:xfrm>
            <a:off x="548640" y="3364992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800" i="1">
                <a:solidFill>
                  <a:srgbClr val="8C9196"/>
                </a:solidFill>
                <a:latin typeface="Calibri"/>
                <a:ea typeface="Calibri"/>
                <a:cs typeface="Calibri"/>
              </a:rPr>
              <a:t>Hebrew University of Jerusalem</a:t>
            </a:r>
            <a:endParaRPr lang="en-US" sz="800"/>
          </a:p>
        </p:txBody>
      </p:sp>
      <p:sp>
        <p:nvSpPr>
          <p:cNvPr id="1085569417" name="Shape 12"/>
          <p:cNvSpPr/>
          <p:nvPr/>
        </p:nvSpPr>
        <p:spPr bwMode="auto">
          <a:xfrm>
            <a:off x="4617720" y="1481328"/>
            <a:ext cx="397764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61931808" name="Shape 13"/>
          <p:cNvSpPr/>
          <p:nvPr/>
        </p:nvSpPr>
        <p:spPr bwMode="auto">
          <a:xfrm>
            <a:off x="4617720" y="1481328"/>
            <a:ext cx="3977640" cy="292608"/>
          </a:xfrm>
          <a:prstGeom prst="rect">
            <a:avLst/>
          </a:prstGeom>
          <a:solidFill>
            <a:srgbClr val="4C5155"/>
          </a:solidFill>
          <a:ln/>
        </p:spPr>
      </p:sp>
      <p:sp>
        <p:nvSpPr>
          <p:cNvPr id="117120081" name="Text 14"/>
          <p:cNvSpPr/>
          <p:nvPr/>
        </p:nvSpPr>
        <p:spPr bwMode="auto">
          <a:xfrm>
            <a:off x="4617720" y="148132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 spc="20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CONTEXTO DE PRICING</a:t>
            </a:r>
            <a:endParaRPr lang="en-US" sz="1100"/>
          </a:p>
        </p:txBody>
      </p:sp>
      <p:sp>
        <p:nvSpPr>
          <p:cNvPr id="1221115007" name="Shape 15"/>
          <p:cNvSpPr/>
          <p:nvPr/>
        </p:nvSpPr>
        <p:spPr bwMode="auto">
          <a:xfrm>
            <a:off x="4709160" y="1828800"/>
            <a:ext cx="3794760" cy="594360"/>
          </a:xfrm>
          <a:prstGeom prst="rect">
            <a:avLst/>
          </a:prstGeom>
          <a:solidFill>
            <a:srgbClr val="FFF8E1"/>
          </a:solidFill>
          <a:ln w="12700">
            <a:solidFill>
              <a:srgbClr val="FF8F00"/>
            </a:solidFill>
            <a:prstDash val="solid"/>
          </a:ln>
        </p:spPr>
      </p:sp>
      <p:sp>
        <p:nvSpPr>
          <p:cNvPr id="630062542" name="Text 16"/>
          <p:cNvSpPr/>
          <p:nvPr/>
        </p:nvSpPr>
        <p:spPr bwMode="auto">
          <a:xfrm>
            <a:off x="4709160" y="1828800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900" b="1">
                <a:solidFill>
                  <a:srgbClr val="E65100"/>
                </a:solidFill>
                <a:latin typeface="Calibri"/>
                <a:ea typeface="Calibri"/>
                <a:cs typeface="Calibri"/>
              </a:rPr>
              <a:t>MOSIX era gratuito para uso académico (sin costo de licencia)</a:t>
            </a:r>
            <a:endParaRPr lang="en-US" sz="900"/>
          </a:p>
        </p:txBody>
      </p:sp>
      <p:sp>
        <p:nvSpPr>
          <p:cNvPr id="987450025" name="Text 17"/>
          <p:cNvSpPr/>
          <p:nvPr/>
        </p:nvSpPr>
        <p:spPr bwMode="auto">
          <a:xfrm>
            <a:off x="4709160" y="2011680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b="1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Precio comercial post-2001: Sin documentación pública</a:t>
            </a:r>
            <a:endParaRPr lang="en-US" sz="1000"/>
          </a:p>
        </p:txBody>
      </p:sp>
      <p:sp>
        <p:nvSpPr>
          <p:cNvPr id="1158989722" name="Text 18"/>
          <p:cNvSpPr/>
          <p:nvPr/>
        </p:nvSpPr>
        <p:spPr bwMode="auto">
          <a:xfrm>
            <a:off x="4709160" y="2212848"/>
            <a:ext cx="3794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endParaRPr lang="en-US" sz="800"/>
          </a:p>
        </p:txBody>
      </p:sp>
      <p:sp>
        <p:nvSpPr>
          <p:cNvPr id="1667908445" name="Text 19"/>
          <p:cNvSpPr/>
          <p:nvPr/>
        </p:nvSpPr>
        <p:spPr bwMode="auto">
          <a:xfrm>
            <a:off x="4709160" y="2542032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endParaRPr lang="en-US" sz="1000"/>
          </a:p>
        </p:txBody>
      </p:sp>
      <p:sp>
        <p:nvSpPr>
          <p:cNvPr id="1158650285" name="Text 20"/>
          <p:cNvSpPr/>
          <p:nvPr/>
        </p:nvSpPr>
        <p:spPr bwMode="auto">
          <a:xfrm>
            <a:off x="4709160" y="2743200"/>
            <a:ext cx="3794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endParaRPr lang="en-US" sz="900"/>
          </a:p>
        </p:txBody>
      </p:sp>
      <p:sp>
        <p:nvSpPr>
          <p:cNvPr id="1623224743" name="Text 21"/>
          <p:cNvSpPr/>
          <p:nvPr/>
        </p:nvSpPr>
        <p:spPr bwMode="auto">
          <a:xfrm>
            <a:off x="4709160" y="2962656"/>
            <a:ext cx="3794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endParaRPr lang="en-US" sz="800"/>
          </a:p>
        </p:txBody>
      </p:sp>
      <p:sp>
        <p:nvSpPr>
          <p:cNvPr id="185984649" name="Shape 22"/>
          <p:cNvSpPr/>
          <p:nvPr/>
        </p:nvSpPr>
        <p:spPr bwMode="auto">
          <a:xfrm>
            <a:off x="457200" y="3950208"/>
            <a:ext cx="8229600" cy="502920"/>
          </a:xfrm>
          <a:prstGeom prst="rect">
            <a:avLst/>
          </a:prstGeom>
          <a:solidFill>
            <a:srgbClr val="FFEBEE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595207198" name="Text 23"/>
          <p:cNvSpPr/>
          <p:nvPr/>
        </p:nvSpPr>
        <p:spPr bwMode="auto">
          <a:xfrm>
            <a:off x="457200" y="395020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C62828"/>
                </a:solidFill>
                <a:latin typeface="Calibri"/>
                <a:ea typeface="Calibri"/>
                <a:cs typeface="Calibri"/>
              </a:rPr>
              <a:t>Soporte comercial: ❌ NO DISPONIBLE — Proyecto inactivo desde 2017</a:t>
            </a:r>
            <a:endParaRPr lang="en-US" sz="1100"/>
          </a:p>
        </p:txBody>
      </p:sp>
      <p:sp>
        <p:nvSpPr>
          <p:cNvPr id="206811818" name="Text 24"/>
          <p:cNvSpPr/>
          <p:nvPr/>
        </p:nvSpPr>
        <p:spPr bwMode="auto">
          <a:xfrm>
            <a:off x="457200" y="477316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8">
    <p:bg>
      <p:bgPr shadeToTitle="0">
        <a:solidFill>
          <a:srgbClr val="F6F7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7340478" name="Shape 0"/>
          <p:cNvSpPr/>
          <p:nvPr/>
        </p:nvSpPr>
        <p:spPr bwMode="auto">
          <a:xfrm>
            <a:off x="8503920" y="4663440"/>
            <a:ext cx="365760" cy="365760"/>
          </a:xfrm>
          <a:prstGeom prst="ellipse">
            <a:avLst/>
          </a:prstGeom>
          <a:solidFill>
            <a:srgbClr val="2D3237"/>
          </a:solidFill>
          <a:ln/>
        </p:spPr>
      </p:sp>
      <p:sp>
        <p:nvSpPr>
          <p:cNvPr id="2067615529" name="Text 1"/>
          <p:cNvSpPr/>
          <p:nvPr/>
        </p:nvSpPr>
        <p:spPr bwMode="auto"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28</a:t>
            </a:r>
            <a:endParaRPr lang="en-US" sz="1200"/>
          </a:p>
        </p:txBody>
      </p:sp>
      <p:sp>
        <p:nvSpPr>
          <p:cNvPr id="1103188273" name="Text 2"/>
          <p:cNvSpPr/>
          <p:nvPr/>
        </p:nvSpPr>
        <p:spPr bwMode="auto">
          <a:xfrm>
            <a:off x="457200" y="2743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2400" b="1">
                <a:solidFill>
                  <a:srgbClr val="2D3237"/>
                </a:solidFill>
                <a:latin typeface="Arial Black"/>
                <a:ea typeface="Arial Black"/>
                <a:cs typeface="Arial Black"/>
              </a:rPr>
              <a:t>Comparativa Técnica — Zephyr vs MOSIX</a:t>
            </a:r>
            <a:endParaRPr lang="en-US" sz="2400"/>
          </a:p>
        </p:txBody>
      </p:sp>
      <p:sp>
        <p:nvSpPr>
          <p:cNvPr id="1092356872" name="Text 3"/>
          <p:cNvSpPr/>
          <p:nvPr/>
        </p:nvSpPr>
        <p:spPr bwMode="auto">
          <a:xfrm>
            <a:off x="457200" y="7498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200" i="1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Dos filosofías de diseño para problemas radicalmente diferentes</a:t>
            </a:r>
            <a:endParaRPr lang="en-US" sz="1200"/>
          </a:p>
        </p:txBody>
      </p:sp>
      <p:graphicFrame>
        <p:nvGraphicFramePr>
          <p:cNvPr id="132715354" name="Table 0"/>
          <p:cNvGraphicFramePr>
            <a:graphicFrameLocks xmlns:a="http://schemas.openxmlformats.org/drawingml/2006/main" noGrp="1"/>
          </p:cNvGraphicFramePr>
          <p:nvPr/>
        </p:nvGraphicFramePr>
        <p:xfrm rot="0">
          <a:off x="457200" y="1051560"/>
          <a:ext cx="8229600" cy="3200400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1463040"/>
                <a:gridCol w="3200400"/>
                <a:gridCol w="3200400"/>
              </a:tblGrid>
              <a:tr h="292608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Característica</a:t>
                      </a:r>
                      <a:endParaRPr lang="en-US" sz="9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D1D3D5"/>
                      </a:solidFill>
                    </a:lnL>
                    <a:lnR w="6350" algn="ctr">
                      <a:solidFill>
                        <a:srgbClr val="D1D3D5"/>
                      </a:solidFill>
                    </a:lnR>
                    <a:lnT w="6350" algn="ctr">
                      <a:solidFill>
                        <a:srgbClr val="D1D3D5"/>
                      </a:solidFill>
                    </a:lnT>
                    <a:lnB w="6350" algn="ctr">
                      <a:solidFill>
                        <a:srgbClr val="D1D3D5"/>
                      </a:solidFill>
                    </a:lnB>
                    <a:solidFill>
                      <a:srgbClr val="2D3237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Zephyr OS</a:t>
                      </a:r>
                      <a:endParaRPr lang="en-US" sz="9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D1D3D5"/>
                      </a:solidFill>
                    </a:lnL>
                    <a:lnR w="6350" algn="ctr">
                      <a:solidFill>
                        <a:srgbClr val="D1D3D5"/>
                      </a:solidFill>
                    </a:lnR>
                    <a:lnT w="6350" algn="ctr">
                      <a:solidFill>
                        <a:srgbClr val="D1D3D5"/>
                      </a:solidFill>
                    </a:lnT>
                    <a:lnB w="6350" algn="ctr">
                      <a:solidFill>
                        <a:srgbClr val="D1D3D5"/>
                      </a:solidFill>
                    </a:lnB>
                    <a:solidFill>
                      <a:srgbClr val="0070C5"/>
                    </a:solidFill>
                  </a:tcPr>
                </a:tc>
                <a:tc>
                  <a:txBody>
                    <a:bodyPr/>
                    <a:p>
                      <a:pPr marL="0" indent="0" algn="ctr">
                        <a:buNone/>
                        <a:defRPr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MOSIX</a:t>
                      </a:r>
                      <a:endParaRPr lang="en-US" sz="9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D1D3D5"/>
                      </a:solidFill>
                    </a:lnL>
                    <a:lnR w="6350" algn="ctr">
                      <a:solidFill>
                        <a:srgbClr val="D1D3D5"/>
                      </a:solidFill>
                    </a:lnR>
                    <a:lnT w="6350" algn="ctr">
                      <a:solidFill>
                        <a:srgbClr val="D1D3D5"/>
                      </a:solidFill>
                    </a:lnT>
                    <a:lnB w="6350" algn="ctr">
                      <a:solidFill>
                        <a:srgbClr val="D1D3D5"/>
                      </a:solidFill>
                    </a:lnB>
                    <a:solidFill>
                      <a:srgbClr val="4C5155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900" b="1">
                          <a:solidFill>
                            <a:srgbClr val="2D3237"/>
                          </a:solidFill>
                          <a:latin typeface="Calibri"/>
                          <a:ea typeface="Calibri"/>
                          <a:cs typeface="Calibri"/>
                        </a:rPr>
                        <a:t>Arquitectura</a:t>
                      </a:r>
                      <a:endParaRPr lang="en-US" sz="9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D1D3D5"/>
                      </a:solidFill>
                    </a:lnL>
                    <a:lnR w="6350" algn="ctr">
                      <a:solidFill>
                        <a:srgbClr val="D1D3D5"/>
                      </a:solidFill>
                    </a:lnR>
                    <a:lnT w="6350" algn="ctr">
                      <a:solidFill>
                        <a:srgbClr val="D1D3D5"/>
                      </a:solidFill>
                    </a:lnT>
                    <a:lnB w="6350" algn="ctr">
                      <a:solidFill>
                        <a:srgbClr val="D1D3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900">
                          <a:solidFill>
                            <a:srgbClr val="2D3237"/>
                          </a:solidFill>
                          <a:latin typeface="Calibri"/>
                          <a:ea typeface="Calibri"/>
                          <a:cs typeface="Calibri"/>
                        </a:rPr>
                        <a:t>Microkernel monolítico unificado</a:t>
                      </a:r>
                      <a:endParaRPr lang="en-US" sz="9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D1D3D5"/>
                      </a:solidFill>
                    </a:lnL>
                    <a:lnR w="6350" algn="ctr">
                      <a:solidFill>
                        <a:srgbClr val="D1D3D5"/>
                      </a:solidFill>
                    </a:lnR>
                    <a:lnT w="6350" algn="ctr">
                      <a:solidFill>
                        <a:srgbClr val="D1D3D5"/>
                      </a:solidFill>
                    </a:lnT>
                    <a:lnB w="6350" algn="ctr">
                      <a:solidFill>
                        <a:srgbClr val="D1D3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900">
                          <a:solidFill>
                            <a:srgbClr val="2D3237"/>
                          </a:solidFill>
                          <a:latin typeface="Calibri"/>
                          <a:ea typeface="Calibri"/>
                          <a:cs typeface="Calibri"/>
                        </a:rPr>
                        <a:t>SSI — Distributed Cluster OS (módulo/daemon)</a:t>
                      </a:r>
                      <a:endParaRPr lang="en-US" sz="9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D1D3D5"/>
                      </a:solidFill>
                    </a:lnL>
                    <a:lnR w="6350" algn="ctr">
                      <a:solidFill>
                        <a:srgbClr val="D1D3D5"/>
                      </a:solidFill>
                    </a:lnR>
                    <a:lnT w="6350" algn="ctr">
                      <a:solidFill>
                        <a:srgbClr val="D1D3D5"/>
                      </a:solidFill>
                    </a:lnT>
                    <a:lnB w="6350" algn="ctr">
                      <a:solidFill>
                        <a:srgbClr val="D1D3D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900" b="1">
                          <a:solidFill>
                            <a:srgbClr val="2D3237"/>
                          </a:solidFill>
                          <a:latin typeface="Calibri"/>
                          <a:ea typeface="Calibri"/>
                          <a:cs typeface="Calibri"/>
                        </a:rPr>
                        <a:t>Memoria</a:t>
                      </a:r>
                      <a:endParaRPr lang="en-US" sz="9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D1D3D5"/>
                      </a:solidFill>
                    </a:lnL>
                    <a:lnR w="6350" algn="ctr">
                      <a:solidFill>
                        <a:srgbClr val="D1D3D5"/>
                      </a:solidFill>
                    </a:lnR>
                    <a:lnT w="6350" algn="ctr">
                      <a:solidFill>
                        <a:srgbClr val="D1D3D5"/>
                      </a:solidFill>
                    </a:lnT>
                    <a:lnB w="6350" algn="ctr">
                      <a:solidFill>
                        <a:srgbClr val="D1D3D5"/>
                      </a:solidFill>
                    </a:lnB>
                    <a:solidFill>
                      <a:srgbClr val="D1D3D5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900">
                          <a:solidFill>
                            <a:srgbClr val="2D3237"/>
                          </a:solidFill>
                          <a:latin typeface="Calibri"/>
                          <a:ea typeface="Calibri"/>
                          <a:cs typeface="Calibri"/>
                        </a:rPr>
                        <a:t>MPU + Memory Domains + User Mode</a:t>
                      </a:r>
                      <a:endParaRPr lang="en-US" sz="9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D1D3D5"/>
                      </a:solidFill>
                    </a:lnL>
                    <a:lnR w="6350" algn="ctr">
                      <a:solidFill>
                        <a:srgbClr val="D1D3D5"/>
                      </a:solidFill>
                    </a:lnR>
                    <a:lnT w="6350" algn="ctr">
                      <a:solidFill>
                        <a:srgbClr val="D1D3D5"/>
                      </a:solidFill>
                    </a:lnT>
                    <a:lnB w="6350" algn="ctr">
                      <a:solidFill>
                        <a:srgbClr val="D1D3D5"/>
                      </a:solidFill>
                    </a:lnB>
                    <a:solidFill>
                      <a:srgbClr val="D1D3D5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900">
                          <a:solidFill>
                            <a:srgbClr val="2D3237"/>
                          </a:solidFill>
                          <a:latin typeface="Calibri"/>
                          <a:ea typeface="Calibri"/>
                          <a:cs typeface="Calibri"/>
                        </a:rPr>
                        <a:t>Memory Ushering (migración proactiva)</a:t>
                      </a:r>
                      <a:endParaRPr lang="en-US" sz="9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D1D3D5"/>
                      </a:solidFill>
                    </a:lnL>
                    <a:lnR w="6350" algn="ctr">
                      <a:solidFill>
                        <a:srgbClr val="D1D3D5"/>
                      </a:solidFill>
                    </a:lnR>
                    <a:lnT w="6350" algn="ctr">
                      <a:solidFill>
                        <a:srgbClr val="D1D3D5"/>
                      </a:solidFill>
                    </a:lnT>
                    <a:lnB w="6350" algn="ctr">
                      <a:solidFill>
                        <a:srgbClr val="D1D3D5"/>
                      </a:solidFill>
                    </a:lnB>
                    <a:solidFill>
                      <a:srgbClr val="D1D3D5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900" b="1">
                          <a:solidFill>
                            <a:srgbClr val="2D3237"/>
                          </a:solidFill>
                          <a:latin typeface="Calibri"/>
                          <a:ea typeface="Calibri"/>
                          <a:cs typeface="Calibri"/>
                        </a:rPr>
                        <a:t>Procesos</a:t>
                      </a:r>
                      <a:endParaRPr lang="en-US" sz="9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D1D3D5"/>
                      </a:solidFill>
                    </a:lnL>
                    <a:lnR w="6350" algn="ctr">
                      <a:solidFill>
                        <a:srgbClr val="D1D3D5"/>
                      </a:solidFill>
                    </a:lnR>
                    <a:lnT w="6350" algn="ctr">
                      <a:solidFill>
                        <a:srgbClr val="D1D3D5"/>
                      </a:solidFill>
                    </a:lnT>
                    <a:lnB w="6350" algn="ctr">
                      <a:solidFill>
                        <a:srgbClr val="D1D3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900">
                          <a:solidFill>
                            <a:srgbClr val="2D3237"/>
                          </a:solidFill>
                          <a:latin typeface="Calibri"/>
                          <a:ea typeface="Calibri"/>
                          <a:cs typeface="Calibri"/>
                        </a:rPr>
                        <a:t>Local scheduling (preemptive/coop/hybrid)</a:t>
                      </a:r>
                      <a:endParaRPr lang="en-US" sz="9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D1D3D5"/>
                      </a:solidFill>
                    </a:lnL>
                    <a:lnR w="6350" algn="ctr">
                      <a:solidFill>
                        <a:srgbClr val="D1D3D5"/>
                      </a:solidFill>
                    </a:lnR>
                    <a:lnT w="6350" algn="ctr">
                      <a:solidFill>
                        <a:srgbClr val="D1D3D5"/>
                      </a:solidFill>
                    </a:lnT>
                    <a:lnB w="6350" algn="ctr">
                      <a:solidFill>
                        <a:srgbClr val="D1D3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900">
                          <a:solidFill>
                            <a:srgbClr val="2D3237"/>
                          </a:solidFill>
                          <a:latin typeface="Calibri"/>
                          <a:ea typeface="Calibri"/>
                          <a:cs typeface="Calibri"/>
                        </a:rPr>
                        <a:t>Migración preemptiva automática entre nodos</a:t>
                      </a:r>
                      <a:endParaRPr lang="en-US" sz="9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D1D3D5"/>
                      </a:solidFill>
                    </a:lnL>
                    <a:lnR w="6350" algn="ctr">
                      <a:solidFill>
                        <a:srgbClr val="D1D3D5"/>
                      </a:solidFill>
                    </a:lnR>
                    <a:lnT w="6350" algn="ctr">
                      <a:solidFill>
                        <a:srgbClr val="D1D3D5"/>
                      </a:solidFill>
                    </a:lnT>
                    <a:lnB w="6350" algn="ctr">
                      <a:solidFill>
                        <a:srgbClr val="D1D3D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900" b="1">
                          <a:solidFill>
                            <a:srgbClr val="2D3237"/>
                          </a:solidFill>
                          <a:latin typeface="Calibri"/>
                          <a:ea typeface="Calibri"/>
                          <a:cs typeface="Calibri"/>
                        </a:rPr>
                        <a:t>Filesystem</a:t>
                      </a:r>
                      <a:endParaRPr lang="en-US" sz="9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D1D3D5"/>
                      </a:solidFill>
                    </a:lnL>
                    <a:lnR w="6350" algn="ctr">
                      <a:solidFill>
                        <a:srgbClr val="D1D3D5"/>
                      </a:solidFill>
                    </a:lnR>
                    <a:lnT w="6350" algn="ctr">
                      <a:solidFill>
                        <a:srgbClr val="D1D3D5"/>
                      </a:solidFill>
                    </a:lnT>
                    <a:lnB w="6350" algn="ctr">
                      <a:solidFill>
                        <a:srgbClr val="D1D3D5"/>
                      </a:solidFill>
                    </a:lnB>
                    <a:solidFill>
                      <a:srgbClr val="D1D3D5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900">
                          <a:solidFill>
                            <a:srgbClr val="2D3237"/>
                          </a:solidFill>
                          <a:latin typeface="Calibri"/>
                          <a:ea typeface="Calibri"/>
                          <a:cs typeface="Calibri"/>
                        </a:rPr>
                        <a:t>LittleFS, FAT FS, NVS (VFS)</a:t>
                      </a:r>
                      <a:endParaRPr lang="en-US" sz="9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D1D3D5"/>
                      </a:solidFill>
                    </a:lnL>
                    <a:lnR w="6350" algn="ctr">
                      <a:solidFill>
                        <a:srgbClr val="D1D3D5"/>
                      </a:solidFill>
                    </a:lnR>
                    <a:lnT w="6350" algn="ctr">
                      <a:solidFill>
                        <a:srgbClr val="D1D3D5"/>
                      </a:solidFill>
                    </a:lnT>
                    <a:lnB w="6350" algn="ctr">
                      <a:solidFill>
                        <a:srgbClr val="D1D3D5"/>
                      </a:solidFill>
                    </a:lnB>
                    <a:solidFill>
                      <a:srgbClr val="D1D3D5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900">
                          <a:solidFill>
                            <a:srgbClr val="2D3237"/>
                          </a:solidFill>
                          <a:latin typeface="Calibri"/>
                          <a:ea typeface="Calibri"/>
                          <a:cs typeface="Calibri"/>
                        </a:rPr>
                        <a:t>DFSA + extN (acceso transparente a archivos)</a:t>
                      </a:r>
                      <a:endParaRPr lang="en-US" sz="9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D1D3D5"/>
                      </a:solidFill>
                    </a:lnL>
                    <a:lnR w="6350" algn="ctr">
                      <a:solidFill>
                        <a:srgbClr val="D1D3D5"/>
                      </a:solidFill>
                    </a:lnR>
                    <a:lnT w="6350" algn="ctr">
                      <a:solidFill>
                        <a:srgbClr val="D1D3D5"/>
                      </a:solidFill>
                    </a:lnT>
                    <a:lnB w="6350" algn="ctr">
                      <a:solidFill>
                        <a:srgbClr val="D1D3D5"/>
                      </a:solidFill>
                    </a:lnB>
                    <a:solidFill>
                      <a:srgbClr val="D1D3D5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900" b="1">
                          <a:solidFill>
                            <a:srgbClr val="2D3237"/>
                          </a:solidFill>
                          <a:latin typeface="Calibri"/>
                          <a:ea typeface="Calibri"/>
                          <a:cs typeface="Calibri"/>
                        </a:rPr>
                        <a:t>Target</a:t>
                      </a:r>
                      <a:endParaRPr lang="en-US" sz="9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D1D3D5"/>
                      </a:solidFill>
                    </a:lnL>
                    <a:lnR w="6350" algn="ctr">
                      <a:solidFill>
                        <a:srgbClr val="D1D3D5"/>
                      </a:solidFill>
                    </a:lnR>
                    <a:lnT w="6350" algn="ctr">
                      <a:solidFill>
                        <a:srgbClr val="D1D3D5"/>
                      </a:solidFill>
                    </a:lnT>
                    <a:lnB w="6350" algn="ctr">
                      <a:solidFill>
                        <a:srgbClr val="D1D3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900">
                          <a:solidFill>
                            <a:srgbClr val="2D3237"/>
                          </a:solidFill>
                          <a:latin typeface="Calibri"/>
                          <a:ea typeface="Calibri"/>
                          <a:cs typeface="Calibri"/>
                        </a:rPr>
                        <a:t>IoT / microcontroladores embebidos</a:t>
                      </a:r>
                      <a:endParaRPr lang="en-US" sz="9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D1D3D5"/>
                      </a:solidFill>
                    </a:lnL>
                    <a:lnR w="6350" algn="ctr">
                      <a:solidFill>
                        <a:srgbClr val="D1D3D5"/>
                      </a:solidFill>
                    </a:lnR>
                    <a:lnT w="6350" algn="ctr">
                      <a:solidFill>
                        <a:srgbClr val="D1D3D5"/>
                      </a:solidFill>
                    </a:lnT>
                    <a:lnB w="6350" algn="ctr">
                      <a:solidFill>
                        <a:srgbClr val="D1D3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900">
                          <a:solidFill>
                            <a:srgbClr val="2D3237"/>
                          </a:solidFill>
                          <a:latin typeface="Calibri"/>
                          <a:ea typeface="Calibri"/>
                          <a:cs typeface="Calibri"/>
                        </a:rPr>
                        <a:t>HPC / clusters de computadoras</a:t>
                      </a:r>
                      <a:endParaRPr lang="en-US" sz="9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D1D3D5"/>
                      </a:solidFill>
                    </a:lnL>
                    <a:lnR w="6350" algn="ctr">
                      <a:solidFill>
                        <a:srgbClr val="D1D3D5"/>
                      </a:solidFill>
                    </a:lnR>
                    <a:lnT w="6350" algn="ctr">
                      <a:solidFill>
                        <a:srgbClr val="D1D3D5"/>
                      </a:solidFill>
                    </a:lnT>
                    <a:lnB w="6350" algn="ctr">
                      <a:solidFill>
                        <a:srgbClr val="D1D3D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900" b="1">
                          <a:solidFill>
                            <a:srgbClr val="2D3237"/>
                          </a:solidFill>
                          <a:latin typeface="Calibri"/>
                          <a:ea typeface="Calibri"/>
                          <a:cs typeface="Calibri"/>
                        </a:rPr>
                        <a:t>Licencia</a:t>
                      </a:r>
                      <a:endParaRPr lang="en-US" sz="9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D1D3D5"/>
                      </a:solidFill>
                    </a:lnL>
                    <a:lnR w="6350" algn="ctr">
                      <a:solidFill>
                        <a:srgbClr val="D1D3D5"/>
                      </a:solidFill>
                    </a:lnR>
                    <a:lnT w="6350" algn="ctr">
                      <a:solidFill>
                        <a:srgbClr val="D1D3D5"/>
                      </a:solidFill>
                    </a:lnT>
                    <a:lnB w="6350" algn="ctr">
                      <a:solidFill>
                        <a:srgbClr val="D1D3D5"/>
                      </a:solidFill>
                    </a:lnB>
                    <a:solidFill>
                      <a:srgbClr val="D1D3D5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900">
                          <a:solidFill>
                            <a:srgbClr val="2D3237"/>
                          </a:solidFill>
                          <a:latin typeface="Calibri"/>
                          <a:ea typeface="Calibri"/>
                          <a:cs typeface="Calibri"/>
                        </a:rPr>
                        <a:t>Apache 2.0 (open source, permisiva)</a:t>
                      </a:r>
                      <a:endParaRPr lang="en-US" sz="9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D1D3D5"/>
                      </a:solidFill>
                    </a:lnL>
                    <a:lnR w="6350" algn="ctr">
                      <a:solidFill>
                        <a:srgbClr val="D1D3D5"/>
                      </a:solidFill>
                    </a:lnR>
                    <a:lnT w="6350" algn="ctr">
                      <a:solidFill>
                        <a:srgbClr val="D1D3D5"/>
                      </a:solidFill>
                    </a:lnT>
                    <a:lnB w="6350" algn="ctr">
                      <a:solidFill>
                        <a:srgbClr val="D1D3D5"/>
                      </a:solidFill>
                    </a:lnB>
                    <a:solidFill>
                      <a:srgbClr val="D1D3D5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900">
                          <a:solidFill>
                            <a:srgbClr val="2D3237"/>
                          </a:solidFill>
                          <a:latin typeface="Calibri"/>
                          <a:ea typeface="Calibri"/>
                          <a:cs typeface="Calibri"/>
                        </a:rPr>
                        <a:t>Propietaria restrictiva</a:t>
                      </a:r>
                      <a:endParaRPr lang="en-US" sz="9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D1D3D5"/>
                      </a:solidFill>
                    </a:lnL>
                    <a:lnR w="6350" algn="ctr">
                      <a:solidFill>
                        <a:srgbClr val="D1D3D5"/>
                      </a:solidFill>
                    </a:lnR>
                    <a:lnT w="6350" algn="ctr">
                      <a:solidFill>
                        <a:srgbClr val="D1D3D5"/>
                      </a:solidFill>
                    </a:lnT>
                    <a:lnB w="6350" algn="ctr">
                      <a:solidFill>
                        <a:srgbClr val="D1D3D5"/>
                      </a:solidFill>
                    </a:lnB>
                    <a:solidFill>
                      <a:srgbClr val="D1D3D5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900" b="1">
                          <a:solidFill>
                            <a:srgbClr val="2D3237"/>
                          </a:solidFill>
                          <a:latin typeface="Calibri"/>
                          <a:ea typeface="Calibri"/>
                          <a:cs typeface="Calibri"/>
                        </a:rPr>
                        <a:t>Estado</a:t>
                      </a:r>
                      <a:endParaRPr lang="en-US" sz="9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D1D3D5"/>
                      </a:solidFill>
                    </a:lnL>
                    <a:lnR w="6350" algn="ctr">
                      <a:solidFill>
                        <a:srgbClr val="D1D3D5"/>
                      </a:solidFill>
                    </a:lnR>
                    <a:lnT w="6350" algn="ctr">
                      <a:solidFill>
                        <a:srgbClr val="D1D3D5"/>
                      </a:solidFill>
                    </a:lnT>
                    <a:lnB w="6350" algn="ctr">
                      <a:solidFill>
                        <a:srgbClr val="D1D3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900">
                          <a:solidFill>
                            <a:srgbClr val="2E7D32"/>
                          </a:solidFill>
                          <a:latin typeface="Calibri"/>
                          <a:ea typeface="Calibri"/>
                          <a:cs typeface="Calibri"/>
                        </a:rPr>
                        <a:t>✅ ACTIVO — LTS3, desarrollo continuo</a:t>
                      </a:r>
                      <a:endParaRPr lang="en-US" sz="9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D1D3D5"/>
                      </a:solidFill>
                    </a:lnL>
                    <a:lnR w="6350" algn="ctr">
                      <a:solidFill>
                        <a:srgbClr val="D1D3D5"/>
                      </a:solidFill>
                    </a:lnR>
                    <a:lnT w="6350" algn="ctr">
                      <a:solidFill>
                        <a:srgbClr val="D1D3D5"/>
                      </a:solidFill>
                    </a:lnT>
                    <a:lnB w="6350" algn="ctr">
                      <a:solidFill>
                        <a:srgbClr val="D1D3D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0" indent="0" algn="l">
                        <a:buNone/>
                        <a:defRPr/>
                      </a:pPr>
                      <a:r>
                        <a:rPr lang="en-US" sz="900">
                          <a:solidFill>
                            <a:srgbClr val="C62828"/>
                          </a:solidFill>
                          <a:latin typeface="Calibri"/>
                          <a:ea typeface="Calibri"/>
                          <a:cs typeface="Calibri"/>
                        </a:rPr>
                        <a:t>❌ INACTIVO desde 2017</a:t>
                      </a:r>
                      <a:endParaRPr lang="en-US" sz="900">
                        <a:latin typeface="Calibri"/>
                        <a:ea typeface="Calibri"/>
                        <a:cs typeface="Calibri"/>
                      </a:endParaRPr>
                    </a:p>
                  </a:txBody>
                  <a:tcPr anchor="ctr">
                    <a:lnL w="6350" algn="ctr">
                      <a:solidFill>
                        <a:srgbClr val="D1D3D5"/>
                      </a:solidFill>
                    </a:lnL>
                    <a:lnR w="6350" algn="ctr">
                      <a:solidFill>
                        <a:srgbClr val="D1D3D5"/>
                      </a:solidFill>
                    </a:lnR>
                    <a:lnT w="6350" algn="ctr">
                      <a:solidFill>
                        <a:srgbClr val="D1D3D5"/>
                      </a:solidFill>
                    </a:lnT>
                    <a:lnB w="6350" algn="ctr">
                      <a:solidFill>
                        <a:srgbClr val="D1D3D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10385523" name="Text 4"/>
          <p:cNvSpPr/>
          <p:nvPr/>
        </p:nvSpPr>
        <p:spPr bwMode="auto">
          <a:xfrm>
            <a:off x="457200" y="477316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29">
    <p:bg>
      <p:bgPr shadeToTitle="0">
        <a:solidFill>
          <a:srgbClr val="F6F7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8825515" name="Shape 0"/>
          <p:cNvSpPr/>
          <p:nvPr/>
        </p:nvSpPr>
        <p:spPr bwMode="auto">
          <a:xfrm>
            <a:off x="8503920" y="4663440"/>
            <a:ext cx="365760" cy="365760"/>
          </a:xfrm>
          <a:prstGeom prst="ellipse">
            <a:avLst/>
          </a:prstGeom>
          <a:solidFill>
            <a:srgbClr val="2D3237"/>
          </a:solidFill>
          <a:ln/>
        </p:spPr>
      </p:sp>
      <p:sp>
        <p:nvSpPr>
          <p:cNvPr id="2046203020" name="Text 1"/>
          <p:cNvSpPr/>
          <p:nvPr/>
        </p:nvSpPr>
        <p:spPr bwMode="auto"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29</a:t>
            </a:r>
            <a:endParaRPr lang="en-US" sz="1200"/>
          </a:p>
        </p:txBody>
      </p:sp>
      <p:sp>
        <p:nvSpPr>
          <p:cNvPr id="56672172" name="Text 2"/>
          <p:cNvSpPr/>
          <p:nvPr/>
        </p:nvSpPr>
        <p:spPr bwMode="auto">
          <a:xfrm>
            <a:off x="457200" y="2743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2400" b="1">
                <a:solidFill>
                  <a:srgbClr val="2D3237"/>
                </a:solidFill>
                <a:latin typeface="Arial Black"/>
                <a:ea typeface="Arial Black"/>
                <a:cs typeface="Arial Black"/>
              </a:rPr>
              <a:t>Conclusiones y Recomendaciones</a:t>
            </a:r>
            <a:endParaRPr lang="en-US" sz="2400"/>
          </a:p>
        </p:txBody>
      </p:sp>
      <p:sp>
        <p:nvSpPr>
          <p:cNvPr id="1468839603" name="Text 3"/>
          <p:cNvSpPr/>
          <p:nvPr/>
        </p:nvSpPr>
        <p:spPr bwMode="auto">
          <a:xfrm>
            <a:off x="457200" y="74980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200" i="1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Mercados completamente diferentes — no compiten entre sí</a:t>
            </a:r>
            <a:endParaRPr lang="en-US" sz="1200"/>
          </a:p>
        </p:txBody>
      </p:sp>
      <p:sp>
        <p:nvSpPr>
          <p:cNvPr id="325345008" name="Shape 4"/>
          <p:cNvSpPr/>
          <p:nvPr/>
        </p:nvSpPr>
        <p:spPr bwMode="auto">
          <a:xfrm>
            <a:off x="457200" y="1024128"/>
            <a:ext cx="8229600" cy="384048"/>
          </a:xfrm>
          <a:prstGeom prst="rect">
            <a:avLst/>
          </a:prstGeom>
          <a:solidFill>
            <a:srgbClr val="66A9DC"/>
          </a:solidFill>
          <a:ln w="25400">
            <a:solidFill>
              <a:srgbClr val="0070C5"/>
            </a:solidFill>
            <a:prstDash val="solid"/>
          </a:ln>
        </p:spPr>
      </p:sp>
      <p:sp>
        <p:nvSpPr>
          <p:cNvPr id="2025589376" name="Text 5"/>
          <p:cNvSpPr/>
          <p:nvPr/>
        </p:nvSpPr>
        <p:spPr bwMode="auto">
          <a:xfrm>
            <a:off x="457200" y="1024128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Zephyr y MOSIX compiten en segmentos de mercado radicalmente diferentes — apples vs oranges</a:t>
            </a:r>
            <a:endParaRPr lang="en-US" sz="1100"/>
          </a:p>
        </p:txBody>
      </p:sp>
      <p:sp>
        <p:nvSpPr>
          <p:cNvPr id="554431207" name="Shape 6"/>
          <p:cNvSpPr/>
          <p:nvPr/>
        </p:nvSpPr>
        <p:spPr bwMode="auto">
          <a:xfrm>
            <a:off x="457200" y="1481328"/>
            <a:ext cx="397764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53531318" name="Shape 7"/>
          <p:cNvSpPr/>
          <p:nvPr/>
        </p:nvSpPr>
        <p:spPr bwMode="auto">
          <a:xfrm>
            <a:off x="457200" y="1481328"/>
            <a:ext cx="3977640" cy="292608"/>
          </a:xfrm>
          <a:prstGeom prst="rect">
            <a:avLst/>
          </a:prstGeom>
          <a:solidFill>
            <a:srgbClr val="0070C5"/>
          </a:solidFill>
          <a:ln/>
        </p:spPr>
      </p:sp>
      <p:sp>
        <p:nvSpPr>
          <p:cNvPr id="412541711" name="Text 8"/>
          <p:cNvSpPr/>
          <p:nvPr/>
        </p:nvSpPr>
        <p:spPr bwMode="auto">
          <a:xfrm>
            <a:off x="457200" y="148132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 spc="20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CONCLUSIONES</a:t>
            </a:r>
            <a:endParaRPr lang="en-US" sz="1100"/>
          </a:p>
        </p:txBody>
      </p:sp>
      <p:sp>
        <p:nvSpPr>
          <p:cNvPr id="437180325" name="Text 9"/>
          <p:cNvSpPr/>
          <p:nvPr/>
        </p:nvSpPr>
        <p:spPr bwMode="auto">
          <a:xfrm>
            <a:off x="548640" y="1810512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0070C5"/>
                </a:solidFill>
                <a:latin typeface="Calibri"/>
                <a:ea typeface="Calibri"/>
                <a:cs typeface="Calibri"/>
              </a:rPr>
              <a:t>▸ Mercados diferentes</a:t>
            </a:r>
            <a:endParaRPr lang="en-US" sz="1000"/>
          </a:p>
        </p:txBody>
      </p:sp>
      <p:sp>
        <p:nvSpPr>
          <p:cNvPr id="1990136921" name="Text 10"/>
          <p:cNvSpPr/>
          <p:nvPr/>
        </p:nvSpPr>
        <p:spPr bwMode="auto">
          <a:xfrm>
            <a:off x="685800" y="20116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8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Zephyr → IoT embebido; MOSIX → HPC académico</a:t>
            </a:r>
            <a:endParaRPr lang="en-US" sz="800"/>
          </a:p>
        </p:txBody>
      </p:sp>
      <p:sp>
        <p:nvSpPr>
          <p:cNvPr id="1580427246" name="Text 11"/>
          <p:cNvSpPr/>
          <p:nvPr/>
        </p:nvSpPr>
        <p:spPr bwMode="auto">
          <a:xfrm>
            <a:off x="548640" y="2231136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0070C5"/>
                </a:solidFill>
                <a:latin typeface="Calibri"/>
                <a:ea typeface="Calibri"/>
                <a:cs typeface="Calibri"/>
              </a:rPr>
              <a:t>▸ Zephyr: activo y viable</a:t>
            </a:r>
            <a:endParaRPr lang="en-US" sz="1000"/>
          </a:p>
        </p:txBody>
      </p:sp>
      <p:sp>
        <p:nvSpPr>
          <p:cNvPr id="511421263" name="Text 12"/>
          <p:cNvSpPr/>
          <p:nvPr/>
        </p:nvSpPr>
        <p:spPr bwMode="auto">
          <a:xfrm>
            <a:off x="685800" y="2432303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8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3000+ contribuidores, adopción comercial creciente</a:t>
            </a:r>
            <a:endParaRPr lang="en-US" sz="800"/>
          </a:p>
        </p:txBody>
      </p:sp>
      <p:sp>
        <p:nvSpPr>
          <p:cNvPr id="171431218" name="Text 13"/>
          <p:cNvSpPr/>
          <p:nvPr/>
        </p:nvSpPr>
        <p:spPr bwMode="auto">
          <a:xfrm>
            <a:off x="548640" y="2651760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0070C5"/>
                </a:solidFill>
                <a:latin typeface="Calibri"/>
                <a:ea typeface="Calibri"/>
                <a:cs typeface="Calibri"/>
              </a:rPr>
              <a:t>▸ MOSIX: histórico</a:t>
            </a:r>
            <a:endParaRPr lang="en-US" sz="1000"/>
          </a:p>
        </p:txBody>
      </p:sp>
      <p:sp>
        <p:nvSpPr>
          <p:cNvPr id="1777076098" name="Text 14"/>
          <p:cNvSpPr/>
          <p:nvPr/>
        </p:nvSpPr>
        <p:spPr bwMode="auto">
          <a:xfrm>
            <a:off x="685800" y="285292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8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Solo valor académico — abandonware desde 2017</a:t>
            </a:r>
            <a:endParaRPr lang="en-US" sz="800"/>
          </a:p>
        </p:txBody>
      </p:sp>
      <p:sp>
        <p:nvSpPr>
          <p:cNvPr id="1055095206" name="Text 15"/>
          <p:cNvSpPr/>
          <p:nvPr/>
        </p:nvSpPr>
        <p:spPr bwMode="auto">
          <a:xfrm>
            <a:off x="548640" y="3072384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0070C5"/>
                </a:solidFill>
                <a:latin typeface="Calibri"/>
                <a:ea typeface="Calibri"/>
                <a:cs typeface="Calibri"/>
              </a:rPr>
              <a:t>▸ Evolución del HPC</a:t>
            </a:r>
            <a:endParaRPr lang="en-US" sz="1000"/>
          </a:p>
        </p:txBody>
      </p:sp>
      <p:sp>
        <p:nvSpPr>
          <p:cNvPr id="789623700" name="Text 16"/>
          <p:cNvSpPr/>
          <p:nvPr/>
        </p:nvSpPr>
        <p:spPr bwMode="auto">
          <a:xfrm>
            <a:off x="685800" y="327355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8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MOSIX → SLURM → Kubernetes (contenedores)</a:t>
            </a:r>
            <a:endParaRPr lang="en-US" sz="800"/>
          </a:p>
        </p:txBody>
      </p:sp>
      <p:sp>
        <p:nvSpPr>
          <p:cNvPr id="1106101636" name="Text 17"/>
          <p:cNvSpPr/>
          <p:nvPr/>
        </p:nvSpPr>
        <p:spPr bwMode="auto">
          <a:xfrm>
            <a:off x="548640" y="3493008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0070C5"/>
                </a:solidFill>
                <a:latin typeface="Calibri"/>
                <a:ea typeface="Calibri"/>
                <a:cs typeface="Calibri"/>
              </a:rPr>
              <a:t>▸ Diseño depende del dominio</a:t>
            </a:r>
            <a:endParaRPr lang="en-US" sz="1000"/>
          </a:p>
        </p:txBody>
      </p:sp>
      <p:sp>
        <p:nvSpPr>
          <p:cNvPr id="861038461" name="Text 18"/>
          <p:cNvSpPr/>
          <p:nvPr/>
        </p:nvSpPr>
        <p:spPr bwMode="auto">
          <a:xfrm>
            <a:off x="685800" y="369417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endParaRPr lang="en-US" sz="800"/>
          </a:p>
        </p:txBody>
      </p:sp>
      <p:sp>
        <p:nvSpPr>
          <p:cNvPr id="1225583707" name="Shape 19"/>
          <p:cNvSpPr/>
          <p:nvPr/>
        </p:nvSpPr>
        <p:spPr bwMode="auto">
          <a:xfrm>
            <a:off x="4617720" y="1481328"/>
            <a:ext cx="397764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71596164" name="Shape 20"/>
          <p:cNvSpPr/>
          <p:nvPr/>
        </p:nvSpPr>
        <p:spPr bwMode="auto">
          <a:xfrm>
            <a:off x="4617720" y="1481328"/>
            <a:ext cx="3977640" cy="292608"/>
          </a:xfrm>
          <a:prstGeom prst="rect">
            <a:avLst/>
          </a:prstGeom>
          <a:solidFill>
            <a:srgbClr val="2D3237"/>
          </a:solidFill>
          <a:ln/>
        </p:spPr>
      </p:sp>
      <p:sp>
        <p:nvSpPr>
          <p:cNvPr id="623500199" name="Text 21"/>
          <p:cNvSpPr/>
          <p:nvPr/>
        </p:nvSpPr>
        <p:spPr bwMode="auto">
          <a:xfrm>
            <a:off x="4617720" y="1481328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 spc="200">
                <a:solidFill>
                  <a:srgbClr val="FFFFFF"/>
                </a:solidFill>
                <a:latin typeface="Arial"/>
                <a:ea typeface="Arial"/>
                <a:cs typeface="Arial"/>
              </a:rPr>
              <a:t>RECOMENDACIONES</a:t>
            </a:r>
            <a:endParaRPr lang="en-US" sz="1100"/>
          </a:p>
        </p:txBody>
      </p:sp>
      <p:sp>
        <p:nvSpPr>
          <p:cNvPr id="1429452009" name="Text 22"/>
          <p:cNvSpPr/>
          <p:nvPr/>
        </p:nvSpPr>
        <p:spPr bwMode="auto">
          <a:xfrm>
            <a:off x="4709160" y="1810512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▸ Zephyr para IoT embebido</a:t>
            </a:r>
            <a:endParaRPr lang="en-US" sz="1000"/>
          </a:p>
        </p:txBody>
      </p:sp>
      <p:sp>
        <p:nvSpPr>
          <p:cNvPr id="34113156" name="Text 23"/>
          <p:cNvSpPr/>
          <p:nvPr/>
        </p:nvSpPr>
        <p:spPr bwMode="auto">
          <a:xfrm>
            <a:off x="4846320" y="20116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8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RTOS recomendado, tiempo real, activo</a:t>
            </a:r>
            <a:endParaRPr lang="en-US" sz="800"/>
          </a:p>
        </p:txBody>
      </p:sp>
      <p:sp>
        <p:nvSpPr>
          <p:cNvPr id="1707251846" name="Text 24"/>
          <p:cNvSpPr/>
          <p:nvPr/>
        </p:nvSpPr>
        <p:spPr bwMode="auto">
          <a:xfrm>
            <a:off x="4709160" y="2322576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▸ Zephyr para proyectos comerciales</a:t>
            </a:r>
            <a:endParaRPr lang="en-US" sz="1000"/>
          </a:p>
        </p:txBody>
      </p:sp>
      <p:sp>
        <p:nvSpPr>
          <p:cNvPr id="1822041356" name="Text 25"/>
          <p:cNvSpPr/>
          <p:nvPr/>
        </p:nvSpPr>
        <p:spPr bwMode="auto">
          <a:xfrm>
            <a:off x="4846320" y="2523744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8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Gobernanza neutral, LTS, sin vendor lock-in</a:t>
            </a:r>
            <a:endParaRPr lang="en-US" sz="800"/>
          </a:p>
        </p:txBody>
      </p:sp>
      <p:sp>
        <p:nvSpPr>
          <p:cNvPr id="834563817" name="Text 26"/>
          <p:cNvSpPr/>
          <p:nvPr/>
        </p:nvSpPr>
        <p:spPr bwMode="auto">
          <a:xfrm>
            <a:off x="4709160" y="2834640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▸ MOSIX: solo estudio académico</a:t>
            </a:r>
            <a:endParaRPr lang="en-US" sz="1000"/>
          </a:p>
        </p:txBody>
      </p:sp>
      <p:sp>
        <p:nvSpPr>
          <p:cNvPr id="1181386931" name="Text 27"/>
          <p:cNvSpPr/>
          <p:nvPr/>
        </p:nvSpPr>
        <p:spPr bwMode="auto">
          <a:xfrm>
            <a:off x="4846320" y="303580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8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Para aprender migración de procesos y SSI</a:t>
            </a:r>
            <a:endParaRPr lang="en-US" sz="800"/>
          </a:p>
        </p:txBody>
      </p:sp>
      <p:sp>
        <p:nvSpPr>
          <p:cNvPr id="497695184" name="Text 28"/>
          <p:cNvSpPr/>
          <p:nvPr/>
        </p:nvSpPr>
        <p:spPr bwMode="auto">
          <a:xfrm>
            <a:off x="4709160" y="3346704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000" b="1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▸ NO usar MOSIX en producción</a:t>
            </a:r>
            <a:endParaRPr lang="en-US" sz="1000"/>
          </a:p>
        </p:txBody>
      </p:sp>
      <p:sp>
        <p:nvSpPr>
          <p:cNvPr id="837699687" name="Text 29"/>
          <p:cNvSpPr/>
          <p:nvPr/>
        </p:nvSpPr>
        <p:spPr bwMode="auto">
          <a:xfrm>
            <a:off x="4846320" y="354787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  <a:defRPr/>
            </a:pPr>
            <a:r>
              <a:rPr lang="en-US" sz="8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Abandonado, sin seguridad, propietario</a:t>
            </a:r>
            <a:endParaRPr lang="en-US" sz="800"/>
          </a:p>
        </p:txBody>
      </p:sp>
      <p:sp>
        <p:nvSpPr>
          <p:cNvPr id="706661523" name="Text 30"/>
          <p:cNvSpPr/>
          <p:nvPr/>
        </p:nvSpPr>
        <p:spPr bwMode="auto">
          <a:xfrm>
            <a:off x="457200" y="477316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30">
    <p:bg>
      <p:bgPr shadeToTitle="0">
        <a:solidFill>
          <a:srgbClr val="F6F7F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1217889" name="Shape 0"/>
          <p:cNvSpPr/>
          <p:nvPr/>
        </p:nvSpPr>
        <p:spPr bwMode="auto">
          <a:xfrm>
            <a:off x="8503920" y="4663440"/>
            <a:ext cx="365760" cy="365760"/>
          </a:xfrm>
          <a:prstGeom prst="ellipse">
            <a:avLst/>
          </a:prstGeom>
          <a:solidFill>
            <a:srgbClr val="2D3237"/>
          </a:solidFill>
          <a:ln/>
        </p:spPr>
      </p:sp>
      <p:sp>
        <p:nvSpPr>
          <p:cNvPr id="1852128905" name="Text 1"/>
          <p:cNvSpPr/>
          <p:nvPr/>
        </p:nvSpPr>
        <p:spPr bwMode="auto"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30</a:t>
            </a:r>
            <a:endParaRPr lang="en-US" sz="1200"/>
          </a:p>
        </p:txBody>
      </p:sp>
      <p:sp>
        <p:nvSpPr>
          <p:cNvPr id="1507572159" name="Text 2"/>
          <p:cNvSpPr/>
          <p:nvPr/>
        </p:nvSpPr>
        <p:spPr bwMode="auto">
          <a:xfrm>
            <a:off x="457200" y="2743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2400" b="1">
                <a:solidFill>
                  <a:srgbClr val="2D3237"/>
                </a:solidFill>
                <a:latin typeface="Arial Black"/>
                <a:ea typeface="Arial Black"/>
                <a:cs typeface="Arial Black"/>
              </a:rPr>
              <a:t>Cierre</a:t>
            </a:r>
            <a:endParaRPr lang="en-US" sz="2400"/>
          </a:p>
        </p:txBody>
      </p:sp>
      <p:sp>
        <p:nvSpPr>
          <p:cNvPr id="1941503517" name="Shape 3"/>
          <p:cNvSpPr/>
          <p:nvPr/>
        </p:nvSpPr>
        <p:spPr bwMode="auto">
          <a:xfrm>
            <a:off x="2286000" y="868680"/>
            <a:ext cx="4572000" cy="548640"/>
          </a:xfrm>
          <a:prstGeom prst="rect">
            <a:avLst/>
          </a:prstGeom>
          <a:solidFill>
            <a:srgbClr val="2D3237"/>
          </a:solidFill>
          <a:ln/>
        </p:spPr>
      </p:sp>
      <p:sp>
        <p:nvSpPr>
          <p:cNvPr id="1234445562" name="Text 4"/>
          <p:cNvSpPr/>
          <p:nvPr/>
        </p:nvSpPr>
        <p:spPr bwMode="auto">
          <a:xfrm>
            <a:off x="2286000" y="86868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2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¡Gracias! / Preguntas</a:t>
            </a:r>
            <a:endParaRPr lang="en-US" sz="2200"/>
          </a:p>
        </p:txBody>
      </p:sp>
      <p:sp>
        <p:nvSpPr>
          <p:cNvPr id="1818791609" name="Shape 5"/>
          <p:cNvSpPr/>
          <p:nvPr/>
        </p:nvSpPr>
        <p:spPr bwMode="auto">
          <a:xfrm>
            <a:off x="457200" y="1554480"/>
            <a:ext cx="397764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00536762" name="Shape 6"/>
          <p:cNvSpPr/>
          <p:nvPr/>
        </p:nvSpPr>
        <p:spPr bwMode="auto">
          <a:xfrm>
            <a:off x="457200" y="1554480"/>
            <a:ext cx="3977640" cy="292608"/>
          </a:xfrm>
          <a:prstGeom prst="rect">
            <a:avLst/>
          </a:prstGeom>
          <a:solidFill>
            <a:srgbClr val="0070C5"/>
          </a:solidFill>
          <a:ln/>
        </p:spPr>
      </p:sp>
      <p:sp>
        <p:nvSpPr>
          <p:cNvPr id="1987095414" name="Text 7"/>
          <p:cNvSpPr/>
          <p:nvPr/>
        </p:nvSpPr>
        <p:spPr bwMode="auto">
          <a:xfrm>
            <a:off x="457200" y="1554480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 spc="200">
                <a:solidFill>
                  <a:srgbClr val="FFFFFF"/>
                </a:solidFill>
                <a:latin typeface="Arial"/>
                <a:ea typeface="Arial"/>
                <a:cs typeface="Arial"/>
              </a:rPr>
              <a:t>FUENTES PRINCIPALES</a:t>
            </a:r>
            <a:endParaRPr lang="en-US" sz="1100"/>
          </a:p>
        </p:txBody>
      </p:sp>
      <p:sp>
        <p:nvSpPr>
          <p:cNvPr id="1385590548" name="Text 8"/>
          <p:cNvSpPr/>
          <p:nvPr/>
        </p:nvSpPr>
        <p:spPr bwMode="auto">
          <a:xfrm>
            <a:off x="548640" y="1883664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• zephyrproject.org</a:t>
            </a:r>
            <a:endParaRPr lang="en-US" sz="900"/>
          </a:p>
        </p:txBody>
      </p:sp>
      <p:sp>
        <p:nvSpPr>
          <p:cNvPr id="1479560698" name="Text 9"/>
          <p:cNvSpPr/>
          <p:nvPr/>
        </p:nvSpPr>
        <p:spPr bwMode="auto">
          <a:xfrm>
            <a:off x="548640" y="2139696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• docs.zephyrproject.org</a:t>
            </a:r>
            <a:endParaRPr lang="en-US" sz="900"/>
          </a:p>
        </p:txBody>
      </p:sp>
      <p:sp>
        <p:nvSpPr>
          <p:cNvPr id="147473340" name="Text 10"/>
          <p:cNvSpPr/>
          <p:nvPr/>
        </p:nvSpPr>
        <p:spPr bwMode="auto">
          <a:xfrm>
            <a:off x="548640" y="2395728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• mosix.org</a:t>
            </a:r>
            <a:endParaRPr lang="en-US" sz="900"/>
          </a:p>
        </p:txBody>
      </p:sp>
      <p:sp>
        <p:nvSpPr>
          <p:cNvPr id="918006808" name="Text 11"/>
          <p:cNvSpPr/>
          <p:nvPr/>
        </p:nvSpPr>
        <p:spPr bwMode="auto">
          <a:xfrm>
            <a:off x="548640" y="2651760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• Wikipedia — Zephyr OS</a:t>
            </a:r>
            <a:endParaRPr lang="en-US" sz="900"/>
          </a:p>
        </p:txBody>
      </p:sp>
      <p:sp>
        <p:nvSpPr>
          <p:cNvPr id="1023103448" name="Text 12"/>
          <p:cNvSpPr/>
          <p:nvPr/>
        </p:nvSpPr>
        <p:spPr bwMode="auto">
          <a:xfrm>
            <a:off x="548640" y="2907792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• Wikipedia — MOSIX</a:t>
            </a:r>
            <a:endParaRPr lang="en-US" sz="900"/>
          </a:p>
        </p:txBody>
      </p:sp>
      <p:sp>
        <p:nvSpPr>
          <p:cNvPr id="2110727191" name="Text 13"/>
          <p:cNvSpPr/>
          <p:nvPr/>
        </p:nvSpPr>
        <p:spPr bwMode="auto">
          <a:xfrm>
            <a:off x="548640" y="3163824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• Top500 Supercomputers</a:t>
            </a:r>
            <a:endParaRPr lang="en-US" sz="900"/>
          </a:p>
        </p:txBody>
      </p:sp>
      <p:sp>
        <p:nvSpPr>
          <p:cNvPr id="133678942" name="Text 14"/>
          <p:cNvSpPr/>
          <p:nvPr/>
        </p:nvSpPr>
        <p:spPr bwMode="auto">
          <a:xfrm>
            <a:off x="548640" y="3419856"/>
            <a:ext cx="3794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900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• Linux Foundation Research (2026)</a:t>
            </a:r>
            <a:endParaRPr lang="en-US" sz="900"/>
          </a:p>
        </p:txBody>
      </p:sp>
      <p:sp>
        <p:nvSpPr>
          <p:cNvPr id="1427261057" name="Shape 15"/>
          <p:cNvSpPr/>
          <p:nvPr/>
        </p:nvSpPr>
        <p:spPr bwMode="auto">
          <a:xfrm>
            <a:off x="4617720" y="1554480"/>
            <a:ext cx="397764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2540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28485526" name="Shape 16"/>
          <p:cNvSpPr/>
          <p:nvPr/>
        </p:nvSpPr>
        <p:spPr bwMode="auto">
          <a:xfrm>
            <a:off x="4617720" y="1554480"/>
            <a:ext cx="3977640" cy="292608"/>
          </a:xfrm>
          <a:prstGeom prst="rect">
            <a:avLst/>
          </a:prstGeom>
          <a:solidFill>
            <a:srgbClr val="2D3237"/>
          </a:solidFill>
          <a:ln/>
        </p:spPr>
      </p:sp>
      <p:sp>
        <p:nvSpPr>
          <p:cNvPr id="750094302" name="Text 17"/>
          <p:cNvSpPr/>
          <p:nvPr/>
        </p:nvSpPr>
        <p:spPr bwMode="auto">
          <a:xfrm>
            <a:off x="4617720" y="1554480"/>
            <a:ext cx="3977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 b="1" spc="200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INTEGRANTES</a:t>
            </a:r>
            <a:endParaRPr lang="en-US" sz="1100"/>
          </a:p>
        </p:txBody>
      </p:sp>
      <p:sp>
        <p:nvSpPr>
          <p:cNvPr id="2025748802" name="Text 18"/>
          <p:cNvSpPr/>
          <p:nvPr/>
        </p:nvSpPr>
        <p:spPr bwMode="auto">
          <a:xfrm>
            <a:off x="4709160" y="1883664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100" b="1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• ARRIAGA</a:t>
            </a:r>
            <a:endParaRPr lang="en-US" sz="1100"/>
          </a:p>
        </p:txBody>
      </p:sp>
      <p:sp>
        <p:nvSpPr>
          <p:cNvPr id="1786466302" name="Text 19"/>
          <p:cNvSpPr/>
          <p:nvPr/>
        </p:nvSpPr>
        <p:spPr bwMode="auto">
          <a:xfrm>
            <a:off x="4709160" y="217627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100" b="1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• BELLONE</a:t>
            </a:r>
            <a:endParaRPr lang="en-US" sz="1100"/>
          </a:p>
        </p:txBody>
      </p:sp>
      <p:sp>
        <p:nvSpPr>
          <p:cNvPr id="996822957" name="Text 20"/>
          <p:cNvSpPr/>
          <p:nvPr/>
        </p:nvSpPr>
        <p:spPr bwMode="auto">
          <a:xfrm>
            <a:off x="4709160" y="2468880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100" b="1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• BISCAY</a:t>
            </a:r>
            <a:endParaRPr lang="en-US" sz="1100"/>
          </a:p>
        </p:txBody>
      </p:sp>
      <p:sp>
        <p:nvSpPr>
          <p:cNvPr id="269518713" name="Text 21"/>
          <p:cNvSpPr/>
          <p:nvPr/>
        </p:nvSpPr>
        <p:spPr bwMode="auto">
          <a:xfrm>
            <a:off x="4709160" y="276148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100" b="1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• CALLA ALIENDE</a:t>
            </a:r>
            <a:endParaRPr lang="en-US" sz="1100"/>
          </a:p>
        </p:txBody>
      </p:sp>
      <p:sp>
        <p:nvSpPr>
          <p:cNvPr id="1485931342" name="Text 22"/>
          <p:cNvSpPr/>
          <p:nvPr/>
        </p:nvSpPr>
        <p:spPr bwMode="auto">
          <a:xfrm>
            <a:off x="4709160" y="3054096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  <a:defRPr/>
            </a:pPr>
            <a:r>
              <a:rPr lang="en-US" sz="1100" b="1">
                <a:solidFill>
                  <a:srgbClr val="2D3237"/>
                </a:solidFill>
                <a:latin typeface="Calibri"/>
                <a:ea typeface="Calibri"/>
                <a:cs typeface="Calibri"/>
              </a:rPr>
              <a:t>• CARDOZO</a:t>
            </a:r>
            <a:endParaRPr lang="en-US" sz="1100"/>
          </a:p>
        </p:txBody>
      </p:sp>
      <p:sp>
        <p:nvSpPr>
          <p:cNvPr id="64559839" name="Text 23"/>
          <p:cNvSpPr/>
          <p:nvPr/>
        </p:nvSpPr>
        <p:spPr bwMode="auto"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100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Fundamentos de Sistemas Operativos — Mayo 2026</a:t>
            </a:r>
            <a:endParaRPr lang="en-US" sz="1100"/>
          </a:p>
        </p:txBody>
      </p:sp>
      <p:sp>
        <p:nvSpPr>
          <p:cNvPr id="871313426" name="Text 24"/>
          <p:cNvSpPr/>
          <p:nvPr/>
        </p:nvSpPr>
        <p:spPr bwMode="auto"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  <a:defRPr/>
            </a:pPr>
            <a:r>
              <a:rPr lang="en-US" sz="1000" i="1">
                <a:solidFill>
                  <a:srgbClr val="4C5155"/>
                </a:solidFill>
                <a:latin typeface="Calibri"/>
                <a:ea typeface="Calibri"/>
                <a:cs typeface="Calibri"/>
              </a:rPr>
              <a:t>Trabajo Práctico Especial: Zephyr OS vs MOSIX</a:t>
            </a:r>
            <a:endParaRPr lang="en-US" sz="1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ONLYOFFICE/9.4.0.129</Application>
  <PresentationFormat>On-screen Show (4:3)</PresentationFormat>
  <Paragraphs>0</Paragraphs>
  <Slides>30</Slides>
  <Notes>30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Evaluación de Productos: Zephyr OS vs MOSIX</dc:title>
  <dc:subject>Trabajo Práctico Especial - Fundamentos de Sistemas Operativos - UNMDP</dc:subject>
  <dc:creator>ARRIAGA, BELLONE, BISCAY, CALLA ALIENDE, CARDOZO</dc:creator>
  <cp:lastModifiedBy/>
  <cp:revision>360</cp:revision>
  <dcterms:created xsi:type="dcterms:W3CDTF">2026-05-02T05:24:06Z</dcterms:created>
  <dcterms:modified xsi:type="dcterms:W3CDTF">2026-06-03T02:58:25Z</dcterms:modified>
</cp:coreProperties>
</file>